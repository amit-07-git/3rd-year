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98" r:id="rId21"/>
    <p:sldId id="275" r:id="rId22"/>
    <p:sldId id="278" r:id="rId23"/>
    <p:sldId id="279" r:id="rId24"/>
    <p:sldId id="276" r:id="rId25"/>
    <p:sldId id="277" r:id="rId26"/>
    <p:sldId id="286" r:id="rId27"/>
    <p:sldId id="280" r:id="rId28"/>
    <p:sldId id="281" r:id="rId29"/>
    <p:sldId id="282" r:id="rId30"/>
    <p:sldId id="283" r:id="rId31"/>
    <p:sldId id="284" r:id="rId32"/>
    <p:sldId id="285" r:id="rId33"/>
    <p:sldId id="287" r:id="rId34"/>
    <p:sldId id="288" r:id="rId35"/>
    <p:sldId id="289" r:id="rId36"/>
    <p:sldId id="290" r:id="rId37"/>
    <p:sldId id="291" r:id="rId38"/>
    <p:sldId id="292" r:id="rId39"/>
    <p:sldId id="293" r:id="rId40"/>
    <p:sldId id="294" r:id="rId41"/>
    <p:sldId id="297" r:id="rId42"/>
    <p:sldId id="295" r:id="rId43"/>
    <p:sldId id="296" r:id="rId44"/>
    <p:sldId id="299" r:id="rId45"/>
    <p:sldId id="301" r:id="rId46"/>
    <p:sldId id="316" r:id="rId47"/>
    <p:sldId id="317" r:id="rId48"/>
    <p:sldId id="318" r:id="rId49"/>
    <p:sldId id="311" r:id="rId50"/>
    <p:sldId id="312" r:id="rId51"/>
    <p:sldId id="313" r:id="rId52"/>
    <p:sldId id="315" r:id="rId53"/>
    <p:sldId id="314" r:id="rId54"/>
    <p:sldId id="302" r:id="rId55"/>
    <p:sldId id="303" r:id="rId56"/>
    <p:sldId id="304" r:id="rId57"/>
    <p:sldId id="305" r:id="rId58"/>
    <p:sldId id="306" r:id="rId59"/>
    <p:sldId id="307" r:id="rId60"/>
    <p:sldId id="308" r:id="rId61"/>
    <p:sldId id="309" r:id="rId62"/>
    <p:sldId id="310" r:id="rId63"/>
    <p:sldId id="319" r:id="rId64"/>
    <p:sldId id="320" r:id="rId65"/>
    <p:sldId id="321" r:id="rId66"/>
    <p:sldId id="322" r:id="rId67"/>
    <p:sldId id="343"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2" d="100"/>
          <a:sy n="62" d="100"/>
        </p:scale>
        <p:origin x="804"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notesMaster" Target="notesMasters/notesMaster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presProps" Target="presProp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theme" Target="theme/theme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E1CD7E2-2778-42E3-9A6C-1B1DC505BAE4}" type="datetimeFigureOut">
              <a:rPr lang="en-IN" smtClean="0"/>
              <a:t>18-03-2025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3C947D-6125-4FFA-BAE4-374E67E5143A}" type="slidenum">
              <a:rPr lang="en-IN" smtClean="0"/>
              <a:t>‹#›</a:t>
            </a:fld>
            <a:endParaRPr lang="en-IN"/>
          </a:p>
        </p:txBody>
      </p:sp>
    </p:spTree>
    <p:extLst>
      <p:ext uri="{BB962C8B-B14F-4D97-AF65-F5344CB8AC3E}">
        <p14:creationId xmlns:p14="http://schemas.microsoft.com/office/powerpoint/2010/main" val="21982115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83C947D-6125-4FFA-BAE4-374E67E5143A}" type="slidenum">
              <a:rPr lang="en-IN" smtClean="0"/>
              <a:t>52</a:t>
            </a:fld>
            <a:endParaRPr lang="en-IN"/>
          </a:p>
        </p:txBody>
      </p:sp>
    </p:spTree>
    <p:extLst>
      <p:ext uri="{BB962C8B-B14F-4D97-AF65-F5344CB8AC3E}">
        <p14:creationId xmlns:p14="http://schemas.microsoft.com/office/powerpoint/2010/main" val="24218343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83C947D-6125-4FFA-BAE4-374E67E5143A}" type="slidenum">
              <a:rPr lang="en-IN" smtClean="0"/>
              <a:t>55</a:t>
            </a:fld>
            <a:endParaRPr lang="en-IN"/>
          </a:p>
        </p:txBody>
      </p:sp>
    </p:spTree>
    <p:extLst>
      <p:ext uri="{BB962C8B-B14F-4D97-AF65-F5344CB8AC3E}">
        <p14:creationId xmlns:p14="http://schemas.microsoft.com/office/powerpoint/2010/main" val="34448704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FF2C81-4792-3F97-E338-02AB988FFF3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D514EFE1-A1F8-CB97-BB70-9D73950719E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81C3C2FA-31CE-D514-2315-D59E5C571260}"/>
              </a:ext>
            </a:extLst>
          </p:cNvPr>
          <p:cNvSpPr>
            <a:spLocks noGrp="1"/>
          </p:cNvSpPr>
          <p:nvPr>
            <p:ph type="dt" sz="half" idx="10"/>
          </p:nvPr>
        </p:nvSpPr>
        <p:spPr/>
        <p:txBody>
          <a:bodyPr/>
          <a:lstStyle/>
          <a:p>
            <a:fld id="{37E19718-5513-450E-A1C0-00BC212B86EA}" type="datetimeFigureOut">
              <a:rPr lang="en-IN" smtClean="0"/>
              <a:t>18-03-2025</a:t>
            </a:fld>
            <a:endParaRPr lang="en-IN"/>
          </a:p>
        </p:txBody>
      </p:sp>
      <p:sp>
        <p:nvSpPr>
          <p:cNvPr id="5" name="Footer Placeholder 4">
            <a:extLst>
              <a:ext uri="{FF2B5EF4-FFF2-40B4-BE49-F238E27FC236}">
                <a16:creationId xmlns:a16="http://schemas.microsoft.com/office/drawing/2014/main" id="{248D702E-8E2C-81C8-88A8-822036B825C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61B9C0B-43B4-478F-F88F-0DE371EBDB22}"/>
              </a:ext>
            </a:extLst>
          </p:cNvPr>
          <p:cNvSpPr>
            <a:spLocks noGrp="1"/>
          </p:cNvSpPr>
          <p:nvPr>
            <p:ph type="sldNum" sz="quarter" idx="12"/>
          </p:nvPr>
        </p:nvSpPr>
        <p:spPr/>
        <p:txBody>
          <a:bodyPr/>
          <a:lstStyle/>
          <a:p>
            <a:fld id="{AC69D2A4-C4EE-4E2E-A791-2A9DBCC54674}" type="slidenum">
              <a:rPr lang="en-IN" smtClean="0"/>
              <a:t>‹#›</a:t>
            </a:fld>
            <a:endParaRPr lang="en-IN"/>
          </a:p>
        </p:txBody>
      </p:sp>
    </p:spTree>
    <p:extLst>
      <p:ext uri="{BB962C8B-B14F-4D97-AF65-F5344CB8AC3E}">
        <p14:creationId xmlns:p14="http://schemas.microsoft.com/office/powerpoint/2010/main" val="12951890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BF6772-DAF1-0BB6-C6E5-46B5C30CFA2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7EEA7A7-BCB0-0D00-7D5F-1F05D1B8F2F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AE78D1F-489E-EA63-F6DC-906842C32B97}"/>
              </a:ext>
            </a:extLst>
          </p:cNvPr>
          <p:cNvSpPr>
            <a:spLocks noGrp="1"/>
          </p:cNvSpPr>
          <p:nvPr>
            <p:ph type="dt" sz="half" idx="10"/>
          </p:nvPr>
        </p:nvSpPr>
        <p:spPr/>
        <p:txBody>
          <a:bodyPr/>
          <a:lstStyle/>
          <a:p>
            <a:fld id="{37E19718-5513-450E-A1C0-00BC212B86EA}" type="datetimeFigureOut">
              <a:rPr lang="en-IN" smtClean="0"/>
              <a:t>18-03-2025</a:t>
            </a:fld>
            <a:endParaRPr lang="en-IN"/>
          </a:p>
        </p:txBody>
      </p:sp>
      <p:sp>
        <p:nvSpPr>
          <p:cNvPr id="5" name="Footer Placeholder 4">
            <a:extLst>
              <a:ext uri="{FF2B5EF4-FFF2-40B4-BE49-F238E27FC236}">
                <a16:creationId xmlns:a16="http://schemas.microsoft.com/office/drawing/2014/main" id="{BA5A061D-E09E-45D4-A6D3-9E444C5E8F2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0B6FAC4-16FA-77A1-6D8F-A36315C1B13A}"/>
              </a:ext>
            </a:extLst>
          </p:cNvPr>
          <p:cNvSpPr>
            <a:spLocks noGrp="1"/>
          </p:cNvSpPr>
          <p:nvPr>
            <p:ph type="sldNum" sz="quarter" idx="12"/>
          </p:nvPr>
        </p:nvSpPr>
        <p:spPr/>
        <p:txBody>
          <a:bodyPr/>
          <a:lstStyle/>
          <a:p>
            <a:fld id="{AC69D2A4-C4EE-4E2E-A791-2A9DBCC54674}" type="slidenum">
              <a:rPr lang="en-IN" smtClean="0"/>
              <a:t>‹#›</a:t>
            </a:fld>
            <a:endParaRPr lang="en-IN"/>
          </a:p>
        </p:txBody>
      </p:sp>
    </p:spTree>
    <p:extLst>
      <p:ext uri="{BB962C8B-B14F-4D97-AF65-F5344CB8AC3E}">
        <p14:creationId xmlns:p14="http://schemas.microsoft.com/office/powerpoint/2010/main" val="17459051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CF04F0-DAF9-F222-6835-B0130141DB0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6B54B3F2-C3F7-5931-1BAF-691F73A8D43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FA7A5DF-024B-66E1-ABEB-B9589CE1E5F3}"/>
              </a:ext>
            </a:extLst>
          </p:cNvPr>
          <p:cNvSpPr>
            <a:spLocks noGrp="1"/>
          </p:cNvSpPr>
          <p:nvPr>
            <p:ph type="dt" sz="half" idx="10"/>
          </p:nvPr>
        </p:nvSpPr>
        <p:spPr/>
        <p:txBody>
          <a:bodyPr/>
          <a:lstStyle/>
          <a:p>
            <a:fld id="{37E19718-5513-450E-A1C0-00BC212B86EA}" type="datetimeFigureOut">
              <a:rPr lang="en-IN" smtClean="0"/>
              <a:t>18-03-2025</a:t>
            </a:fld>
            <a:endParaRPr lang="en-IN"/>
          </a:p>
        </p:txBody>
      </p:sp>
      <p:sp>
        <p:nvSpPr>
          <p:cNvPr id="5" name="Footer Placeholder 4">
            <a:extLst>
              <a:ext uri="{FF2B5EF4-FFF2-40B4-BE49-F238E27FC236}">
                <a16:creationId xmlns:a16="http://schemas.microsoft.com/office/drawing/2014/main" id="{86BD89E5-A135-A19B-7E18-487C45AA9F2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BCCB485-8950-9020-8FCA-61C93C78394A}"/>
              </a:ext>
            </a:extLst>
          </p:cNvPr>
          <p:cNvSpPr>
            <a:spLocks noGrp="1"/>
          </p:cNvSpPr>
          <p:nvPr>
            <p:ph type="sldNum" sz="quarter" idx="12"/>
          </p:nvPr>
        </p:nvSpPr>
        <p:spPr/>
        <p:txBody>
          <a:bodyPr/>
          <a:lstStyle/>
          <a:p>
            <a:fld id="{AC69D2A4-C4EE-4E2E-A791-2A9DBCC54674}" type="slidenum">
              <a:rPr lang="en-IN" smtClean="0"/>
              <a:t>‹#›</a:t>
            </a:fld>
            <a:endParaRPr lang="en-IN"/>
          </a:p>
        </p:txBody>
      </p:sp>
    </p:spTree>
    <p:extLst>
      <p:ext uri="{BB962C8B-B14F-4D97-AF65-F5344CB8AC3E}">
        <p14:creationId xmlns:p14="http://schemas.microsoft.com/office/powerpoint/2010/main" val="22019206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F77B86-E344-AD13-3F96-E59AED65FE7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FB0E2D1-20FC-8BFE-4A3B-6BA32E9CBF9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7DE28560-67E6-D82C-F29B-3E795FA67E3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8F645D76-9F9D-21EA-3520-438EF31A0A53}"/>
              </a:ext>
            </a:extLst>
          </p:cNvPr>
          <p:cNvSpPr>
            <a:spLocks noGrp="1"/>
          </p:cNvSpPr>
          <p:nvPr>
            <p:ph type="dt" sz="half" idx="10"/>
          </p:nvPr>
        </p:nvSpPr>
        <p:spPr/>
        <p:txBody>
          <a:bodyPr/>
          <a:lstStyle/>
          <a:p>
            <a:fld id="{37E19718-5513-450E-A1C0-00BC212B86EA}" type="datetimeFigureOut">
              <a:rPr lang="en-IN" smtClean="0"/>
              <a:t>18-03-2025</a:t>
            </a:fld>
            <a:endParaRPr lang="en-IN"/>
          </a:p>
        </p:txBody>
      </p:sp>
      <p:sp>
        <p:nvSpPr>
          <p:cNvPr id="6" name="Footer Placeholder 5">
            <a:extLst>
              <a:ext uri="{FF2B5EF4-FFF2-40B4-BE49-F238E27FC236}">
                <a16:creationId xmlns:a16="http://schemas.microsoft.com/office/drawing/2014/main" id="{BD29E42D-E04E-6147-972D-7150C37AB84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6BC0B6B-CAA8-F99E-F208-A359B3DD3667}"/>
              </a:ext>
            </a:extLst>
          </p:cNvPr>
          <p:cNvSpPr>
            <a:spLocks noGrp="1"/>
          </p:cNvSpPr>
          <p:nvPr>
            <p:ph type="sldNum" sz="quarter" idx="12"/>
          </p:nvPr>
        </p:nvSpPr>
        <p:spPr/>
        <p:txBody>
          <a:bodyPr/>
          <a:lstStyle/>
          <a:p>
            <a:fld id="{AC69D2A4-C4EE-4E2E-A791-2A9DBCC54674}" type="slidenum">
              <a:rPr lang="en-IN" smtClean="0"/>
              <a:t>‹#›</a:t>
            </a:fld>
            <a:endParaRPr lang="en-IN"/>
          </a:p>
        </p:txBody>
      </p:sp>
    </p:spTree>
    <p:extLst>
      <p:ext uri="{BB962C8B-B14F-4D97-AF65-F5344CB8AC3E}">
        <p14:creationId xmlns:p14="http://schemas.microsoft.com/office/powerpoint/2010/main" val="359042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4C5160-4935-4E37-1CBB-099249F5ADB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300679B-2F25-49C0-14B0-0DF11F29D90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D7A0207-6874-29DA-44E9-F4F82B82F65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DB7561AE-007C-0075-5111-34577C92216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6D36409-5971-9F05-3703-C9636499E41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0D25E35F-2A94-DC61-550A-5AE5FFD6944F}"/>
              </a:ext>
            </a:extLst>
          </p:cNvPr>
          <p:cNvSpPr>
            <a:spLocks noGrp="1"/>
          </p:cNvSpPr>
          <p:nvPr>
            <p:ph type="dt" sz="half" idx="10"/>
          </p:nvPr>
        </p:nvSpPr>
        <p:spPr/>
        <p:txBody>
          <a:bodyPr/>
          <a:lstStyle/>
          <a:p>
            <a:fld id="{37E19718-5513-450E-A1C0-00BC212B86EA}" type="datetimeFigureOut">
              <a:rPr lang="en-IN" smtClean="0"/>
              <a:t>18-03-2025</a:t>
            </a:fld>
            <a:endParaRPr lang="en-IN"/>
          </a:p>
        </p:txBody>
      </p:sp>
      <p:sp>
        <p:nvSpPr>
          <p:cNvPr id="8" name="Footer Placeholder 7">
            <a:extLst>
              <a:ext uri="{FF2B5EF4-FFF2-40B4-BE49-F238E27FC236}">
                <a16:creationId xmlns:a16="http://schemas.microsoft.com/office/drawing/2014/main" id="{C3D212AF-F2E6-5301-1D9E-33696FF85A1F}"/>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EB354B3F-4081-942C-46A0-C451F7BFC0FB}"/>
              </a:ext>
            </a:extLst>
          </p:cNvPr>
          <p:cNvSpPr>
            <a:spLocks noGrp="1"/>
          </p:cNvSpPr>
          <p:nvPr>
            <p:ph type="sldNum" sz="quarter" idx="12"/>
          </p:nvPr>
        </p:nvSpPr>
        <p:spPr/>
        <p:txBody>
          <a:bodyPr/>
          <a:lstStyle/>
          <a:p>
            <a:fld id="{AC69D2A4-C4EE-4E2E-A791-2A9DBCC54674}" type="slidenum">
              <a:rPr lang="en-IN" smtClean="0"/>
              <a:t>‹#›</a:t>
            </a:fld>
            <a:endParaRPr lang="en-IN"/>
          </a:p>
        </p:txBody>
      </p:sp>
    </p:spTree>
    <p:extLst>
      <p:ext uri="{BB962C8B-B14F-4D97-AF65-F5344CB8AC3E}">
        <p14:creationId xmlns:p14="http://schemas.microsoft.com/office/powerpoint/2010/main" val="32448219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658CFE-1F9D-309A-BCDC-8EEB6E9B8318}"/>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4FC75AEA-EDE8-9789-4E65-82524F975A3E}"/>
              </a:ext>
            </a:extLst>
          </p:cNvPr>
          <p:cNvSpPr>
            <a:spLocks noGrp="1"/>
          </p:cNvSpPr>
          <p:nvPr>
            <p:ph type="dt" sz="half" idx="10"/>
          </p:nvPr>
        </p:nvSpPr>
        <p:spPr/>
        <p:txBody>
          <a:bodyPr/>
          <a:lstStyle/>
          <a:p>
            <a:fld id="{37E19718-5513-450E-A1C0-00BC212B86EA}" type="datetimeFigureOut">
              <a:rPr lang="en-IN" smtClean="0"/>
              <a:t>18-03-2025</a:t>
            </a:fld>
            <a:endParaRPr lang="en-IN"/>
          </a:p>
        </p:txBody>
      </p:sp>
      <p:sp>
        <p:nvSpPr>
          <p:cNvPr id="4" name="Footer Placeholder 3">
            <a:extLst>
              <a:ext uri="{FF2B5EF4-FFF2-40B4-BE49-F238E27FC236}">
                <a16:creationId xmlns:a16="http://schemas.microsoft.com/office/drawing/2014/main" id="{08695C28-5FBE-7E40-B349-4E8E305C51DC}"/>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1E53E8DE-8A9A-8D1E-7839-73130E1B5329}"/>
              </a:ext>
            </a:extLst>
          </p:cNvPr>
          <p:cNvSpPr>
            <a:spLocks noGrp="1"/>
          </p:cNvSpPr>
          <p:nvPr>
            <p:ph type="sldNum" sz="quarter" idx="12"/>
          </p:nvPr>
        </p:nvSpPr>
        <p:spPr/>
        <p:txBody>
          <a:bodyPr/>
          <a:lstStyle/>
          <a:p>
            <a:fld id="{AC69D2A4-C4EE-4E2E-A791-2A9DBCC54674}" type="slidenum">
              <a:rPr lang="en-IN" smtClean="0"/>
              <a:t>‹#›</a:t>
            </a:fld>
            <a:endParaRPr lang="en-IN"/>
          </a:p>
        </p:txBody>
      </p:sp>
    </p:spTree>
    <p:extLst>
      <p:ext uri="{BB962C8B-B14F-4D97-AF65-F5344CB8AC3E}">
        <p14:creationId xmlns:p14="http://schemas.microsoft.com/office/powerpoint/2010/main" val="26072955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AC10321-B5D4-4F5E-C176-3FD204D8137B}"/>
              </a:ext>
            </a:extLst>
          </p:cNvPr>
          <p:cNvSpPr>
            <a:spLocks noGrp="1"/>
          </p:cNvSpPr>
          <p:nvPr>
            <p:ph type="dt" sz="half" idx="10"/>
          </p:nvPr>
        </p:nvSpPr>
        <p:spPr/>
        <p:txBody>
          <a:bodyPr/>
          <a:lstStyle/>
          <a:p>
            <a:fld id="{37E19718-5513-450E-A1C0-00BC212B86EA}" type="datetimeFigureOut">
              <a:rPr lang="en-IN" smtClean="0"/>
              <a:t>18-03-2025</a:t>
            </a:fld>
            <a:endParaRPr lang="en-IN"/>
          </a:p>
        </p:txBody>
      </p:sp>
      <p:sp>
        <p:nvSpPr>
          <p:cNvPr id="3" name="Footer Placeholder 2">
            <a:extLst>
              <a:ext uri="{FF2B5EF4-FFF2-40B4-BE49-F238E27FC236}">
                <a16:creationId xmlns:a16="http://schemas.microsoft.com/office/drawing/2014/main" id="{1EE5FC9B-15A6-270D-9725-20BFBCB1D8C5}"/>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DB870903-5B2E-E7D4-9D38-E5B78714B148}"/>
              </a:ext>
            </a:extLst>
          </p:cNvPr>
          <p:cNvSpPr>
            <a:spLocks noGrp="1"/>
          </p:cNvSpPr>
          <p:nvPr>
            <p:ph type="sldNum" sz="quarter" idx="12"/>
          </p:nvPr>
        </p:nvSpPr>
        <p:spPr/>
        <p:txBody>
          <a:bodyPr/>
          <a:lstStyle/>
          <a:p>
            <a:fld id="{AC69D2A4-C4EE-4E2E-A791-2A9DBCC54674}" type="slidenum">
              <a:rPr lang="en-IN" smtClean="0"/>
              <a:t>‹#›</a:t>
            </a:fld>
            <a:endParaRPr lang="en-IN"/>
          </a:p>
        </p:txBody>
      </p:sp>
    </p:spTree>
    <p:extLst>
      <p:ext uri="{BB962C8B-B14F-4D97-AF65-F5344CB8AC3E}">
        <p14:creationId xmlns:p14="http://schemas.microsoft.com/office/powerpoint/2010/main" val="21520373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6CDDB6-22A5-463B-750A-4BA880C28BA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10AF0C29-B0B7-2ADA-ED20-3879795F362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0D72CE2B-6C22-B9B1-6BB8-60A41382A83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76CE489-5CF6-6C70-8BC3-C7BA63DC5935}"/>
              </a:ext>
            </a:extLst>
          </p:cNvPr>
          <p:cNvSpPr>
            <a:spLocks noGrp="1"/>
          </p:cNvSpPr>
          <p:nvPr>
            <p:ph type="dt" sz="half" idx="10"/>
          </p:nvPr>
        </p:nvSpPr>
        <p:spPr/>
        <p:txBody>
          <a:bodyPr/>
          <a:lstStyle/>
          <a:p>
            <a:fld id="{37E19718-5513-450E-A1C0-00BC212B86EA}" type="datetimeFigureOut">
              <a:rPr lang="en-IN" smtClean="0"/>
              <a:t>18-03-2025</a:t>
            </a:fld>
            <a:endParaRPr lang="en-IN"/>
          </a:p>
        </p:txBody>
      </p:sp>
      <p:sp>
        <p:nvSpPr>
          <p:cNvPr id="6" name="Footer Placeholder 5">
            <a:extLst>
              <a:ext uri="{FF2B5EF4-FFF2-40B4-BE49-F238E27FC236}">
                <a16:creationId xmlns:a16="http://schemas.microsoft.com/office/drawing/2014/main" id="{8C502E4F-F309-4052-4B4B-EE210E54E6E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325D95E-149F-34BC-C2CA-F18085360211}"/>
              </a:ext>
            </a:extLst>
          </p:cNvPr>
          <p:cNvSpPr>
            <a:spLocks noGrp="1"/>
          </p:cNvSpPr>
          <p:nvPr>
            <p:ph type="sldNum" sz="quarter" idx="12"/>
          </p:nvPr>
        </p:nvSpPr>
        <p:spPr/>
        <p:txBody>
          <a:bodyPr/>
          <a:lstStyle/>
          <a:p>
            <a:fld id="{AC69D2A4-C4EE-4E2E-A791-2A9DBCC54674}" type="slidenum">
              <a:rPr lang="en-IN" smtClean="0"/>
              <a:t>‹#›</a:t>
            </a:fld>
            <a:endParaRPr lang="en-IN"/>
          </a:p>
        </p:txBody>
      </p:sp>
    </p:spTree>
    <p:extLst>
      <p:ext uri="{BB962C8B-B14F-4D97-AF65-F5344CB8AC3E}">
        <p14:creationId xmlns:p14="http://schemas.microsoft.com/office/powerpoint/2010/main" val="20386711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07BEB8-35EC-2E98-11CA-C1C1AAEF417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A7B38827-7A53-BA1A-4F25-18606BC5916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C630E39D-25CB-A882-EFD5-84DB5AC1756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FA5CBFA-1E70-759B-120C-C483C78FCA60}"/>
              </a:ext>
            </a:extLst>
          </p:cNvPr>
          <p:cNvSpPr>
            <a:spLocks noGrp="1"/>
          </p:cNvSpPr>
          <p:nvPr>
            <p:ph type="dt" sz="half" idx="10"/>
          </p:nvPr>
        </p:nvSpPr>
        <p:spPr/>
        <p:txBody>
          <a:bodyPr/>
          <a:lstStyle/>
          <a:p>
            <a:fld id="{37E19718-5513-450E-A1C0-00BC212B86EA}" type="datetimeFigureOut">
              <a:rPr lang="en-IN" smtClean="0"/>
              <a:t>18-03-2025</a:t>
            </a:fld>
            <a:endParaRPr lang="en-IN"/>
          </a:p>
        </p:txBody>
      </p:sp>
      <p:sp>
        <p:nvSpPr>
          <p:cNvPr id="6" name="Footer Placeholder 5">
            <a:extLst>
              <a:ext uri="{FF2B5EF4-FFF2-40B4-BE49-F238E27FC236}">
                <a16:creationId xmlns:a16="http://schemas.microsoft.com/office/drawing/2014/main" id="{24577DDF-C807-A26C-6756-819946223DF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DD2C984-3EC2-8B04-846D-E96D19A7C3B5}"/>
              </a:ext>
            </a:extLst>
          </p:cNvPr>
          <p:cNvSpPr>
            <a:spLocks noGrp="1"/>
          </p:cNvSpPr>
          <p:nvPr>
            <p:ph type="sldNum" sz="quarter" idx="12"/>
          </p:nvPr>
        </p:nvSpPr>
        <p:spPr/>
        <p:txBody>
          <a:bodyPr/>
          <a:lstStyle/>
          <a:p>
            <a:fld id="{AC69D2A4-C4EE-4E2E-A791-2A9DBCC54674}" type="slidenum">
              <a:rPr lang="en-IN" smtClean="0"/>
              <a:t>‹#›</a:t>
            </a:fld>
            <a:endParaRPr lang="en-IN"/>
          </a:p>
        </p:txBody>
      </p:sp>
    </p:spTree>
    <p:extLst>
      <p:ext uri="{BB962C8B-B14F-4D97-AF65-F5344CB8AC3E}">
        <p14:creationId xmlns:p14="http://schemas.microsoft.com/office/powerpoint/2010/main" val="41844156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973048-DBC0-8C43-9A02-ABB26612172B}"/>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201C519-E5A0-9C61-D53F-A15E604055C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E97030B-C7DE-24A9-48BE-E7CFAA7BF906}"/>
              </a:ext>
            </a:extLst>
          </p:cNvPr>
          <p:cNvSpPr>
            <a:spLocks noGrp="1"/>
          </p:cNvSpPr>
          <p:nvPr>
            <p:ph type="dt" sz="half" idx="10"/>
          </p:nvPr>
        </p:nvSpPr>
        <p:spPr/>
        <p:txBody>
          <a:bodyPr/>
          <a:lstStyle/>
          <a:p>
            <a:fld id="{37E19718-5513-450E-A1C0-00BC212B86EA}" type="datetimeFigureOut">
              <a:rPr lang="en-IN" smtClean="0"/>
              <a:t>18-03-2025</a:t>
            </a:fld>
            <a:endParaRPr lang="en-IN"/>
          </a:p>
        </p:txBody>
      </p:sp>
      <p:sp>
        <p:nvSpPr>
          <p:cNvPr id="5" name="Footer Placeholder 4">
            <a:extLst>
              <a:ext uri="{FF2B5EF4-FFF2-40B4-BE49-F238E27FC236}">
                <a16:creationId xmlns:a16="http://schemas.microsoft.com/office/drawing/2014/main" id="{858B7A8F-7ACA-773C-3582-9E680A0A945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20769E7-00DC-6513-2AF6-B70301FDAC4F}"/>
              </a:ext>
            </a:extLst>
          </p:cNvPr>
          <p:cNvSpPr>
            <a:spLocks noGrp="1"/>
          </p:cNvSpPr>
          <p:nvPr>
            <p:ph type="sldNum" sz="quarter" idx="12"/>
          </p:nvPr>
        </p:nvSpPr>
        <p:spPr/>
        <p:txBody>
          <a:bodyPr/>
          <a:lstStyle/>
          <a:p>
            <a:fld id="{AC69D2A4-C4EE-4E2E-A791-2A9DBCC54674}" type="slidenum">
              <a:rPr lang="en-IN" smtClean="0"/>
              <a:t>‹#›</a:t>
            </a:fld>
            <a:endParaRPr lang="en-IN"/>
          </a:p>
        </p:txBody>
      </p:sp>
    </p:spTree>
    <p:extLst>
      <p:ext uri="{BB962C8B-B14F-4D97-AF65-F5344CB8AC3E}">
        <p14:creationId xmlns:p14="http://schemas.microsoft.com/office/powerpoint/2010/main" val="4375138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A49B6F3-1C24-E1F9-F915-ED773C7A33C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9BF28A9-94E1-0560-F969-9AFDB0CB44C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07815A5-D0F5-3925-9F9D-A7A01446223F}"/>
              </a:ext>
            </a:extLst>
          </p:cNvPr>
          <p:cNvSpPr>
            <a:spLocks noGrp="1"/>
          </p:cNvSpPr>
          <p:nvPr>
            <p:ph type="dt" sz="half" idx="10"/>
          </p:nvPr>
        </p:nvSpPr>
        <p:spPr/>
        <p:txBody>
          <a:bodyPr/>
          <a:lstStyle/>
          <a:p>
            <a:fld id="{37E19718-5513-450E-A1C0-00BC212B86EA}" type="datetimeFigureOut">
              <a:rPr lang="en-IN" smtClean="0"/>
              <a:t>18-03-2025</a:t>
            </a:fld>
            <a:endParaRPr lang="en-IN"/>
          </a:p>
        </p:txBody>
      </p:sp>
      <p:sp>
        <p:nvSpPr>
          <p:cNvPr id="5" name="Footer Placeholder 4">
            <a:extLst>
              <a:ext uri="{FF2B5EF4-FFF2-40B4-BE49-F238E27FC236}">
                <a16:creationId xmlns:a16="http://schemas.microsoft.com/office/drawing/2014/main" id="{85237475-A09A-A3E5-4034-C4FC0551815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18E6BED-C9AB-DC2F-8882-0F17F2CCD041}"/>
              </a:ext>
            </a:extLst>
          </p:cNvPr>
          <p:cNvSpPr>
            <a:spLocks noGrp="1"/>
          </p:cNvSpPr>
          <p:nvPr>
            <p:ph type="sldNum" sz="quarter" idx="12"/>
          </p:nvPr>
        </p:nvSpPr>
        <p:spPr/>
        <p:txBody>
          <a:bodyPr/>
          <a:lstStyle/>
          <a:p>
            <a:fld id="{AC69D2A4-C4EE-4E2E-A791-2A9DBCC54674}" type="slidenum">
              <a:rPr lang="en-IN" smtClean="0"/>
              <a:t>‹#›</a:t>
            </a:fld>
            <a:endParaRPr lang="en-IN"/>
          </a:p>
        </p:txBody>
      </p:sp>
    </p:spTree>
    <p:extLst>
      <p:ext uri="{BB962C8B-B14F-4D97-AF65-F5344CB8AC3E}">
        <p14:creationId xmlns:p14="http://schemas.microsoft.com/office/powerpoint/2010/main" val="4975990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EA56AAE-2FB9-6F8E-4C55-5C325D063DE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4528046-EC5D-5664-D059-0BC1294E5B1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818060D-1CB5-9D22-7FBE-0F79E40B1B5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7E19718-5513-450E-A1C0-00BC212B86EA}" type="datetimeFigureOut">
              <a:rPr lang="en-IN" smtClean="0"/>
              <a:t>18-03-2025</a:t>
            </a:fld>
            <a:endParaRPr lang="en-IN"/>
          </a:p>
        </p:txBody>
      </p:sp>
      <p:sp>
        <p:nvSpPr>
          <p:cNvPr id="5" name="Footer Placeholder 4">
            <a:extLst>
              <a:ext uri="{FF2B5EF4-FFF2-40B4-BE49-F238E27FC236}">
                <a16:creationId xmlns:a16="http://schemas.microsoft.com/office/drawing/2014/main" id="{9BACD0E9-B031-5B31-78F8-D27AE4F0234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29E5CAA4-F71C-B62C-2E50-1B3C3786D50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C69D2A4-C4EE-4E2E-A791-2A9DBCC54674}" type="slidenum">
              <a:rPr lang="en-IN" smtClean="0"/>
              <a:t>‹#›</a:t>
            </a:fld>
            <a:endParaRPr lang="en-IN"/>
          </a:p>
        </p:txBody>
      </p:sp>
    </p:spTree>
    <p:extLst>
      <p:ext uri="{BB962C8B-B14F-4D97-AF65-F5344CB8AC3E}">
        <p14:creationId xmlns:p14="http://schemas.microsoft.com/office/powerpoint/2010/main" val="359969307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73537B-6D1C-8E22-011A-E8FE93FE3311}"/>
              </a:ext>
            </a:extLst>
          </p:cNvPr>
          <p:cNvSpPr>
            <a:spLocks noGrp="1"/>
          </p:cNvSpPr>
          <p:nvPr>
            <p:ph type="ctrTitle"/>
          </p:nvPr>
        </p:nvSpPr>
        <p:spPr/>
        <p:txBody>
          <a:bodyPr/>
          <a:lstStyle/>
          <a:p>
            <a:r>
              <a:rPr lang="en-IN" b="1" i="0" dirty="0">
                <a:solidFill>
                  <a:srgbClr val="273239"/>
                </a:solidFill>
                <a:effectLst/>
                <a:latin typeface="Source Sans 3"/>
              </a:rPr>
              <a:t>SQL Operators</a:t>
            </a:r>
            <a:br>
              <a:rPr lang="en-IN" b="1" i="0" dirty="0">
                <a:solidFill>
                  <a:srgbClr val="273239"/>
                </a:solidFill>
                <a:effectLst/>
                <a:latin typeface="Source Sans 3"/>
              </a:rPr>
            </a:br>
            <a:endParaRPr lang="en-IN" dirty="0"/>
          </a:p>
        </p:txBody>
      </p:sp>
    </p:spTree>
    <p:extLst>
      <p:ext uri="{BB962C8B-B14F-4D97-AF65-F5344CB8AC3E}">
        <p14:creationId xmlns:p14="http://schemas.microsoft.com/office/powerpoint/2010/main" val="14313219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21A19D-3B5E-BB6E-6399-B72C4E7BEDC8}"/>
              </a:ext>
            </a:extLst>
          </p:cNvPr>
          <p:cNvSpPr>
            <a:spLocks noGrp="1"/>
          </p:cNvSpPr>
          <p:nvPr>
            <p:ph type="title"/>
          </p:nvPr>
        </p:nvSpPr>
        <p:spPr/>
        <p:txBody>
          <a:bodyPr/>
          <a:lstStyle/>
          <a:p>
            <a:r>
              <a:rPr lang="en-IN" b="1" dirty="0">
                <a:solidFill>
                  <a:srgbClr val="C00000"/>
                </a:solidFill>
              </a:rPr>
              <a:t>SQL Arithmetic Operators</a:t>
            </a:r>
            <a:br>
              <a:rPr lang="en-IN" b="1" dirty="0">
                <a:solidFill>
                  <a:srgbClr val="C00000"/>
                </a:solidFill>
              </a:rPr>
            </a:br>
            <a:endParaRPr lang="en-IN" b="1" dirty="0">
              <a:solidFill>
                <a:srgbClr val="C00000"/>
              </a:solidFill>
            </a:endParaRPr>
          </a:p>
        </p:txBody>
      </p:sp>
      <p:sp>
        <p:nvSpPr>
          <p:cNvPr id="3" name="Content Placeholder 2">
            <a:extLst>
              <a:ext uri="{FF2B5EF4-FFF2-40B4-BE49-F238E27FC236}">
                <a16:creationId xmlns:a16="http://schemas.microsoft.com/office/drawing/2014/main" id="{E7DD1DC5-72AA-2A4E-14CD-A7F24CBE41D4}"/>
              </a:ext>
            </a:extLst>
          </p:cNvPr>
          <p:cNvSpPr>
            <a:spLocks noGrp="1"/>
          </p:cNvSpPr>
          <p:nvPr>
            <p:ph idx="1"/>
          </p:nvPr>
        </p:nvSpPr>
        <p:spPr/>
        <p:txBody>
          <a:bodyPr/>
          <a:lstStyle/>
          <a:p>
            <a:pPr marL="0" indent="0">
              <a:buNone/>
            </a:pPr>
            <a:r>
              <a:rPr lang="en-US" dirty="0"/>
              <a:t>Operator	Description	</a:t>
            </a:r>
          </a:p>
          <a:p>
            <a:pPr marL="0" indent="0">
              <a:buNone/>
            </a:pPr>
            <a:r>
              <a:rPr lang="en-US" dirty="0"/>
              <a:t>       +	               Add	</a:t>
            </a:r>
          </a:p>
          <a:p>
            <a:pPr marL="0" indent="0">
              <a:buNone/>
            </a:pPr>
            <a:r>
              <a:rPr lang="en-US" dirty="0"/>
              <a:t>        -	             Subtract	</a:t>
            </a:r>
          </a:p>
          <a:p>
            <a:pPr marL="0" indent="0">
              <a:buNone/>
            </a:pPr>
            <a:r>
              <a:rPr lang="en-US" dirty="0"/>
              <a:t>        *	             Multiply	</a:t>
            </a:r>
          </a:p>
          <a:p>
            <a:pPr marL="0" indent="0">
              <a:buNone/>
            </a:pPr>
            <a:r>
              <a:rPr lang="en-US" dirty="0"/>
              <a:t>         /	             Divide	</a:t>
            </a:r>
          </a:p>
          <a:p>
            <a:pPr marL="0" indent="0">
              <a:buNone/>
            </a:pPr>
            <a:r>
              <a:rPr lang="en-US" dirty="0"/>
              <a:t>        %	             Modulo </a:t>
            </a:r>
            <a:endParaRPr lang="en-IN" dirty="0"/>
          </a:p>
        </p:txBody>
      </p:sp>
    </p:spTree>
    <p:extLst>
      <p:ext uri="{BB962C8B-B14F-4D97-AF65-F5344CB8AC3E}">
        <p14:creationId xmlns:p14="http://schemas.microsoft.com/office/powerpoint/2010/main" val="31351138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4FB7D7-F94B-E429-B510-B85CCC776BB9}"/>
              </a:ext>
            </a:extLst>
          </p:cNvPr>
          <p:cNvSpPr>
            <a:spLocks noGrp="1"/>
          </p:cNvSpPr>
          <p:nvPr>
            <p:ph type="title"/>
          </p:nvPr>
        </p:nvSpPr>
        <p:spPr/>
        <p:txBody>
          <a:bodyPr/>
          <a:lstStyle/>
          <a:p>
            <a:r>
              <a:rPr lang="en-IN" b="1" dirty="0">
                <a:solidFill>
                  <a:srgbClr val="C00000"/>
                </a:solidFill>
              </a:rPr>
              <a:t>SQL Comparison Operators</a:t>
            </a:r>
          </a:p>
        </p:txBody>
      </p:sp>
      <p:sp>
        <p:nvSpPr>
          <p:cNvPr id="3" name="Content Placeholder 2">
            <a:extLst>
              <a:ext uri="{FF2B5EF4-FFF2-40B4-BE49-F238E27FC236}">
                <a16:creationId xmlns:a16="http://schemas.microsoft.com/office/drawing/2014/main" id="{AD19140B-8057-B794-6739-4D619D23A63B}"/>
              </a:ext>
            </a:extLst>
          </p:cNvPr>
          <p:cNvSpPr>
            <a:spLocks noGrp="1"/>
          </p:cNvSpPr>
          <p:nvPr>
            <p:ph idx="1"/>
          </p:nvPr>
        </p:nvSpPr>
        <p:spPr/>
        <p:txBody>
          <a:bodyPr/>
          <a:lstStyle/>
          <a:p>
            <a:pPr marL="0" indent="0">
              <a:buNone/>
            </a:pPr>
            <a:r>
              <a:rPr lang="en-US" dirty="0"/>
              <a:t>Operator	Description	</a:t>
            </a:r>
          </a:p>
          <a:p>
            <a:pPr marL="0" indent="0">
              <a:buNone/>
            </a:pPr>
            <a:r>
              <a:rPr lang="en-US" dirty="0"/>
              <a:t>      =	              Equal to	</a:t>
            </a:r>
          </a:p>
          <a:p>
            <a:pPr marL="0" indent="0">
              <a:buNone/>
            </a:pPr>
            <a:r>
              <a:rPr lang="en-US" dirty="0"/>
              <a:t>      &gt;	              Greater than	</a:t>
            </a:r>
          </a:p>
          <a:p>
            <a:pPr marL="0" indent="0">
              <a:buNone/>
            </a:pPr>
            <a:r>
              <a:rPr lang="en-US" dirty="0"/>
              <a:t>      &lt;	              Less than	</a:t>
            </a:r>
          </a:p>
          <a:p>
            <a:pPr marL="0" indent="0">
              <a:buNone/>
            </a:pPr>
            <a:r>
              <a:rPr lang="en-US" dirty="0"/>
              <a:t>      &gt;=	             Greater than or equal to	</a:t>
            </a:r>
          </a:p>
          <a:p>
            <a:pPr marL="0" indent="0">
              <a:buNone/>
            </a:pPr>
            <a:r>
              <a:rPr lang="en-US" dirty="0"/>
              <a:t>      &lt;=	             Less than or equal to	</a:t>
            </a:r>
          </a:p>
          <a:p>
            <a:pPr marL="0" indent="0">
              <a:buNone/>
            </a:pPr>
            <a:r>
              <a:rPr lang="en-US" dirty="0"/>
              <a:t>      &lt;&gt;	             Not equal to</a:t>
            </a:r>
          </a:p>
          <a:p>
            <a:pPr marL="0" indent="0">
              <a:buNone/>
            </a:pPr>
            <a:r>
              <a:rPr lang="en-IN" dirty="0"/>
              <a:t>      !=	             Not equal</a:t>
            </a:r>
          </a:p>
        </p:txBody>
      </p:sp>
    </p:spTree>
    <p:extLst>
      <p:ext uri="{BB962C8B-B14F-4D97-AF65-F5344CB8AC3E}">
        <p14:creationId xmlns:p14="http://schemas.microsoft.com/office/powerpoint/2010/main" val="17733189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7F8174-B0FA-86F3-383E-27934AC42A61}"/>
              </a:ext>
            </a:extLst>
          </p:cNvPr>
          <p:cNvSpPr>
            <a:spLocks noGrp="1"/>
          </p:cNvSpPr>
          <p:nvPr>
            <p:ph type="title"/>
          </p:nvPr>
        </p:nvSpPr>
        <p:spPr/>
        <p:txBody>
          <a:bodyPr/>
          <a:lstStyle/>
          <a:p>
            <a:r>
              <a:rPr lang="en-IN" b="1" dirty="0">
                <a:solidFill>
                  <a:srgbClr val="C00000"/>
                </a:solidFill>
              </a:rPr>
              <a:t>SQL Logical Operators</a:t>
            </a:r>
          </a:p>
        </p:txBody>
      </p:sp>
      <p:sp>
        <p:nvSpPr>
          <p:cNvPr id="3" name="Content Placeholder 2">
            <a:extLst>
              <a:ext uri="{FF2B5EF4-FFF2-40B4-BE49-F238E27FC236}">
                <a16:creationId xmlns:a16="http://schemas.microsoft.com/office/drawing/2014/main" id="{8437D650-2F02-3597-B582-8A6C0367849A}"/>
              </a:ext>
            </a:extLst>
          </p:cNvPr>
          <p:cNvSpPr>
            <a:spLocks noGrp="1"/>
          </p:cNvSpPr>
          <p:nvPr>
            <p:ph idx="1"/>
          </p:nvPr>
        </p:nvSpPr>
        <p:spPr/>
        <p:txBody>
          <a:bodyPr>
            <a:normAutofit/>
          </a:bodyPr>
          <a:lstStyle/>
          <a:p>
            <a:r>
              <a:rPr lang="en-US" dirty="0"/>
              <a:t>These operators return a Boolean value which can be either a TRUE or FALSE.</a:t>
            </a:r>
          </a:p>
          <a:p>
            <a:r>
              <a:rPr lang="en-US" dirty="0"/>
              <a:t>Logical operators available in SQL are,</a:t>
            </a:r>
          </a:p>
          <a:p>
            <a:pPr lvl="1"/>
            <a:r>
              <a:rPr lang="en-US" dirty="0"/>
              <a:t>ANY and ALL</a:t>
            </a:r>
          </a:p>
          <a:p>
            <a:pPr lvl="1"/>
            <a:r>
              <a:rPr lang="en-US" dirty="0"/>
              <a:t>AND, OR and NOT</a:t>
            </a:r>
          </a:p>
          <a:p>
            <a:pPr lvl="1"/>
            <a:r>
              <a:rPr lang="en-US" dirty="0"/>
              <a:t>BETWEEN</a:t>
            </a:r>
          </a:p>
          <a:p>
            <a:pPr lvl="1"/>
            <a:r>
              <a:rPr lang="en-US" dirty="0"/>
              <a:t>EXISTS</a:t>
            </a:r>
          </a:p>
          <a:p>
            <a:pPr lvl="1"/>
            <a:r>
              <a:rPr lang="en-US" dirty="0"/>
              <a:t>IN</a:t>
            </a:r>
          </a:p>
          <a:p>
            <a:pPr lvl="1"/>
            <a:r>
              <a:rPr lang="en-US" dirty="0"/>
              <a:t>LIKE</a:t>
            </a:r>
          </a:p>
          <a:p>
            <a:pPr lvl="1"/>
            <a:r>
              <a:rPr lang="en-US" dirty="0"/>
              <a:t>IS NULL</a:t>
            </a:r>
            <a:endParaRPr lang="en-IN" dirty="0"/>
          </a:p>
        </p:txBody>
      </p:sp>
    </p:spTree>
    <p:extLst>
      <p:ext uri="{BB962C8B-B14F-4D97-AF65-F5344CB8AC3E}">
        <p14:creationId xmlns:p14="http://schemas.microsoft.com/office/powerpoint/2010/main" val="11345282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4627CC3-52BC-FC62-8C43-CD62B0D9986B}"/>
              </a:ext>
            </a:extLst>
          </p:cNvPr>
          <p:cNvSpPr>
            <a:spLocks noGrp="1"/>
          </p:cNvSpPr>
          <p:nvPr>
            <p:ph idx="1"/>
          </p:nvPr>
        </p:nvSpPr>
        <p:spPr>
          <a:xfrm>
            <a:off x="647272" y="297951"/>
            <a:ext cx="10706528" cy="5879012"/>
          </a:xfrm>
        </p:spPr>
        <p:txBody>
          <a:bodyPr>
            <a:normAutofit/>
          </a:bodyPr>
          <a:lstStyle/>
          <a:p>
            <a:pPr marL="0" indent="0">
              <a:buNone/>
            </a:pPr>
            <a:r>
              <a:rPr lang="en-US" sz="3600" dirty="0">
                <a:solidFill>
                  <a:srgbClr val="C00000"/>
                </a:solidFill>
              </a:rPr>
              <a:t>ANY Operator</a:t>
            </a:r>
          </a:p>
          <a:p>
            <a:r>
              <a:rPr lang="en-US" dirty="0"/>
              <a:t>SQL ANY compares a value of the first table with all values of the second table and returns the row if there is a match with any value.</a:t>
            </a:r>
          </a:p>
          <a:p>
            <a:r>
              <a:rPr lang="en-US" dirty="0"/>
              <a:t>It has the following syntax:</a:t>
            </a:r>
          </a:p>
          <a:p>
            <a:endParaRPr lang="en-US" dirty="0"/>
          </a:p>
          <a:p>
            <a:r>
              <a:rPr lang="en-US" dirty="0"/>
              <a:t>SELECT column FROM  table1 WHERE column OPERATOR ANY ( SELECT column FROM table2);</a:t>
            </a:r>
          </a:p>
          <a:p>
            <a:endParaRPr lang="en-US" dirty="0"/>
          </a:p>
          <a:p>
            <a:r>
              <a:rPr lang="en-US" dirty="0"/>
              <a:t>SELECT * FROM Teachers WHERE age = ANY ( SELECT age FROM Students);</a:t>
            </a:r>
            <a:endParaRPr lang="en-IN" dirty="0"/>
          </a:p>
        </p:txBody>
      </p:sp>
    </p:spTree>
    <p:extLst>
      <p:ext uri="{BB962C8B-B14F-4D97-AF65-F5344CB8AC3E}">
        <p14:creationId xmlns:p14="http://schemas.microsoft.com/office/powerpoint/2010/main" val="6408375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ABFA9399-F5ED-91E3-B7D6-F43F109BFDE3}"/>
              </a:ext>
            </a:extLst>
          </p:cNvPr>
          <p:cNvPicPr>
            <a:picLocks noGrp="1" noChangeAspect="1"/>
          </p:cNvPicPr>
          <p:nvPr>
            <p:ph idx="1"/>
          </p:nvPr>
        </p:nvPicPr>
        <p:blipFill>
          <a:blip r:embed="rId2"/>
          <a:stretch>
            <a:fillRect/>
          </a:stretch>
        </p:blipFill>
        <p:spPr>
          <a:xfrm>
            <a:off x="2390296" y="0"/>
            <a:ext cx="6341899" cy="6728806"/>
          </a:xfrm>
          <a:prstGeom prst="rect">
            <a:avLst/>
          </a:prstGeom>
        </p:spPr>
      </p:pic>
    </p:spTree>
    <p:extLst>
      <p:ext uri="{BB962C8B-B14F-4D97-AF65-F5344CB8AC3E}">
        <p14:creationId xmlns:p14="http://schemas.microsoft.com/office/powerpoint/2010/main" val="18198889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0EA77C3-E49F-8200-C12B-F849C1F16002}"/>
              </a:ext>
            </a:extLst>
          </p:cNvPr>
          <p:cNvSpPr>
            <a:spLocks noGrp="1"/>
          </p:cNvSpPr>
          <p:nvPr>
            <p:ph idx="1"/>
          </p:nvPr>
        </p:nvSpPr>
        <p:spPr>
          <a:xfrm>
            <a:off x="493160" y="287676"/>
            <a:ext cx="10860640" cy="5889287"/>
          </a:xfrm>
        </p:spPr>
        <p:txBody>
          <a:bodyPr>
            <a:normAutofit/>
          </a:bodyPr>
          <a:lstStyle/>
          <a:p>
            <a:pPr marL="0" indent="0">
              <a:buNone/>
            </a:pPr>
            <a:r>
              <a:rPr lang="en-US" sz="3600" dirty="0">
                <a:solidFill>
                  <a:srgbClr val="C00000"/>
                </a:solidFill>
              </a:rPr>
              <a:t>ALL Operator</a:t>
            </a:r>
          </a:p>
          <a:p>
            <a:pPr marL="0" indent="0">
              <a:buNone/>
            </a:pPr>
            <a:endParaRPr lang="en-US" dirty="0">
              <a:solidFill>
                <a:srgbClr val="C00000"/>
              </a:solidFill>
            </a:endParaRPr>
          </a:p>
          <a:p>
            <a:r>
              <a:rPr lang="en-US" dirty="0"/>
              <a:t>SQL ALL compares a value of the first table with all values of the second table and returns the row if there is a match with all values.</a:t>
            </a:r>
          </a:p>
          <a:p>
            <a:endParaRPr lang="en-US" dirty="0"/>
          </a:p>
          <a:p>
            <a:r>
              <a:rPr lang="en-US" dirty="0"/>
              <a:t>It has the following syntax:</a:t>
            </a:r>
          </a:p>
          <a:p>
            <a:r>
              <a:rPr lang="en-US" i="1" dirty="0"/>
              <a:t>SELECT column FROM  table1 WHERE  column OPERATOR ALL (  SELECT column FROM table2);</a:t>
            </a:r>
          </a:p>
          <a:p>
            <a:pPr marL="0" indent="0">
              <a:buNone/>
            </a:pPr>
            <a:endParaRPr lang="en-US" dirty="0"/>
          </a:p>
          <a:p>
            <a:r>
              <a:rPr lang="en-US" dirty="0"/>
              <a:t>SELECT * FROM Teachers WHERE age &gt;  ALL ( SELECT age FROM Students);</a:t>
            </a:r>
            <a:endParaRPr lang="en-IN" dirty="0"/>
          </a:p>
        </p:txBody>
      </p:sp>
    </p:spTree>
    <p:extLst>
      <p:ext uri="{BB962C8B-B14F-4D97-AF65-F5344CB8AC3E}">
        <p14:creationId xmlns:p14="http://schemas.microsoft.com/office/powerpoint/2010/main" val="1416727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3C92234A-D09F-44F3-89CF-CE1E1B2015A9}"/>
              </a:ext>
            </a:extLst>
          </p:cNvPr>
          <p:cNvPicPr>
            <a:picLocks noGrp="1" noChangeAspect="1"/>
          </p:cNvPicPr>
          <p:nvPr>
            <p:ph idx="1"/>
          </p:nvPr>
        </p:nvPicPr>
        <p:blipFill>
          <a:blip r:embed="rId2"/>
          <a:stretch>
            <a:fillRect/>
          </a:stretch>
        </p:blipFill>
        <p:spPr>
          <a:xfrm>
            <a:off x="2274993" y="-128427"/>
            <a:ext cx="6584708" cy="6986427"/>
          </a:xfrm>
          <a:prstGeom prst="rect">
            <a:avLst/>
          </a:prstGeom>
        </p:spPr>
      </p:pic>
    </p:spTree>
    <p:extLst>
      <p:ext uri="{BB962C8B-B14F-4D97-AF65-F5344CB8AC3E}">
        <p14:creationId xmlns:p14="http://schemas.microsoft.com/office/powerpoint/2010/main" val="14382030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87A04DD-F110-862C-EDEE-EAAD2852AB9F}"/>
              </a:ext>
            </a:extLst>
          </p:cNvPr>
          <p:cNvSpPr>
            <a:spLocks noGrp="1"/>
          </p:cNvSpPr>
          <p:nvPr>
            <p:ph idx="1"/>
          </p:nvPr>
        </p:nvSpPr>
        <p:spPr>
          <a:xfrm>
            <a:off x="503436" y="205482"/>
            <a:ext cx="4931594" cy="5755723"/>
          </a:xfrm>
        </p:spPr>
        <p:txBody>
          <a:bodyPr/>
          <a:lstStyle/>
          <a:p>
            <a:pPr marL="0" indent="0">
              <a:buNone/>
            </a:pPr>
            <a:r>
              <a:rPr lang="en-US" dirty="0">
                <a:solidFill>
                  <a:srgbClr val="C00000"/>
                </a:solidFill>
              </a:rPr>
              <a:t>AND Operator</a:t>
            </a:r>
          </a:p>
          <a:p>
            <a:r>
              <a:rPr lang="en-US" dirty="0"/>
              <a:t>The SQL AND operator selects data if all conditions are TRUE</a:t>
            </a:r>
            <a:endParaRPr lang="en-IN" dirty="0"/>
          </a:p>
        </p:txBody>
      </p:sp>
      <p:pic>
        <p:nvPicPr>
          <p:cNvPr id="4" name="Picture 3">
            <a:extLst>
              <a:ext uri="{FF2B5EF4-FFF2-40B4-BE49-F238E27FC236}">
                <a16:creationId xmlns:a16="http://schemas.microsoft.com/office/drawing/2014/main" id="{F8A6AEFC-DB32-29B7-72AE-16D0B5511755}"/>
              </a:ext>
            </a:extLst>
          </p:cNvPr>
          <p:cNvPicPr>
            <a:picLocks noChangeAspect="1"/>
          </p:cNvPicPr>
          <p:nvPr/>
        </p:nvPicPr>
        <p:blipFill>
          <a:blip r:embed="rId2"/>
          <a:stretch>
            <a:fillRect/>
          </a:stretch>
        </p:blipFill>
        <p:spPr>
          <a:xfrm>
            <a:off x="5229247" y="61112"/>
            <a:ext cx="6962753" cy="6591406"/>
          </a:xfrm>
          <a:prstGeom prst="rect">
            <a:avLst/>
          </a:prstGeom>
        </p:spPr>
      </p:pic>
    </p:spTree>
    <p:extLst>
      <p:ext uri="{BB962C8B-B14F-4D97-AF65-F5344CB8AC3E}">
        <p14:creationId xmlns:p14="http://schemas.microsoft.com/office/powerpoint/2010/main" val="11950454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8F3B3CA-6BCB-712C-3048-0B678A1647DD}"/>
              </a:ext>
            </a:extLst>
          </p:cNvPr>
          <p:cNvSpPr>
            <a:spLocks noGrp="1"/>
          </p:cNvSpPr>
          <p:nvPr>
            <p:ph idx="1"/>
          </p:nvPr>
        </p:nvSpPr>
        <p:spPr>
          <a:xfrm>
            <a:off x="314218" y="181760"/>
            <a:ext cx="5408488" cy="4351338"/>
          </a:xfrm>
        </p:spPr>
        <p:txBody>
          <a:bodyPr/>
          <a:lstStyle/>
          <a:p>
            <a:pPr marL="0" indent="0">
              <a:buNone/>
            </a:pPr>
            <a:r>
              <a:rPr lang="en-US" dirty="0">
                <a:solidFill>
                  <a:srgbClr val="C00000"/>
                </a:solidFill>
              </a:rPr>
              <a:t>OR Operator</a:t>
            </a:r>
          </a:p>
          <a:p>
            <a:r>
              <a:rPr lang="en-US" dirty="0"/>
              <a:t>The SQL OR operator selects data if any one condition is TRUE.</a:t>
            </a:r>
            <a:endParaRPr lang="en-IN" dirty="0"/>
          </a:p>
        </p:txBody>
      </p:sp>
      <p:pic>
        <p:nvPicPr>
          <p:cNvPr id="4" name="Picture 3">
            <a:extLst>
              <a:ext uri="{FF2B5EF4-FFF2-40B4-BE49-F238E27FC236}">
                <a16:creationId xmlns:a16="http://schemas.microsoft.com/office/drawing/2014/main" id="{A7C80022-21FF-D798-F34F-2B942EFEFF6A}"/>
              </a:ext>
            </a:extLst>
          </p:cNvPr>
          <p:cNvPicPr>
            <a:picLocks noChangeAspect="1"/>
          </p:cNvPicPr>
          <p:nvPr/>
        </p:nvPicPr>
        <p:blipFill>
          <a:blip r:embed="rId2"/>
          <a:stretch>
            <a:fillRect/>
          </a:stretch>
        </p:blipFill>
        <p:spPr>
          <a:xfrm>
            <a:off x="5408402" y="102741"/>
            <a:ext cx="6469380" cy="6858000"/>
          </a:xfrm>
          <a:prstGeom prst="rect">
            <a:avLst/>
          </a:prstGeom>
        </p:spPr>
      </p:pic>
    </p:spTree>
    <p:extLst>
      <p:ext uri="{BB962C8B-B14F-4D97-AF65-F5344CB8AC3E}">
        <p14:creationId xmlns:p14="http://schemas.microsoft.com/office/powerpoint/2010/main" val="26852969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7930811-6A77-579D-2F6C-84C2F0DC5D3B}"/>
              </a:ext>
            </a:extLst>
          </p:cNvPr>
          <p:cNvSpPr>
            <a:spLocks noGrp="1"/>
          </p:cNvSpPr>
          <p:nvPr>
            <p:ph idx="1"/>
          </p:nvPr>
        </p:nvSpPr>
        <p:spPr>
          <a:xfrm>
            <a:off x="396411" y="315324"/>
            <a:ext cx="5613971" cy="4351338"/>
          </a:xfrm>
        </p:spPr>
        <p:txBody>
          <a:bodyPr/>
          <a:lstStyle/>
          <a:p>
            <a:pPr marL="0" indent="0">
              <a:buNone/>
            </a:pPr>
            <a:r>
              <a:rPr lang="en-US" sz="3200" dirty="0">
                <a:solidFill>
                  <a:srgbClr val="C00000"/>
                </a:solidFill>
              </a:rPr>
              <a:t>NOT Operator</a:t>
            </a:r>
          </a:p>
          <a:p>
            <a:r>
              <a:rPr lang="en-US" dirty="0"/>
              <a:t>The SQL NOT operator selects data if the given condition is FALSE.</a:t>
            </a:r>
            <a:endParaRPr lang="en-IN" dirty="0"/>
          </a:p>
        </p:txBody>
      </p:sp>
      <p:pic>
        <p:nvPicPr>
          <p:cNvPr id="4" name="Picture 3">
            <a:extLst>
              <a:ext uri="{FF2B5EF4-FFF2-40B4-BE49-F238E27FC236}">
                <a16:creationId xmlns:a16="http://schemas.microsoft.com/office/drawing/2014/main" id="{B6B4F1F5-79A3-2DFA-D422-B04B2067A7CD}"/>
              </a:ext>
            </a:extLst>
          </p:cNvPr>
          <p:cNvPicPr>
            <a:picLocks noChangeAspect="1"/>
          </p:cNvPicPr>
          <p:nvPr/>
        </p:nvPicPr>
        <p:blipFill>
          <a:blip r:embed="rId2"/>
          <a:stretch>
            <a:fillRect/>
          </a:stretch>
        </p:blipFill>
        <p:spPr>
          <a:xfrm>
            <a:off x="5840815" y="0"/>
            <a:ext cx="6469380" cy="6858000"/>
          </a:xfrm>
          <a:prstGeom prst="rect">
            <a:avLst/>
          </a:prstGeom>
        </p:spPr>
      </p:pic>
    </p:spTree>
    <p:extLst>
      <p:ext uri="{BB962C8B-B14F-4D97-AF65-F5344CB8AC3E}">
        <p14:creationId xmlns:p14="http://schemas.microsoft.com/office/powerpoint/2010/main" val="40258371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E7AFF84-E649-681C-418E-68F8A7AF4622}"/>
              </a:ext>
            </a:extLst>
          </p:cNvPr>
          <p:cNvSpPr>
            <a:spLocks noGrp="1"/>
          </p:cNvSpPr>
          <p:nvPr>
            <p:ph idx="1"/>
          </p:nvPr>
        </p:nvSpPr>
        <p:spPr>
          <a:xfrm>
            <a:off x="462337" y="328773"/>
            <a:ext cx="6462445" cy="5848190"/>
          </a:xfrm>
        </p:spPr>
        <p:txBody>
          <a:bodyPr/>
          <a:lstStyle/>
          <a:p>
            <a:pPr marL="0" indent="0">
              <a:buNone/>
            </a:pPr>
            <a:r>
              <a:rPr lang="en-US" dirty="0">
                <a:solidFill>
                  <a:srgbClr val="C00000"/>
                </a:solidFill>
              </a:rPr>
              <a:t>BETWEEN Operator</a:t>
            </a:r>
          </a:p>
          <a:p>
            <a:r>
              <a:rPr lang="en-US" dirty="0"/>
              <a:t>In SQL, the BETWEEN operator with the WHERE clause selects values within a given range.</a:t>
            </a:r>
            <a:endParaRPr lang="en-IN" dirty="0"/>
          </a:p>
        </p:txBody>
      </p:sp>
      <p:pic>
        <p:nvPicPr>
          <p:cNvPr id="4" name="Picture 3">
            <a:extLst>
              <a:ext uri="{FF2B5EF4-FFF2-40B4-BE49-F238E27FC236}">
                <a16:creationId xmlns:a16="http://schemas.microsoft.com/office/drawing/2014/main" id="{304B765D-C8B1-BA02-9611-67F8FADA668D}"/>
              </a:ext>
            </a:extLst>
          </p:cNvPr>
          <p:cNvPicPr>
            <a:picLocks noChangeAspect="1"/>
          </p:cNvPicPr>
          <p:nvPr/>
        </p:nvPicPr>
        <p:blipFill>
          <a:blip r:embed="rId2"/>
          <a:stretch>
            <a:fillRect/>
          </a:stretch>
        </p:blipFill>
        <p:spPr>
          <a:xfrm>
            <a:off x="5856269" y="-136790"/>
            <a:ext cx="6780943" cy="7131579"/>
          </a:xfrm>
          <a:prstGeom prst="rect">
            <a:avLst/>
          </a:prstGeom>
        </p:spPr>
      </p:pic>
    </p:spTree>
    <p:extLst>
      <p:ext uri="{BB962C8B-B14F-4D97-AF65-F5344CB8AC3E}">
        <p14:creationId xmlns:p14="http://schemas.microsoft.com/office/powerpoint/2010/main" val="32252702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47D2C09-2D94-EF78-9814-9672639DA3A0}"/>
              </a:ext>
            </a:extLst>
          </p:cNvPr>
          <p:cNvSpPr>
            <a:spLocks noGrp="1"/>
          </p:cNvSpPr>
          <p:nvPr>
            <p:ph idx="1"/>
          </p:nvPr>
        </p:nvSpPr>
        <p:spPr>
          <a:xfrm>
            <a:off x="308225" y="226032"/>
            <a:ext cx="5270641" cy="5950932"/>
          </a:xfrm>
        </p:spPr>
        <p:txBody>
          <a:bodyPr/>
          <a:lstStyle/>
          <a:p>
            <a:pPr marL="0" indent="0">
              <a:buNone/>
            </a:pPr>
            <a:r>
              <a:rPr lang="en-US" sz="3200" dirty="0">
                <a:solidFill>
                  <a:srgbClr val="C00000"/>
                </a:solidFill>
              </a:rPr>
              <a:t>IN Operators</a:t>
            </a:r>
          </a:p>
          <a:p>
            <a:r>
              <a:rPr lang="en-US" dirty="0"/>
              <a:t>We use the IN operator with the WHERE clause to match values in a list.</a:t>
            </a:r>
          </a:p>
          <a:p>
            <a:r>
              <a:rPr lang="en-US" i="1" dirty="0"/>
              <a:t>SELECT column1, column2 FROM table WHERE column IN (value1, value2, ...);</a:t>
            </a:r>
            <a:endParaRPr lang="en-IN" i="1" dirty="0"/>
          </a:p>
        </p:txBody>
      </p:sp>
      <p:pic>
        <p:nvPicPr>
          <p:cNvPr id="4" name="Picture 3">
            <a:extLst>
              <a:ext uri="{FF2B5EF4-FFF2-40B4-BE49-F238E27FC236}">
                <a16:creationId xmlns:a16="http://schemas.microsoft.com/office/drawing/2014/main" id="{A953140A-8411-923E-7C44-9AFD9D182130}"/>
              </a:ext>
            </a:extLst>
          </p:cNvPr>
          <p:cNvPicPr>
            <a:picLocks noChangeAspect="1"/>
          </p:cNvPicPr>
          <p:nvPr/>
        </p:nvPicPr>
        <p:blipFill>
          <a:blip r:embed="rId2"/>
          <a:stretch>
            <a:fillRect/>
          </a:stretch>
        </p:blipFill>
        <p:spPr>
          <a:xfrm>
            <a:off x="5293760" y="0"/>
            <a:ext cx="6898240" cy="6858000"/>
          </a:xfrm>
          <a:prstGeom prst="rect">
            <a:avLst/>
          </a:prstGeom>
        </p:spPr>
      </p:pic>
    </p:spTree>
    <p:extLst>
      <p:ext uri="{BB962C8B-B14F-4D97-AF65-F5344CB8AC3E}">
        <p14:creationId xmlns:p14="http://schemas.microsoft.com/office/powerpoint/2010/main" val="18791877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5433D1F-1626-3D57-45B6-2EAF2FA61D4B}"/>
              </a:ext>
            </a:extLst>
          </p:cNvPr>
          <p:cNvSpPr>
            <a:spLocks noGrp="1"/>
          </p:cNvSpPr>
          <p:nvPr>
            <p:ph idx="1"/>
          </p:nvPr>
        </p:nvSpPr>
        <p:spPr>
          <a:xfrm>
            <a:off x="215757" y="315323"/>
            <a:ext cx="5691883" cy="6249863"/>
          </a:xfrm>
        </p:spPr>
        <p:txBody>
          <a:bodyPr>
            <a:normAutofit fontScale="92500" lnSpcReduction="10000"/>
          </a:bodyPr>
          <a:lstStyle/>
          <a:p>
            <a:pPr marL="0" indent="0">
              <a:buNone/>
            </a:pPr>
            <a:r>
              <a:rPr lang="en-US" sz="3500" dirty="0">
                <a:solidFill>
                  <a:srgbClr val="C00000"/>
                </a:solidFill>
              </a:rPr>
              <a:t>LIKE Operator</a:t>
            </a:r>
          </a:p>
          <a:p>
            <a:r>
              <a:rPr lang="en-US" dirty="0"/>
              <a:t>We use the SQL LIKE operator with the WHERE clause to get a result set that matches the given string pattern.</a:t>
            </a:r>
          </a:p>
          <a:p>
            <a:r>
              <a:rPr lang="en-US" dirty="0"/>
              <a:t>Syntax</a:t>
            </a:r>
          </a:p>
          <a:p>
            <a:r>
              <a:rPr lang="en-US" i="1" dirty="0"/>
              <a:t>SELECT column1, column2 FROM </a:t>
            </a:r>
            <a:r>
              <a:rPr lang="en-US" i="1" dirty="0" err="1"/>
              <a:t>table_name</a:t>
            </a:r>
            <a:r>
              <a:rPr lang="en-US" i="1" dirty="0"/>
              <a:t> WHERE </a:t>
            </a:r>
            <a:r>
              <a:rPr lang="en-US" i="1" dirty="0" err="1"/>
              <a:t>columnN</a:t>
            </a:r>
            <a:r>
              <a:rPr lang="en-US" i="1" dirty="0"/>
              <a:t> LIKE pattern;</a:t>
            </a:r>
          </a:p>
          <a:p>
            <a:pPr marL="0" indent="0">
              <a:buNone/>
            </a:pPr>
            <a:endParaRPr lang="en-US" dirty="0"/>
          </a:p>
          <a:p>
            <a:r>
              <a:rPr lang="en-US" dirty="0"/>
              <a:t>There are two wildcards often used in conjunction with the LIKE operator:</a:t>
            </a:r>
          </a:p>
          <a:p>
            <a:r>
              <a:rPr lang="en-US" dirty="0"/>
              <a:t> The </a:t>
            </a:r>
            <a:r>
              <a:rPr lang="en-US" b="1" dirty="0"/>
              <a:t>percent sign % </a:t>
            </a:r>
            <a:r>
              <a:rPr lang="en-US" dirty="0"/>
              <a:t>represents zero, one, or multiple characters</a:t>
            </a:r>
          </a:p>
          <a:p>
            <a:r>
              <a:rPr lang="en-US" dirty="0"/>
              <a:t> The </a:t>
            </a:r>
            <a:r>
              <a:rPr lang="en-US" b="1" dirty="0"/>
              <a:t>underscore sign _ </a:t>
            </a:r>
            <a:r>
              <a:rPr lang="en-US" dirty="0"/>
              <a:t>represents one, single character</a:t>
            </a:r>
          </a:p>
          <a:p>
            <a:endParaRPr lang="en-US" dirty="0"/>
          </a:p>
          <a:p>
            <a:endParaRPr lang="en-IN" dirty="0"/>
          </a:p>
        </p:txBody>
      </p:sp>
      <p:pic>
        <p:nvPicPr>
          <p:cNvPr id="1026" name="Picture 2" descr="How to use LIKE operator in SQL">
            <a:extLst>
              <a:ext uri="{FF2B5EF4-FFF2-40B4-BE49-F238E27FC236}">
                <a16:creationId xmlns:a16="http://schemas.microsoft.com/office/drawing/2014/main" id="{6B7FDB65-CB60-3F22-DB61-9D11F4501B9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81613" y="-46724"/>
            <a:ext cx="6910387"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783764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ACA270B-64DB-5411-ACCE-E3B57F495A9D}"/>
              </a:ext>
            </a:extLst>
          </p:cNvPr>
          <p:cNvSpPr>
            <a:spLocks noGrp="1"/>
          </p:cNvSpPr>
          <p:nvPr>
            <p:ph idx="1"/>
          </p:nvPr>
        </p:nvSpPr>
        <p:spPr>
          <a:xfrm>
            <a:off x="396412" y="274227"/>
            <a:ext cx="5254375" cy="4351338"/>
          </a:xfrm>
        </p:spPr>
        <p:txBody>
          <a:bodyPr/>
          <a:lstStyle/>
          <a:p>
            <a:r>
              <a:rPr lang="en-US" b="1" dirty="0"/>
              <a:t>SQL LIKE With the % Wildcard</a:t>
            </a:r>
          </a:p>
          <a:p>
            <a:r>
              <a:rPr lang="en-US" dirty="0"/>
              <a:t>The SQL LIKE query is often used with the % wildcard to match a pattern of a string. </a:t>
            </a:r>
            <a:endParaRPr lang="en-IN" dirty="0"/>
          </a:p>
        </p:txBody>
      </p:sp>
      <p:pic>
        <p:nvPicPr>
          <p:cNvPr id="4" name="Picture 3">
            <a:extLst>
              <a:ext uri="{FF2B5EF4-FFF2-40B4-BE49-F238E27FC236}">
                <a16:creationId xmlns:a16="http://schemas.microsoft.com/office/drawing/2014/main" id="{4F081E7A-EEB1-607E-A18D-F9EC19239654}"/>
              </a:ext>
            </a:extLst>
          </p:cNvPr>
          <p:cNvPicPr>
            <a:picLocks noChangeAspect="1"/>
          </p:cNvPicPr>
          <p:nvPr/>
        </p:nvPicPr>
        <p:blipFill>
          <a:blip r:embed="rId2"/>
          <a:stretch>
            <a:fillRect/>
          </a:stretch>
        </p:blipFill>
        <p:spPr>
          <a:xfrm>
            <a:off x="5282176" y="-274227"/>
            <a:ext cx="6909824" cy="6858000"/>
          </a:xfrm>
          <a:prstGeom prst="rect">
            <a:avLst/>
          </a:prstGeom>
        </p:spPr>
      </p:pic>
    </p:spTree>
    <p:extLst>
      <p:ext uri="{BB962C8B-B14F-4D97-AF65-F5344CB8AC3E}">
        <p14:creationId xmlns:p14="http://schemas.microsoft.com/office/powerpoint/2010/main" val="19308036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CA43A14-763E-485D-1BD6-E5C7B6FB9C59}"/>
              </a:ext>
            </a:extLst>
          </p:cNvPr>
          <p:cNvSpPr>
            <a:spLocks noGrp="1"/>
          </p:cNvSpPr>
          <p:nvPr>
            <p:ph idx="1"/>
          </p:nvPr>
        </p:nvSpPr>
        <p:spPr>
          <a:xfrm>
            <a:off x="462337" y="215757"/>
            <a:ext cx="10891463" cy="5961206"/>
          </a:xfrm>
        </p:spPr>
        <p:txBody>
          <a:bodyPr>
            <a:normAutofit/>
          </a:bodyPr>
          <a:lstStyle/>
          <a:p>
            <a:pPr marL="0" indent="0">
              <a:buNone/>
            </a:pPr>
            <a:r>
              <a:rPr lang="en-US" b="1" dirty="0"/>
              <a:t>Starts With</a:t>
            </a:r>
          </a:p>
          <a:p>
            <a:r>
              <a:rPr lang="en-US" dirty="0"/>
              <a:t>To return records that starts with a specific letter or phrase, add the % at the end of the letter or phrase.</a:t>
            </a:r>
          </a:p>
          <a:p>
            <a:r>
              <a:rPr lang="en-US" dirty="0"/>
              <a:t>Example1</a:t>
            </a:r>
          </a:p>
          <a:p>
            <a:r>
              <a:rPr lang="en-US" dirty="0"/>
              <a:t>Return all customers that starts with 'La':</a:t>
            </a:r>
          </a:p>
          <a:p>
            <a:r>
              <a:rPr lang="en-US" i="1" dirty="0"/>
              <a:t>SELECT * FROM Customers WHERE </a:t>
            </a:r>
            <a:r>
              <a:rPr lang="en-US" i="1" dirty="0" err="1"/>
              <a:t>CustomerName</a:t>
            </a:r>
            <a:r>
              <a:rPr lang="en-US" i="1" dirty="0"/>
              <a:t> LIKE 'La%’;</a:t>
            </a:r>
          </a:p>
          <a:p>
            <a:endParaRPr lang="en-US" dirty="0"/>
          </a:p>
          <a:p>
            <a:r>
              <a:rPr lang="en-US" dirty="0"/>
              <a:t>Example2</a:t>
            </a:r>
          </a:p>
          <a:p>
            <a:r>
              <a:rPr lang="en-US" dirty="0"/>
              <a:t>Return all customers that starts with 'a' or starts with 'b':</a:t>
            </a:r>
          </a:p>
          <a:p>
            <a:r>
              <a:rPr lang="en-US" i="1" dirty="0"/>
              <a:t>SELECT * FROM Customers WHERE </a:t>
            </a:r>
            <a:r>
              <a:rPr lang="en-US" i="1" dirty="0" err="1"/>
              <a:t>CustomerName</a:t>
            </a:r>
            <a:r>
              <a:rPr lang="en-US" i="1" dirty="0"/>
              <a:t> LIKE 'a%' OR </a:t>
            </a:r>
            <a:r>
              <a:rPr lang="en-US" i="1" dirty="0" err="1"/>
              <a:t>CustomerName</a:t>
            </a:r>
            <a:r>
              <a:rPr lang="en-US" i="1" dirty="0"/>
              <a:t> LIKE 'b%';</a:t>
            </a:r>
            <a:endParaRPr lang="en-IN" i="1" dirty="0"/>
          </a:p>
        </p:txBody>
      </p:sp>
    </p:spTree>
    <p:extLst>
      <p:ext uri="{BB962C8B-B14F-4D97-AF65-F5344CB8AC3E}">
        <p14:creationId xmlns:p14="http://schemas.microsoft.com/office/powerpoint/2010/main" val="42556542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3E75B0C-585D-84B3-A67F-09BBC7E48620}"/>
              </a:ext>
            </a:extLst>
          </p:cNvPr>
          <p:cNvSpPr>
            <a:spLocks noGrp="1"/>
          </p:cNvSpPr>
          <p:nvPr>
            <p:ph idx="1"/>
          </p:nvPr>
        </p:nvSpPr>
        <p:spPr>
          <a:xfrm>
            <a:off x="472611" y="462337"/>
            <a:ext cx="10881189" cy="5714626"/>
          </a:xfrm>
        </p:spPr>
        <p:txBody>
          <a:bodyPr>
            <a:normAutofit fontScale="92500" lnSpcReduction="10000"/>
          </a:bodyPr>
          <a:lstStyle/>
          <a:p>
            <a:pPr marL="0" indent="0">
              <a:buNone/>
            </a:pPr>
            <a:r>
              <a:rPr lang="en-US" b="1" dirty="0"/>
              <a:t>Ends With</a:t>
            </a:r>
          </a:p>
          <a:p>
            <a:r>
              <a:rPr lang="en-US" dirty="0"/>
              <a:t>To return records that ends with a specific letter or phrase, add the % at the beginning of the letter or phrase.</a:t>
            </a:r>
          </a:p>
          <a:p>
            <a:r>
              <a:rPr lang="en-US" dirty="0"/>
              <a:t>Example</a:t>
            </a:r>
          </a:p>
          <a:p>
            <a:r>
              <a:rPr lang="en-US" dirty="0"/>
              <a:t>Return all customers that ends with 'a':</a:t>
            </a:r>
          </a:p>
          <a:p>
            <a:r>
              <a:rPr lang="en-US" i="1" dirty="0"/>
              <a:t>SELECT * FROM Customers WHERE </a:t>
            </a:r>
            <a:r>
              <a:rPr lang="en-US" i="1" dirty="0" err="1"/>
              <a:t>CustomerName</a:t>
            </a:r>
            <a:r>
              <a:rPr lang="en-US" i="1" dirty="0"/>
              <a:t> LIKE '%a’;</a:t>
            </a:r>
          </a:p>
          <a:p>
            <a:endParaRPr lang="en-US" dirty="0"/>
          </a:p>
          <a:p>
            <a:pPr marL="0" indent="0">
              <a:buNone/>
            </a:pPr>
            <a:r>
              <a:rPr lang="en-US" b="1" dirty="0"/>
              <a:t>Contains</a:t>
            </a:r>
          </a:p>
          <a:p>
            <a:r>
              <a:rPr lang="en-US" dirty="0"/>
              <a:t>To return records that contains a specific letter or phrase, add the % both before and after the letter or phrase.</a:t>
            </a:r>
          </a:p>
          <a:p>
            <a:r>
              <a:rPr lang="en-US" dirty="0"/>
              <a:t>Example</a:t>
            </a:r>
          </a:p>
          <a:p>
            <a:r>
              <a:rPr lang="en-US" dirty="0"/>
              <a:t>Return all customers that contains the phrase 'or'</a:t>
            </a:r>
          </a:p>
          <a:p>
            <a:r>
              <a:rPr lang="en-US" i="1" dirty="0"/>
              <a:t>SELECT * FROM Customers WHERE </a:t>
            </a:r>
            <a:r>
              <a:rPr lang="en-US" i="1" dirty="0" err="1"/>
              <a:t>CustomerName</a:t>
            </a:r>
            <a:r>
              <a:rPr lang="en-US" i="1" dirty="0"/>
              <a:t> LIKE '%or%';</a:t>
            </a:r>
            <a:endParaRPr lang="en-IN" i="1" dirty="0"/>
          </a:p>
        </p:txBody>
      </p:sp>
    </p:spTree>
    <p:extLst>
      <p:ext uri="{BB962C8B-B14F-4D97-AF65-F5344CB8AC3E}">
        <p14:creationId xmlns:p14="http://schemas.microsoft.com/office/powerpoint/2010/main" val="15941448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B539322-86E2-4A1C-F9C6-25B1C31089A2}"/>
              </a:ext>
            </a:extLst>
          </p:cNvPr>
          <p:cNvSpPr>
            <a:spLocks noGrp="1"/>
          </p:cNvSpPr>
          <p:nvPr>
            <p:ph idx="1"/>
          </p:nvPr>
        </p:nvSpPr>
        <p:spPr>
          <a:xfrm>
            <a:off x="745733" y="787935"/>
            <a:ext cx="10515600" cy="4351338"/>
          </a:xfrm>
        </p:spPr>
        <p:txBody>
          <a:bodyPr/>
          <a:lstStyle/>
          <a:p>
            <a:pPr marL="0" indent="0">
              <a:buNone/>
            </a:pPr>
            <a:r>
              <a:rPr lang="en-US" dirty="0"/>
              <a:t>Example</a:t>
            </a:r>
          </a:p>
          <a:p>
            <a:r>
              <a:rPr lang="en-US" dirty="0"/>
              <a:t>Return all customers that starts with "b" and ends with "s":</a:t>
            </a:r>
          </a:p>
          <a:p>
            <a:endParaRPr lang="en-US" dirty="0"/>
          </a:p>
          <a:p>
            <a:r>
              <a:rPr lang="en-US" i="1" dirty="0"/>
              <a:t>SELECT * FROM Customers WHERE </a:t>
            </a:r>
            <a:r>
              <a:rPr lang="en-US" i="1" dirty="0" err="1"/>
              <a:t>CustomerName</a:t>
            </a:r>
            <a:r>
              <a:rPr lang="en-US" i="1" dirty="0"/>
              <a:t> LIKE '</a:t>
            </a:r>
            <a:r>
              <a:rPr lang="en-US" i="1" dirty="0" err="1"/>
              <a:t>b%s</a:t>
            </a:r>
            <a:r>
              <a:rPr lang="en-US" i="1" dirty="0"/>
              <a:t>';</a:t>
            </a:r>
            <a:endParaRPr lang="en-IN" i="1" dirty="0"/>
          </a:p>
        </p:txBody>
      </p:sp>
    </p:spTree>
    <p:extLst>
      <p:ext uri="{BB962C8B-B14F-4D97-AF65-F5344CB8AC3E}">
        <p14:creationId xmlns:p14="http://schemas.microsoft.com/office/powerpoint/2010/main" val="23585390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B077072-FADF-8BCD-F28D-F87F724B8357}"/>
              </a:ext>
            </a:extLst>
          </p:cNvPr>
          <p:cNvSpPr>
            <a:spLocks noGrp="1"/>
          </p:cNvSpPr>
          <p:nvPr>
            <p:ph idx="1"/>
          </p:nvPr>
        </p:nvSpPr>
        <p:spPr>
          <a:xfrm>
            <a:off x="554804" y="513708"/>
            <a:ext cx="10798996" cy="5663255"/>
          </a:xfrm>
        </p:spPr>
        <p:txBody>
          <a:bodyPr>
            <a:normAutofit/>
          </a:bodyPr>
          <a:lstStyle/>
          <a:p>
            <a:pPr marL="0" indent="0">
              <a:buNone/>
            </a:pPr>
            <a:r>
              <a:rPr lang="en-US" b="1" dirty="0"/>
              <a:t>Combine Wildcards</a:t>
            </a:r>
          </a:p>
          <a:p>
            <a:r>
              <a:rPr lang="en-US" dirty="0"/>
              <a:t>Any wildcard, like % and _ , can be used in combination with other wildcards.</a:t>
            </a:r>
          </a:p>
          <a:p>
            <a:r>
              <a:rPr lang="en-US" dirty="0"/>
              <a:t>Example</a:t>
            </a:r>
          </a:p>
          <a:p>
            <a:r>
              <a:rPr lang="en-US" dirty="0"/>
              <a:t>Return all customers that starts with "a" and are at least 3 characters in length:</a:t>
            </a:r>
          </a:p>
          <a:p>
            <a:endParaRPr lang="en-US" dirty="0"/>
          </a:p>
          <a:p>
            <a:r>
              <a:rPr lang="en-US" i="1" dirty="0"/>
              <a:t>SELECT * FROM Customers WHERE </a:t>
            </a:r>
            <a:r>
              <a:rPr lang="en-US" i="1" dirty="0" err="1"/>
              <a:t>CustomerName</a:t>
            </a:r>
            <a:r>
              <a:rPr lang="en-US" i="1" dirty="0"/>
              <a:t> LIKE 'a__%';</a:t>
            </a:r>
            <a:endParaRPr lang="en-IN" i="1" dirty="0"/>
          </a:p>
        </p:txBody>
      </p:sp>
    </p:spTree>
    <p:extLst>
      <p:ext uri="{BB962C8B-B14F-4D97-AF65-F5344CB8AC3E}">
        <p14:creationId xmlns:p14="http://schemas.microsoft.com/office/powerpoint/2010/main" val="37254125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1925C1-F027-D7D1-7902-7772B0494D64}"/>
              </a:ext>
            </a:extLst>
          </p:cNvPr>
          <p:cNvSpPr>
            <a:spLocks noGrp="1"/>
          </p:cNvSpPr>
          <p:nvPr>
            <p:ph type="title"/>
          </p:nvPr>
        </p:nvSpPr>
        <p:spPr>
          <a:xfrm>
            <a:off x="838200" y="195943"/>
            <a:ext cx="10515600" cy="968828"/>
          </a:xfrm>
        </p:spPr>
        <p:txBody>
          <a:bodyPr/>
          <a:lstStyle/>
          <a:p>
            <a:pPr algn="ctr"/>
            <a:r>
              <a:rPr lang="en-IN" b="1" dirty="0">
                <a:solidFill>
                  <a:srgbClr val="C00000"/>
                </a:solidFill>
              </a:rPr>
              <a:t>DISTINCT Statement</a:t>
            </a:r>
          </a:p>
        </p:txBody>
      </p:sp>
      <p:sp>
        <p:nvSpPr>
          <p:cNvPr id="3" name="Content Placeholder 2">
            <a:extLst>
              <a:ext uri="{FF2B5EF4-FFF2-40B4-BE49-F238E27FC236}">
                <a16:creationId xmlns:a16="http://schemas.microsoft.com/office/drawing/2014/main" id="{132D02D1-9377-679E-09A5-0FC7EF2AA479}"/>
              </a:ext>
            </a:extLst>
          </p:cNvPr>
          <p:cNvSpPr>
            <a:spLocks noGrp="1"/>
          </p:cNvSpPr>
          <p:nvPr>
            <p:ph idx="1"/>
          </p:nvPr>
        </p:nvSpPr>
        <p:spPr>
          <a:xfrm>
            <a:off x="838200" y="1164771"/>
            <a:ext cx="10515600" cy="5012192"/>
          </a:xfrm>
        </p:spPr>
        <p:txBody>
          <a:bodyPr/>
          <a:lstStyle/>
          <a:p>
            <a:pPr algn="just"/>
            <a:r>
              <a:rPr lang="en-US" dirty="0"/>
              <a:t>The SELECT DISTINCT statement is used to return only distinct (different) values.</a:t>
            </a:r>
          </a:p>
          <a:p>
            <a:pPr algn="just"/>
            <a:r>
              <a:rPr lang="en-US" b="1" dirty="0">
                <a:solidFill>
                  <a:srgbClr val="C00000"/>
                </a:solidFill>
              </a:rPr>
              <a:t>Syntax</a:t>
            </a:r>
          </a:p>
          <a:p>
            <a:pPr algn="just"/>
            <a:r>
              <a:rPr lang="en-US" dirty="0"/>
              <a:t>SELECT DISTINCT column1, column2, ...</a:t>
            </a:r>
          </a:p>
          <a:p>
            <a:pPr marL="0" indent="0" algn="just">
              <a:buNone/>
            </a:pPr>
            <a:r>
              <a:rPr lang="en-US" dirty="0"/>
              <a:t>   FROM </a:t>
            </a:r>
            <a:r>
              <a:rPr lang="en-US" dirty="0" err="1"/>
              <a:t>table_name</a:t>
            </a:r>
            <a:r>
              <a:rPr lang="en-US" dirty="0"/>
              <a:t>;</a:t>
            </a:r>
          </a:p>
          <a:p>
            <a:pPr algn="just"/>
            <a:r>
              <a:rPr lang="en-US" b="1" dirty="0">
                <a:solidFill>
                  <a:srgbClr val="C00000"/>
                </a:solidFill>
              </a:rPr>
              <a:t>Example</a:t>
            </a:r>
          </a:p>
          <a:p>
            <a:pPr algn="just"/>
            <a:r>
              <a:rPr lang="en-US" dirty="0"/>
              <a:t>Select all the different countries from the "Customers" table:</a:t>
            </a:r>
          </a:p>
          <a:p>
            <a:pPr algn="just"/>
            <a:r>
              <a:rPr lang="en-US" i="1" dirty="0"/>
              <a:t>SELECT DISTINCT Country FROM Customers;</a:t>
            </a:r>
            <a:endParaRPr lang="en-IN" i="1" dirty="0"/>
          </a:p>
        </p:txBody>
      </p:sp>
    </p:spTree>
    <p:extLst>
      <p:ext uri="{BB962C8B-B14F-4D97-AF65-F5344CB8AC3E}">
        <p14:creationId xmlns:p14="http://schemas.microsoft.com/office/powerpoint/2010/main" val="12019241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1CEECA-6FED-B1FD-63FF-9F3B07C49A6F}"/>
              </a:ext>
            </a:extLst>
          </p:cNvPr>
          <p:cNvSpPr>
            <a:spLocks noGrp="1"/>
          </p:cNvSpPr>
          <p:nvPr>
            <p:ph type="title"/>
          </p:nvPr>
        </p:nvSpPr>
        <p:spPr/>
        <p:txBody>
          <a:bodyPr/>
          <a:lstStyle/>
          <a:p>
            <a:pPr algn="ctr"/>
            <a:r>
              <a:rPr lang="en-IN" b="1" dirty="0">
                <a:solidFill>
                  <a:srgbClr val="C00000"/>
                </a:solidFill>
              </a:rPr>
              <a:t>ORDER BY</a:t>
            </a:r>
          </a:p>
        </p:txBody>
      </p:sp>
      <p:sp>
        <p:nvSpPr>
          <p:cNvPr id="3" name="Content Placeholder 2">
            <a:extLst>
              <a:ext uri="{FF2B5EF4-FFF2-40B4-BE49-F238E27FC236}">
                <a16:creationId xmlns:a16="http://schemas.microsoft.com/office/drawing/2014/main" id="{1AB772EC-4D07-7C09-8A16-CBB2B2112FAB}"/>
              </a:ext>
            </a:extLst>
          </p:cNvPr>
          <p:cNvSpPr>
            <a:spLocks noGrp="1"/>
          </p:cNvSpPr>
          <p:nvPr>
            <p:ph idx="1"/>
          </p:nvPr>
        </p:nvSpPr>
        <p:spPr/>
        <p:txBody>
          <a:bodyPr>
            <a:normAutofit/>
          </a:bodyPr>
          <a:lstStyle/>
          <a:p>
            <a:pPr algn="just"/>
            <a:r>
              <a:rPr lang="en-US" dirty="0"/>
              <a:t>The ORDER BY clause in SQL is a powerful feature used to sort query results in either ascending or descending order based on one or more columns.</a:t>
            </a:r>
          </a:p>
          <a:p>
            <a:pPr algn="just"/>
            <a:r>
              <a:rPr lang="en-US" dirty="0"/>
              <a:t>The ORDER BY command sorts the result set in ascending order by default. To sort the records in descending order, use the DESC keyword.</a:t>
            </a:r>
          </a:p>
          <a:p>
            <a:pPr algn="just"/>
            <a:r>
              <a:rPr lang="en-US" dirty="0"/>
              <a:t>The DESC command is used to sort the data returned in descending order.</a:t>
            </a:r>
            <a:endParaRPr lang="en-IN" dirty="0"/>
          </a:p>
        </p:txBody>
      </p:sp>
    </p:spTree>
    <p:extLst>
      <p:ext uri="{BB962C8B-B14F-4D97-AF65-F5344CB8AC3E}">
        <p14:creationId xmlns:p14="http://schemas.microsoft.com/office/powerpoint/2010/main" val="176069289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3983F86-EA1E-B0E8-F469-DC8CC3A21EDC}"/>
              </a:ext>
            </a:extLst>
          </p:cNvPr>
          <p:cNvSpPr>
            <a:spLocks noGrp="1"/>
          </p:cNvSpPr>
          <p:nvPr>
            <p:ph idx="1"/>
          </p:nvPr>
        </p:nvSpPr>
        <p:spPr>
          <a:xfrm>
            <a:off x="636998" y="606175"/>
            <a:ext cx="7150813" cy="5570788"/>
          </a:xfrm>
        </p:spPr>
        <p:txBody>
          <a:bodyPr/>
          <a:lstStyle/>
          <a:p>
            <a:pPr marL="0" indent="0">
              <a:buNone/>
            </a:pPr>
            <a:r>
              <a:rPr lang="en-US" dirty="0">
                <a:solidFill>
                  <a:srgbClr val="C00000"/>
                </a:solidFill>
              </a:rPr>
              <a:t>Syntax:</a:t>
            </a:r>
          </a:p>
          <a:p>
            <a:r>
              <a:rPr lang="en-US" sz="2400" i="1" dirty="0"/>
              <a:t>SELECT column1, column2, ...</a:t>
            </a:r>
          </a:p>
          <a:p>
            <a:pPr marL="0" indent="0">
              <a:buNone/>
            </a:pPr>
            <a:r>
              <a:rPr lang="en-US" sz="2400" i="1" dirty="0"/>
              <a:t>   FROM </a:t>
            </a:r>
            <a:r>
              <a:rPr lang="en-US" sz="2400" i="1" dirty="0" err="1"/>
              <a:t>table_name</a:t>
            </a:r>
            <a:endParaRPr lang="en-US" sz="2400" i="1" dirty="0"/>
          </a:p>
          <a:p>
            <a:pPr marL="0" indent="0">
              <a:buNone/>
            </a:pPr>
            <a:r>
              <a:rPr lang="en-US" sz="2400" i="1" dirty="0"/>
              <a:t>   ORDER BY column1, column2, ... ASC|DESC;</a:t>
            </a:r>
            <a:endParaRPr lang="en-IN" sz="2400" i="1" dirty="0"/>
          </a:p>
        </p:txBody>
      </p:sp>
      <p:sp>
        <p:nvSpPr>
          <p:cNvPr id="5" name="TextBox 4">
            <a:extLst>
              <a:ext uri="{FF2B5EF4-FFF2-40B4-BE49-F238E27FC236}">
                <a16:creationId xmlns:a16="http://schemas.microsoft.com/office/drawing/2014/main" id="{5876005F-E5A6-3F68-7B25-257B09DD5BC3}"/>
              </a:ext>
            </a:extLst>
          </p:cNvPr>
          <p:cNvSpPr txBox="1"/>
          <p:nvPr/>
        </p:nvSpPr>
        <p:spPr>
          <a:xfrm>
            <a:off x="838200" y="3006864"/>
            <a:ext cx="4247508" cy="3477875"/>
          </a:xfrm>
          <a:prstGeom prst="rect">
            <a:avLst/>
          </a:prstGeom>
          <a:noFill/>
        </p:spPr>
        <p:txBody>
          <a:bodyPr wrap="square">
            <a:spAutoFit/>
          </a:bodyPr>
          <a:lstStyle/>
          <a:p>
            <a:r>
              <a:rPr lang="en-US" sz="2000" dirty="0">
                <a:solidFill>
                  <a:srgbClr val="C00000"/>
                </a:solidFill>
              </a:rPr>
              <a:t>Example:</a:t>
            </a:r>
          </a:p>
          <a:p>
            <a:r>
              <a:rPr lang="en-US" sz="2000" dirty="0"/>
              <a:t>1.Sort the products by price:</a:t>
            </a:r>
          </a:p>
          <a:p>
            <a:endParaRPr lang="en-US" sz="2000" dirty="0"/>
          </a:p>
          <a:p>
            <a:r>
              <a:rPr lang="en-US" sz="2000" dirty="0"/>
              <a:t>SELECT * FROM Products</a:t>
            </a:r>
          </a:p>
          <a:p>
            <a:r>
              <a:rPr lang="en-US" sz="2000" dirty="0"/>
              <a:t>ORDER BY Price;</a:t>
            </a:r>
          </a:p>
          <a:p>
            <a:endParaRPr lang="en-US" sz="2000" dirty="0"/>
          </a:p>
          <a:p>
            <a:r>
              <a:rPr lang="en-US" sz="2000" dirty="0"/>
              <a:t>2.Sort the products from highest to lowest price:</a:t>
            </a:r>
          </a:p>
          <a:p>
            <a:endParaRPr lang="en-US" sz="2000" dirty="0"/>
          </a:p>
          <a:p>
            <a:r>
              <a:rPr lang="en-US" sz="2000" dirty="0"/>
              <a:t>SELECT * FROM Products</a:t>
            </a:r>
          </a:p>
          <a:p>
            <a:r>
              <a:rPr lang="en-US" sz="2000" dirty="0"/>
              <a:t>ORDER BY Price DESC;</a:t>
            </a:r>
            <a:endParaRPr lang="en-IN" sz="2000" dirty="0"/>
          </a:p>
        </p:txBody>
      </p:sp>
      <p:pic>
        <p:nvPicPr>
          <p:cNvPr id="7" name="Picture 6">
            <a:extLst>
              <a:ext uri="{FF2B5EF4-FFF2-40B4-BE49-F238E27FC236}">
                <a16:creationId xmlns:a16="http://schemas.microsoft.com/office/drawing/2014/main" id="{C426343B-06D8-80C6-58F6-9895A8190ACE}"/>
              </a:ext>
            </a:extLst>
          </p:cNvPr>
          <p:cNvPicPr>
            <a:picLocks noChangeAspect="1"/>
          </p:cNvPicPr>
          <p:nvPr/>
        </p:nvPicPr>
        <p:blipFill>
          <a:blip r:embed="rId2"/>
          <a:stretch>
            <a:fillRect/>
          </a:stretch>
        </p:blipFill>
        <p:spPr>
          <a:xfrm>
            <a:off x="4946973" y="3256848"/>
            <a:ext cx="7245027" cy="2977906"/>
          </a:xfrm>
          <a:prstGeom prst="rect">
            <a:avLst/>
          </a:prstGeom>
        </p:spPr>
      </p:pic>
    </p:spTree>
    <p:extLst>
      <p:ext uri="{BB962C8B-B14F-4D97-AF65-F5344CB8AC3E}">
        <p14:creationId xmlns:p14="http://schemas.microsoft.com/office/powerpoint/2010/main" val="167340274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ED34082-03E5-4C61-CCEC-890C3200F1DD}"/>
              </a:ext>
            </a:extLst>
          </p:cNvPr>
          <p:cNvSpPr>
            <a:spLocks noGrp="1"/>
          </p:cNvSpPr>
          <p:nvPr>
            <p:ph idx="1"/>
          </p:nvPr>
        </p:nvSpPr>
        <p:spPr>
          <a:xfrm>
            <a:off x="523982" y="462337"/>
            <a:ext cx="10829818" cy="5714626"/>
          </a:xfrm>
        </p:spPr>
        <p:txBody>
          <a:bodyPr/>
          <a:lstStyle/>
          <a:p>
            <a:pPr marL="0" indent="0">
              <a:buNone/>
            </a:pPr>
            <a:r>
              <a:rPr lang="en-US" b="1" dirty="0">
                <a:solidFill>
                  <a:srgbClr val="C00000"/>
                </a:solidFill>
              </a:rPr>
              <a:t>Order Alphabetically</a:t>
            </a:r>
          </a:p>
          <a:p>
            <a:r>
              <a:rPr lang="en-US" dirty="0"/>
              <a:t>For string values the ORDER BY keyword will order alphabetically:</a:t>
            </a:r>
          </a:p>
          <a:p>
            <a:pPr marL="0" indent="0">
              <a:buNone/>
            </a:pPr>
            <a:r>
              <a:rPr lang="en-US" dirty="0">
                <a:solidFill>
                  <a:srgbClr val="C00000"/>
                </a:solidFill>
              </a:rPr>
              <a:t>Example</a:t>
            </a:r>
          </a:p>
          <a:p>
            <a:pPr marL="0" indent="0">
              <a:buNone/>
            </a:pPr>
            <a:r>
              <a:rPr lang="en-US" dirty="0"/>
              <a:t>1. Sort the products alphabetically by ProductName:</a:t>
            </a:r>
          </a:p>
          <a:p>
            <a:pPr marL="0" indent="0">
              <a:buNone/>
            </a:pPr>
            <a:r>
              <a:rPr lang="en-US" i="1" dirty="0"/>
              <a:t>SELECT * FROM Products</a:t>
            </a:r>
          </a:p>
          <a:p>
            <a:pPr marL="0" indent="0">
              <a:buNone/>
            </a:pPr>
            <a:r>
              <a:rPr lang="en-US" i="1" dirty="0"/>
              <a:t> ORDER BY ProductName;</a:t>
            </a:r>
          </a:p>
          <a:p>
            <a:pPr marL="0" indent="0">
              <a:buNone/>
            </a:pPr>
            <a:endParaRPr lang="en-US" i="1" dirty="0"/>
          </a:p>
          <a:p>
            <a:pPr marL="0" indent="0">
              <a:buNone/>
            </a:pPr>
            <a:r>
              <a:rPr lang="en-US" i="1" dirty="0"/>
              <a:t>2. Sort the products by ProductName in reverse order:</a:t>
            </a:r>
          </a:p>
          <a:p>
            <a:pPr marL="0" indent="0">
              <a:buNone/>
            </a:pPr>
            <a:r>
              <a:rPr lang="en-US" i="1" dirty="0"/>
              <a:t>SELECT * FROM Products</a:t>
            </a:r>
          </a:p>
          <a:p>
            <a:pPr marL="0" indent="0">
              <a:buNone/>
            </a:pPr>
            <a:r>
              <a:rPr lang="en-US" i="1" dirty="0"/>
              <a:t>ORDER BY ProductName DESC;</a:t>
            </a:r>
            <a:endParaRPr lang="en-IN" i="1" dirty="0"/>
          </a:p>
        </p:txBody>
      </p:sp>
    </p:spTree>
    <p:extLst>
      <p:ext uri="{BB962C8B-B14F-4D97-AF65-F5344CB8AC3E}">
        <p14:creationId xmlns:p14="http://schemas.microsoft.com/office/powerpoint/2010/main" val="128983984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AE7942E4-DCED-46AD-3184-EB50DBF0ED49}"/>
              </a:ext>
            </a:extLst>
          </p:cNvPr>
          <p:cNvPicPr>
            <a:picLocks noGrp="1" noChangeAspect="1"/>
          </p:cNvPicPr>
          <p:nvPr>
            <p:ph idx="1"/>
          </p:nvPr>
        </p:nvPicPr>
        <p:blipFill>
          <a:blip r:embed="rId2"/>
          <a:stretch>
            <a:fillRect/>
          </a:stretch>
        </p:blipFill>
        <p:spPr>
          <a:xfrm>
            <a:off x="150166" y="192033"/>
            <a:ext cx="5476650" cy="4068369"/>
          </a:xfrm>
          <a:prstGeom prst="rect">
            <a:avLst/>
          </a:prstGeom>
        </p:spPr>
      </p:pic>
      <p:sp>
        <p:nvSpPr>
          <p:cNvPr id="6" name="TextBox 5">
            <a:extLst>
              <a:ext uri="{FF2B5EF4-FFF2-40B4-BE49-F238E27FC236}">
                <a16:creationId xmlns:a16="http://schemas.microsoft.com/office/drawing/2014/main" id="{21CBD54D-7CA9-B85E-7D7C-214805991383}"/>
              </a:ext>
            </a:extLst>
          </p:cNvPr>
          <p:cNvSpPr txBox="1"/>
          <p:nvPr/>
        </p:nvSpPr>
        <p:spPr>
          <a:xfrm>
            <a:off x="3244065" y="4593220"/>
            <a:ext cx="6097712" cy="923330"/>
          </a:xfrm>
          <a:prstGeom prst="rect">
            <a:avLst/>
          </a:prstGeom>
          <a:noFill/>
        </p:spPr>
        <p:txBody>
          <a:bodyPr wrap="square">
            <a:spAutoFit/>
          </a:bodyPr>
          <a:lstStyle/>
          <a:p>
            <a:r>
              <a:rPr lang="en-US" dirty="0"/>
              <a:t>Query:</a:t>
            </a:r>
          </a:p>
          <a:p>
            <a:endParaRPr lang="en-US" dirty="0"/>
          </a:p>
          <a:p>
            <a:r>
              <a:rPr lang="en-US" dirty="0"/>
              <a:t>SELECT * FROM students ORDER BY ROLL_NO DESC;</a:t>
            </a:r>
            <a:endParaRPr lang="en-IN" dirty="0"/>
          </a:p>
        </p:txBody>
      </p:sp>
      <p:pic>
        <p:nvPicPr>
          <p:cNvPr id="1028" name="Picture 4" descr="sort according to a single column using order by clause example output">
            <a:extLst>
              <a:ext uri="{FF2B5EF4-FFF2-40B4-BE49-F238E27FC236}">
                <a16:creationId xmlns:a16="http://schemas.microsoft.com/office/drawing/2014/main" id="{AB0A4526-057A-B330-C767-7446ABA6027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65185" y="192034"/>
            <a:ext cx="5386877" cy="40683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090435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2719C6D-680F-FF7C-1649-241AB661DBD7}"/>
              </a:ext>
            </a:extLst>
          </p:cNvPr>
          <p:cNvSpPr>
            <a:spLocks noGrp="1"/>
          </p:cNvSpPr>
          <p:nvPr>
            <p:ph idx="1"/>
          </p:nvPr>
        </p:nvSpPr>
        <p:spPr>
          <a:xfrm>
            <a:off x="616449" y="482885"/>
            <a:ext cx="10737351" cy="5663255"/>
          </a:xfrm>
        </p:spPr>
        <p:txBody>
          <a:bodyPr/>
          <a:lstStyle/>
          <a:p>
            <a:r>
              <a:rPr lang="en-US" dirty="0"/>
              <a:t>SELECT * FROM students ORDER BY age DESC , name ASC;</a:t>
            </a:r>
          </a:p>
          <a:p>
            <a:r>
              <a:rPr lang="en-US" dirty="0"/>
              <a:t>Output:</a:t>
            </a:r>
            <a:endParaRPr lang="en-IN" dirty="0"/>
          </a:p>
        </p:txBody>
      </p:sp>
      <p:pic>
        <p:nvPicPr>
          <p:cNvPr id="4" name="Picture 3">
            <a:extLst>
              <a:ext uri="{FF2B5EF4-FFF2-40B4-BE49-F238E27FC236}">
                <a16:creationId xmlns:a16="http://schemas.microsoft.com/office/drawing/2014/main" id="{8C40FF05-F532-A8AC-47BA-F69242840523}"/>
              </a:ext>
            </a:extLst>
          </p:cNvPr>
          <p:cNvPicPr>
            <a:picLocks noChangeAspect="1"/>
          </p:cNvPicPr>
          <p:nvPr/>
        </p:nvPicPr>
        <p:blipFill>
          <a:blip r:embed="rId2"/>
          <a:stretch>
            <a:fillRect/>
          </a:stretch>
        </p:blipFill>
        <p:spPr>
          <a:xfrm>
            <a:off x="479961" y="1723115"/>
            <a:ext cx="6009760" cy="4423025"/>
          </a:xfrm>
          <a:prstGeom prst="rect">
            <a:avLst/>
          </a:prstGeom>
        </p:spPr>
      </p:pic>
      <p:sp>
        <p:nvSpPr>
          <p:cNvPr id="6" name="TextBox 5">
            <a:extLst>
              <a:ext uri="{FF2B5EF4-FFF2-40B4-BE49-F238E27FC236}">
                <a16:creationId xmlns:a16="http://schemas.microsoft.com/office/drawing/2014/main" id="{FABDBDBA-7337-094B-9CB0-BFAB641F502E}"/>
              </a:ext>
            </a:extLst>
          </p:cNvPr>
          <p:cNvSpPr txBox="1"/>
          <p:nvPr/>
        </p:nvSpPr>
        <p:spPr>
          <a:xfrm>
            <a:off x="6955971" y="2231571"/>
            <a:ext cx="4893396" cy="3046988"/>
          </a:xfrm>
          <a:prstGeom prst="rect">
            <a:avLst/>
          </a:prstGeom>
          <a:noFill/>
        </p:spPr>
        <p:txBody>
          <a:bodyPr wrap="square">
            <a:spAutoFit/>
          </a:bodyPr>
          <a:lstStyle/>
          <a:p>
            <a:pPr algn="just"/>
            <a:r>
              <a:rPr lang="en-US" sz="2400" dirty="0"/>
              <a:t>In the above output, we can see that first the result is sorted in descending order according to Age. There are multiple rows of having the same Age. Now, sorting further this result-set according to name will sort the rows with the same Age according to name in ascending order.</a:t>
            </a:r>
            <a:endParaRPr lang="en-IN" sz="2400" dirty="0"/>
          </a:p>
        </p:txBody>
      </p:sp>
    </p:spTree>
    <p:extLst>
      <p:ext uri="{BB962C8B-B14F-4D97-AF65-F5344CB8AC3E}">
        <p14:creationId xmlns:p14="http://schemas.microsoft.com/office/powerpoint/2010/main" val="67148100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91BD0D-B655-D99D-E988-66EE18867E07}"/>
              </a:ext>
            </a:extLst>
          </p:cNvPr>
          <p:cNvSpPr>
            <a:spLocks noGrp="1"/>
          </p:cNvSpPr>
          <p:nvPr>
            <p:ph type="title"/>
          </p:nvPr>
        </p:nvSpPr>
        <p:spPr>
          <a:xfrm>
            <a:off x="838200" y="365125"/>
            <a:ext cx="10515600" cy="836951"/>
          </a:xfrm>
        </p:spPr>
        <p:txBody>
          <a:bodyPr/>
          <a:lstStyle/>
          <a:p>
            <a:pPr algn="ctr"/>
            <a:r>
              <a:rPr lang="en-IN" b="1" dirty="0">
                <a:solidFill>
                  <a:srgbClr val="C00000"/>
                </a:solidFill>
              </a:rPr>
              <a:t>DDL (Data Definition Language)</a:t>
            </a:r>
          </a:p>
        </p:txBody>
      </p:sp>
      <p:sp>
        <p:nvSpPr>
          <p:cNvPr id="3" name="Content Placeholder 2">
            <a:extLst>
              <a:ext uri="{FF2B5EF4-FFF2-40B4-BE49-F238E27FC236}">
                <a16:creationId xmlns:a16="http://schemas.microsoft.com/office/drawing/2014/main" id="{A8719942-7CDC-1881-4745-7DB982ECB2D2}"/>
              </a:ext>
            </a:extLst>
          </p:cNvPr>
          <p:cNvSpPr>
            <a:spLocks noGrp="1"/>
          </p:cNvSpPr>
          <p:nvPr>
            <p:ph idx="1"/>
          </p:nvPr>
        </p:nvSpPr>
        <p:spPr>
          <a:xfrm>
            <a:off x="750013" y="1345915"/>
            <a:ext cx="10603787" cy="4831048"/>
          </a:xfrm>
        </p:spPr>
        <p:txBody>
          <a:bodyPr/>
          <a:lstStyle/>
          <a:p>
            <a:pPr marL="0" indent="0" algn="just">
              <a:buNone/>
            </a:pPr>
            <a:r>
              <a:rPr lang="en-US" dirty="0"/>
              <a:t>The DDL commands in SQL are:</a:t>
            </a:r>
          </a:p>
          <a:p>
            <a:pPr algn="just"/>
            <a:endParaRPr lang="en-US" dirty="0"/>
          </a:p>
          <a:p>
            <a:pPr algn="just"/>
            <a:r>
              <a:rPr lang="en-US" dirty="0"/>
              <a:t>CREATE: To add a new object to the database.</a:t>
            </a:r>
          </a:p>
          <a:p>
            <a:pPr algn="just"/>
            <a:r>
              <a:rPr lang="en-US" dirty="0"/>
              <a:t>ALTER: To change the structure of the database.</a:t>
            </a:r>
          </a:p>
          <a:p>
            <a:pPr algn="just"/>
            <a:r>
              <a:rPr lang="en-US" dirty="0"/>
              <a:t>DROP: To remove an existing object from the database. Check out our guide on how to delete a column in SQL.</a:t>
            </a:r>
          </a:p>
          <a:p>
            <a:pPr algn="just"/>
            <a:r>
              <a:rPr lang="en-US" dirty="0"/>
              <a:t>TRUNCATE: To remove all records from a table, including the space allocated to store this data.</a:t>
            </a:r>
            <a:endParaRPr lang="en-IN" dirty="0"/>
          </a:p>
        </p:txBody>
      </p:sp>
    </p:spTree>
    <p:extLst>
      <p:ext uri="{BB962C8B-B14F-4D97-AF65-F5344CB8AC3E}">
        <p14:creationId xmlns:p14="http://schemas.microsoft.com/office/powerpoint/2010/main" val="117129133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B6A054-9FC9-EC5C-4752-8763D72D9D27}"/>
              </a:ext>
            </a:extLst>
          </p:cNvPr>
          <p:cNvSpPr>
            <a:spLocks noGrp="1"/>
          </p:cNvSpPr>
          <p:nvPr>
            <p:ph type="title"/>
          </p:nvPr>
        </p:nvSpPr>
        <p:spPr>
          <a:xfrm>
            <a:off x="838200" y="113017"/>
            <a:ext cx="10515600" cy="914399"/>
          </a:xfrm>
        </p:spPr>
        <p:txBody>
          <a:bodyPr/>
          <a:lstStyle/>
          <a:p>
            <a:pPr algn="ctr"/>
            <a:r>
              <a:rPr lang="en-IN" b="1" dirty="0">
                <a:solidFill>
                  <a:srgbClr val="C00000"/>
                </a:solidFill>
              </a:rPr>
              <a:t>ALTER command in SQL</a:t>
            </a:r>
          </a:p>
        </p:txBody>
      </p:sp>
      <p:sp>
        <p:nvSpPr>
          <p:cNvPr id="3" name="Content Placeholder 2">
            <a:extLst>
              <a:ext uri="{FF2B5EF4-FFF2-40B4-BE49-F238E27FC236}">
                <a16:creationId xmlns:a16="http://schemas.microsoft.com/office/drawing/2014/main" id="{FBE07D86-3D70-45F6-4A8E-0ACA2ACFDF10}"/>
              </a:ext>
            </a:extLst>
          </p:cNvPr>
          <p:cNvSpPr>
            <a:spLocks noGrp="1"/>
          </p:cNvSpPr>
          <p:nvPr>
            <p:ph idx="1"/>
          </p:nvPr>
        </p:nvSpPr>
        <p:spPr>
          <a:xfrm>
            <a:off x="750013" y="1202076"/>
            <a:ext cx="10603787" cy="4985161"/>
          </a:xfrm>
        </p:spPr>
        <p:txBody>
          <a:bodyPr>
            <a:normAutofit/>
          </a:bodyPr>
          <a:lstStyle/>
          <a:p>
            <a:pPr algn="just"/>
            <a:r>
              <a:rPr lang="en-US" dirty="0"/>
              <a:t>The ALTER TABLE statement in SQL is used to modify an existing table structure in a database without losing any data. </a:t>
            </a:r>
          </a:p>
          <a:p>
            <a:pPr algn="just"/>
            <a:r>
              <a:rPr lang="en-US" dirty="0"/>
              <a:t>It allows you to add, remove, or modify columns, change data types, or apply constraints to improve data integrity and ensure that the table meets evolving business requirements. </a:t>
            </a:r>
          </a:p>
          <a:p>
            <a:pPr algn="just"/>
            <a:r>
              <a:rPr lang="en-US" dirty="0"/>
              <a:t>It allows for structural changes like adding new columns, modifying existing ones, deleting columns, and renaming columns within a table.</a:t>
            </a:r>
          </a:p>
          <a:p>
            <a:pPr algn="just"/>
            <a:r>
              <a:rPr lang="en-US" dirty="0">
                <a:solidFill>
                  <a:srgbClr val="C00000"/>
                </a:solidFill>
              </a:rPr>
              <a:t>Syntax:</a:t>
            </a:r>
          </a:p>
          <a:p>
            <a:pPr algn="just"/>
            <a:r>
              <a:rPr lang="en-US" i="1" dirty="0"/>
              <a:t>ALTER TABLE </a:t>
            </a:r>
            <a:r>
              <a:rPr lang="en-US" i="1" dirty="0" err="1"/>
              <a:t>table_name</a:t>
            </a:r>
            <a:endParaRPr lang="en-US" i="1" dirty="0"/>
          </a:p>
          <a:p>
            <a:pPr marL="0" indent="0" algn="just">
              <a:buNone/>
            </a:pPr>
            <a:r>
              <a:rPr lang="en-US" i="1" dirty="0"/>
              <a:t>   [ADD | DROP | MODIFY] </a:t>
            </a:r>
            <a:r>
              <a:rPr lang="en-US" i="1" dirty="0" err="1"/>
              <a:t>column_name</a:t>
            </a:r>
            <a:r>
              <a:rPr lang="en-US" i="1" dirty="0"/>
              <a:t> datatype;</a:t>
            </a:r>
          </a:p>
          <a:p>
            <a:pPr algn="just"/>
            <a:endParaRPr lang="en-US" dirty="0"/>
          </a:p>
          <a:p>
            <a:pPr algn="just"/>
            <a:endParaRPr lang="en-IN" dirty="0"/>
          </a:p>
        </p:txBody>
      </p:sp>
    </p:spTree>
    <p:extLst>
      <p:ext uri="{BB962C8B-B14F-4D97-AF65-F5344CB8AC3E}">
        <p14:creationId xmlns:p14="http://schemas.microsoft.com/office/powerpoint/2010/main" val="286811408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F14E7D2-0C54-BEC8-492A-83FBE05F4A2A}"/>
              </a:ext>
            </a:extLst>
          </p:cNvPr>
          <p:cNvSpPr>
            <a:spLocks noGrp="1"/>
          </p:cNvSpPr>
          <p:nvPr>
            <p:ph idx="1"/>
          </p:nvPr>
        </p:nvSpPr>
        <p:spPr>
          <a:xfrm>
            <a:off x="770562" y="554804"/>
            <a:ext cx="10583238" cy="6072027"/>
          </a:xfrm>
        </p:spPr>
        <p:txBody>
          <a:bodyPr>
            <a:normAutofit fontScale="92500" lnSpcReduction="10000"/>
          </a:bodyPr>
          <a:lstStyle/>
          <a:p>
            <a:pPr marL="0" indent="0">
              <a:buNone/>
            </a:pPr>
            <a:r>
              <a:rPr lang="en-US" dirty="0">
                <a:solidFill>
                  <a:srgbClr val="C00000"/>
                </a:solidFill>
              </a:rPr>
              <a:t>1. ADD – To add a new column to the table</a:t>
            </a:r>
          </a:p>
          <a:p>
            <a:r>
              <a:rPr lang="en-US" dirty="0"/>
              <a:t>The ADD clause is used to add a new column to an existing table. You must specify the name of the new column and its data type.</a:t>
            </a:r>
          </a:p>
          <a:p>
            <a:r>
              <a:rPr lang="en-US" dirty="0">
                <a:solidFill>
                  <a:srgbClr val="C00000"/>
                </a:solidFill>
              </a:rPr>
              <a:t>Query:</a:t>
            </a:r>
          </a:p>
          <a:p>
            <a:r>
              <a:rPr lang="en-US" i="1" dirty="0"/>
              <a:t>ALTER TABLE </a:t>
            </a:r>
            <a:r>
              <a:rPr lang="en-US" i="1" dirty="0" err="1"/>
              <a:t>table_name</a:t>
            </a:r>
            <a:endParaRPr lang="en-US" i="1" dirty="0"/>
          </a:p>
          <a:p>
            <a:pPr marL="0" indent="0">
              <a:buNone/>
            </a:pPr>
            <a:r>
              <a:rPr lang="en-US" i="1" dirty="0"/>
              <a:t>   ADD </a:t>
            </a:r>
            <a:r>
              <a:rPr lang="en-US" i="1" dirty="0" err="1"/>
              <a:t>column_name</a:t>
            </a:r>
            <a:r>
              <a:rPr lang="en-US" i="1" dirty="0"/>
              <a:t> datatype;</a:t>
            </a:r>
          </a:p>
          <a:p>
            <a:pPr marL="0" indent="0">
              <a:buNone/>
            </a:pPr>
            <a:endParaRPr lang="en-US" i="1" dirty="0"/>
          </a:p>
          <a:p>
            <a:pPr marL="0" indent="0">
              <a:buNone/>
            </a:pPr>
            <a:r>
              <a:rPr lang="en-US" dirty="0">
                <a:solidFill>
                  <a:srgbClr val="C00000"/>
                </a:solidFill>
              </a:rPr>
              <a:t>2. MODIFY/ALTER – To change the data type of an existing column</a:t>
            </a:r>
          </a:p>
          <a:p>
            <a:r>
              <a:rPr lang="en-US" dirty="0"/>
              <a:t>The MODIFY (or ALTER COLUMN in some databases like SQL Server) clause is used to modify the definition of an existing column, such as changing its data type or size.</a:t>
            </a:r>
          </a:p>
          <a:p>
            <a:r>
              <a:rPr lang="en-US" dirty="0">
                <a:solidFill>
                  <a:srgbClr val="C00000"/>
                </a:solidFill>
              </a:rPr>
              <a:t>Query:</a:t>
            </a:r>
            <a:endParaRPr lang="en-US" i="1" dirty="0">
              <a:solidFill>
                <a:srgbClr val="C00000"/>
              </a:solidFill>
            </a:endParaRPr>
          </a:p>
          <a:p>
            <a:r>
              <a:rPr lang="en-US" i="1" dirty="0"/>
              <a:t>ALTER TABLE </a:t>
            </a:r>
            <a:r>
              <a:rPr lang="en-US" i="1" dirty="0" err="1"/>
              <a:t>table_name</a:t>
            </a:r>
            <a:endParaRPr lang="en-US" i="1" dirty="0"/>
          </a:p>
          <a:p>
            <a:pPr marL="0" indent="0">
              <a:buNone/>
            </a:pPr>
            <a:r>
              <a:rPr lang="en-US" i="1" dirty="0"/>
              <a:t>   MODIFY COLUMN </a:t>
            </a:r>
            <a:r>
              <a:rPr lang="en-US" i="1" dirty="0" err="1"/>
              <a:t>column_name</a:t>
            </a:r>
            <a:r>
              <a:rPr lang="en-US" i="1" dirty="0"/>
              <a:t> datatype;</a:t>
            </a:r>
            <a:endParaRPr lang="en-IN" i="1" dirty="0"/>
          </a:p>
        </p:txBody>
      </p:sp>
    </p:spTree>
    <p:extLst>
      <p:ext uri="{BB962C8B-B14F-4D97-AF65-F5344CB8AC3E}">
        <p14:creationId xmlns:p14="http://schemas.microsoft.com/office/powerpoint/2010/main" val="259870878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699812E-BF40-AC61-5CF4-926F1ED845FF}"/>
              </a:ext>
            </a:extLst>
          </p:cNvPr>
          <p:cNvSpPr>
            <a:spLocks noGrp="1"/>
          </p:cNvSpPr>
          <p:nvPr>
            <p:ph idx="1"/>
          </p:nvPr>
        </p:nvSpPr>
        <p:spPr>
          <a:xfrm>
            <a:off x="739739" y="472610"/>
            <a:ext cx="10614061" cy="6082301"/>
          </a:xfrm>
        </p:spPr>
        <p:txBody>
          <a:bodyPr>
            <a:normAutofit fontScale="92500" lnSpcReduction="20000"/>
          </a:bodyPr>
          <a:lstStyle/>
          <a:p>
            <a:pPr marL="0" indent="0">
              <a:buNone/>
            </a:pPr>
            <a:r>
              <a:rPr lang="en-US" dirty="0">
                <a:solidFill>
                  <a:srgbClr val="C00000"/>
                </a:solidFill>
              </a:rPr>
              <a:t>3. DROP – To delete an existing column from the table</a:t>
            </a:r>
          </a:p>
          <a:p>
            <a:pPr algn="just"/>
            <a:r>
              <a:rPr lang="en-US" dirty="0"/>
              <a:t>The DROP clause allows you to remove a column from a table. Be cautious when using this command as it will permanently remove the column and its data.</a:t>
            </a:r>
          </a:p>
          <a:p>
            <a:pPr algn="just"/>
            <a:r>
              <a:rPr lang="en-US" dirty="0">
                <a:solidFill>
                  <a:srgbClr val="C00000"/>
                </a:solidFill>
              </a:rPr>
              <a:t>Query:</a:t>
            </a:r>
          </a:p>
          <a:p>
            <a:pPr algn="just"/>
            <a:r>
              <a:rPr lang="en-US" i="1" dirty="0"/>
              <a:t>ALTER TABLE </a:t>
            </a:r>
            <a:r>
              <a:rPr lang="en-US" i="1" dirty="0" err="1"/>
              <a:t>table_name</a:t>
            </a:r>
            <a:endParaRPr lang="en-US" i="1" dirty="0"/>
          </a:p>
          <a:p>
            <a:pPr marL="0" indent="0" algn="just">
              <a:buNone/>
            </a:pPr>
            <a:r>
              <a:rPr lang="en-US" i="1" dirty="0"/>
              <a:t>   DROP COLUMN </a:t>
            </a:r>
            <a:r>
              <a:rPr lang="en-US" i="1" dirty="0" err="1"/>
              <a:t>column_name</a:t>
            </a:r>
            <a:r>
              <a:rPr lang="en-US" i="1" dirty="0"/>
              <a:t>;</a:t>
            </a:r>
          </a:p>
          <a:p>
            <a:pPr marL="0" indent="0" algn="just">
              <a:buNone/>
            </a:pPr>
            <a:endParaRPr lang="en-US" i="1" dirty="0"/>
          </a:p>
          <a:p>
            <a:pPr marL="0" indent="0" algn="just">
              <a:buNone/>
            </a:pPr>
            <a:r>
              <a:rPr lang="en-US" dirty="0">
                <a:solidFill>
                  <a:srgbClr val="C00000"/>
                </a:solidFill>
              </a:rPr>
              <a:t>4. RENAME COLUMN – To rename an existing column</a:t>
            </a:r>
          </a:p>
          <a:p>
            <a:pPr algn="just"/>
            <a:r>
              <a:rPr lang="en-US" dirty="0"/>
              <a:t>We can rename an existing column using the RENAME COLUMN clause. This allows you to change the name of a column while preserving its data type and content.</a:t>
            </a:r>
          </a:p>
          <a:p>
            <a:pPr algn="just"/>
            <a:r>
              <a:rPr lang="en-US" dirty="0">
                <a:solidFill>
                  <a:srgbClr val="C00000"/>
                </a:solidFill>
              </a:rPr>
              <a:t>Query:</a:t>
            </a:r>
          </a:p>
          <a:p>
            <a:pPr algn="just"/>
            <a:r>
              <a:rPr lang="en-US" i="1" dirty="0"/>
              <a:t>ALTER TABLE </a:t>
            </a:r>
            <a:r>
              <a:rPr lang="en-US" i="1" dirty="0" err="1"/>
              <a:t>table_name</a:t>
            </a:r>
            <a:endParaRPr lang="en-US" i="1" dirty="0"/>
          </a:p>
          <a:p>
            <a:pPr marL="0" indent="0" algn="just">
              <a:buNone/>
            </a:pPr>
            <a:r>
              <a:rPr lang="en-US" i="1" dirty="0"/>
              <a:t>   RENAME COLUMN </a:t>
            </a:r>
            <a:r>
              <a:rPr lang="en-US" i="1" dirty="0" err="1"/>
              <a:t>old_name</a:t>
            </a:r>
            <a:r>
              <a:rPr lang="en-US" i="1" dirty="0"/>
              <a:t> TO </a:t>
            </a:r>
            <a:r>
              <a:rPr lang="en-US" i="1" dirty="0" err="1"/>
              <a:t>new_name</a:t>
            </a:r>
            <a:r>
              <a:rPr lang="en-US" i="1" dirty="0"/>
              <a:t>;</a:t>
            </a:r>
            <a:endParaRPr lang="en-IN" i="1" dirty="0"/>
          </a:p>
        </p:txBody>
      </p:sp>
    </p:spTree>
    <p:extLst>
      <p:ext uri="{BB962C8B-B14F-4D97-AF65-F5344CB8AC3E}">
        <p14:creationId xmlns:p14="http://schemas.microsoft.com/office/powerpoint/2010/main" val="116704582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1719830-618F-B9A8-6853-D387C2E8C355}"/>
              </a:ext>
            </a:extLst>
          </p:cNvPr>
          <p:cNvSpPr>
            <a:spLocks noGrp="1"/>
          </p:cNvSpPr>
          <p:nvPr>
            <p:ph idx="1"/>
          </p:nvPr>
        </p:nvSpPr>
        <p:spPr>
          <a:xfrm>
            <a:off x="708917" y="595901"/>
            <a:ext cx="10644883" cy="5581062"/>
          </a:xfrm>
        </p:spPr>
        <p:txBody>
          <a:bodyPr/>
          <a:lstStyle/>
          <a:p>
            <a:pPr marL="0" indent="0">
              <a:buNone/>
            </a:pPr>
            <a:r>
              <a:rPr lang="en-US" dirty="0">
                <a:solidFill>
                  <a:srgbClr val="C00000"/>
                </a:solidFill>
              </a:rPr>
              <a:t>5. RENAME TO – To rename the table itself</a:t>
            </a:r>
          </a:p>
          <a:p>
            <a:pPr algn="just"/>
            <a:r>
              <a:rPr lang="en-US" dirty="0"/>
              <a:t>We can rename an entire table using the RENAME TO clause. This changes the name of the table while preserving its structure and data.</a:t>
            </a:r>
          </a:p>
          <a:p>
            <a:pPr algn="just"/>
            <a:r>
              <a:rPr lang="en-US" i="1" dirty="0"/>
              <a:t>ALTER TABLE </a:t>
            </a:r>
            <a:r>
              <a:rPr lang="en-US" i="1" dirty="0" err="1"/>
              <a:t>table_name</a:t>
            </a:r>
            <a:endParaRPr lang="en-US" i="1" dirty="0"/>
          </a:p>
          <a:p>
            <a:pPr marL="0" indent="0" algn="just">
              <a:buNone/>
            </a:pPr>
            <a:r>
              <a:rPr lang="en-US" i="1" dirty="0"/>
              <a:t>   RENAME TO </a:t>
            </a:r>
            <a:r>
              <a:rPr lang="en-US" i="1" dirty="0" err="1"/>
              <a:t>new_table_name</a:t>
            </a:r>
            <a:r>
              <a:rPr lang="en-US" i="1" dirty="0"/>
              <a:t>;</a:t>
            </a:r>
            <a:endParaRPr lang="en-IN" i="1" dirty="0"/>
          </a:p>
        </p:txBody>
      </p:sp>
    </p:spTree>
    <p:extLst>
      <p:ext uri="{BB962C8B-B14F-4D97-AF65-F5344CB8AC3E}">
        <p14:creationId xmlns:p14="http://schemas.microsoft.com/office/powerpoint/2010/main" val="195544316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CAA813-6EAE-740E-C652-D531823B146B}"/>
              </a:ext>
            </a:extLst>
          </p:cNvPr>
          <p:cNvSpPr>
            <a:spLocks noGrp="1"/>
          </p:cNvSpPr>
          <p:nvPr>
            <p:ph type="title"/>
          </p:nvPr>
        </p:nvSpPr>
        <p:spPr>
          <a:xfrm>
            <a:off x="838200" y="215757"/>
            <a:ext cx="10515600" cy="945223"/>
          </a:xfrm>
        </p:spPr>
        <p:txBody>
          <a:bodyPr/>
          <a:lstStyle/>
          <a:p>
            <a:pPr algn="ctr"/>
            <a:r>
              <a:rPr lang="en-US" b="1" dirty="0">
                <a:solidFill>
                  <a:srgbClr val="C00000"/>
                </a:solidFill>
              </a:rPr>
              <a:t>DROP and TRUNCATE in SQL</a:t>
            </a:r>
            <a:endParaRPr lang="en-IN" b="1" dirty="0">
              <a:solidFill>
                <a:srgbClr val="C00000"/>
              </a:solidFill>
            </a:endParaRPr>
          </a:p>
        </p:txBody>
      </p:sp>
      <p:sp>
        <p:nvSpPr>
          <p:cNvPr id="3" name="Content Placeholder 2">
            <a:extLst>
              <a:ext uri="{FF2B5EF4-FFF2-40B4-BE49-F238E27FC236}">
                <a16:creationId xmlns:a16="http://schemas.microsoft.com/office/drawing/2014/main" id="{BCA029C5-F59E-DF51-9A43-8CFA021601DB}"/>
              </a:ext>
            </a:extLst>
          </p:cNvPr>
          <p:cNvSpPr>
            <a:spLocks noGrp="1"/>
          </p:cNvSpPr>
          <p:nvPr>
            <p:ph idx="1"/>
          </p:nvPr>
        </p:nvSpPr>
        <p:spPr>
          <a:xfrm>
            <a:off x="838200" y="1304818"/>
            <a:ext cx="10515600" cy="4872145"/>
          </a:xfrm>
        </p:spPr>
        <p:txBody>
          <a:bodyPr>
            <a:normAutofit lnSpcReduction="10000"/>
          </a:bodyPr>
          <a:lstStyle/>
          <a:p>
            <a:r>
              <a:rPr lang="en-US" dirty="0"/>
              <a:t>The DROP and TRUNCATE commands in SQL are used to remove data from a table, but they work differently. </a:t>
            </a:r>
          </a:p>
          <a:p>
            <a:pPr algn="just"/>
            <a:r>
              <a:rPr lang="en-US" dirty="0"/>
              <a:t>In SQL, the </a:t>
            </a:r>
            <a:r>
              <a:rPr lang="en-US" dirty="0">
                <a:solidFill>
                  <a:srgbClr val="C00000"/>
                </a:solidFill>
              </a:rPr>
              <a:t>DROP</a:t>
            </a:r>
            <a:r>
              <a:rPr lang="en-US" dirty="0"/>
              <a:t> command is used to permanently remove an object from a database, such as a table, database, index, or view. When we DROP a table, both the data and the structure of the object are permanently removed from the database leaving no trace of the object.</a:t>
            </a:r>
          </a:p>
          <a:p>
            <a:pPr marL="0" indent="0" algn="just">
              <a:buNone/>
            </a:pPr>
            <a:r>
              <a:rPr lang="en-US" dirty="0">
                <a:solidFill>
                  <a:srgbClr val="C00000"/>
                </a:solidFill>
              </a:rPr>
              <a:t>1. DROP Table</a:t>
            </a:r>
          </a:p>
          <a:p>
            <a:pPr algn="just"/>
            <a:r>
              <a:rPr lang="en-US" dirty="0"/>
              <a:t>To delete an entire table, including its data and structure:</a:t>
            </a:r>
          </a:p>
          <a:p>
            <a:pPr algn="just"/>
            <a:r>
              <a:rPr lang="en-US" dirty="0">
                <a:solidFill>
                  <a:srgbClr val="C00000"/>
                </a:solidFill>
              </a:rPr>
              <a:t>Syntax:</a:t>
            </a:r>
          </a:p>
          <a:p>
            <a:pPr algn="just"/>
            <a:r>
              <a:rPr lang="en-US" i="1" dirty="0"/>
              <a:t>DROP TABLE </a:t>
            </a:r>
            <a:r>
              <a:rPr lang="en-US" i="1" dirty="0" err="1"/>
              <a:t>table_name</a:t>
            </a:r>
            <a:r>
              <a:rPr lang="en-US" i="1" dirty="0"/>
              <a:t>;</a:t>
            </a:r>
            <a:endParaRPr lang="en-IN" i="1" dirty="0"/>
          </a:p>
        </p:txBody>
      </p:sp>
    </p:spTree>
    <p:extLst>
      <p:ext uri="{BB962C8B-B14F-4D97-AF65-F5344CB8AC3E}">
        <p14:creationId xmlns:p14="http://schemas.microsoft.com/office/powerpoint/2010/main" val="174672871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CB2CF4F-4A01-2E6F-8027-12849138153C}"/>
              </a:ext>
            </a:extLst>
          </p:cNvPr>
          <p:cNvSpPr>
            <a:spLocks noGrp="1"/>
          </p:cNvSpPr>
          <p:nvPr>
            <p:ph idx="1"/>
          </p:nvPr>
        </p:nvSpPr>
        <p:spPr>
          <a:xfrm>
            <a:off x="678094" y="729465"/>
            <a:ext cx="10675706" cy="5447498"/>
          </a:xfrm>
        </p:spPr>
        <p:txBody>
          <a:bodyPr/>
          <a:lstStyle/>
          <a:p>
            <a:pPr algn="just"/>
            <a:r>
              <a:rPr lang="en-US" dirty="0"/>
              <a:t>TRUNCATE </a:t>
            </a:r>
            <a:r>
              <a:rPr lang="en-US" dirty="0" err="1"/>
              <a:t>eemoves</a:t>
            </a:r>
            <a:r>
              <a:rPr lang="en-US" dirty="0"/>
              <a:t> all rows but preserves the table structure. It deletes only the data, not the table structure.</a:t>
            </a:r>
          </a:p>
          <a:p>
            <a:pPr algn="just"/>
            <a:r>
              <a:rPr lang="en-US" dirty="0"/>
              <a:t>Is a faster operation compared to the DROP statement.</a:t>
            </a:r>
          </a:p>
          <a:p>
            <a:pPr algn="just"/>
            <a:r>
              <a:rPr lang="en-IN" i="1" dirty="0"/>
              <a:t>TRUNCATE TABLE </a:t>
            </a:r>
            <a:r>
              <a:rPr lang="en-IN" i="1" dirty="0" err="1"/>
              <a:t>table_name</a:t>
            </a:r>
            <a:r>
              <a:rPr lang="en-IN" i="1" dirty="0"/>
              <a:t>;</a:t>
            </a:r>
          </a:p>
        </p:txBody>
      </p:sp>
    </p:spTree>
    <p:extLst>
      <p:ext uri="{BB962C8B-B14F-4D97-AF65-F5344CB8AC3E}">
        <p14:creationId xmlns:p14="http://schemas.microsoft.com/office/powerpoint/2010/main" val="271063918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E4DC8C-301B-2172-91E1-006068435244}"/>
              </a:ext>
            </a:extLst>
          </p:cNvPr>
          <p:cNvSpPr>
            <a:spLocks noGrp="1"/>
          </p:cNvSpPr>
          <p:nvPr>
            <p:ph type="title"/>
          </p:nvPr>
        </p:nvSpPr>
        <p:spPr>
          <a:xfrm>
            <a:off x="838200" y="206829"/>
            <a:ext cx="10515600" cy="870857"/>
          </a:xfrm>
        </p:spPr>
        <p:txBody>
          <a:bodyPr/>
          <a:lstStyle/>
          <a:p>
            <a:r>
              <a:rPr lang="fr-FR" b="1" dirty="0">
                <a:solidFill>
                  <a:srgbClr val="C00000"/>
                </a:solidFill>
              </a:rPr>
              <a:t>Data Manipulation </a:t>
            </a:r>
            <a:r>
              <a:rPr lang="fr-FR" b="1" dirty="0" err="1">
                <a:solidFill>
                  <a:srgbClr val="C00000"/>
                </a:solidFill>
              </a:rPr>
              <a:t>Language</a:t>
            </a:r>
            <a:r>
              <a:rPr lang="fr-FR" b="1" dirty="0">
                <a:solidFill>
                  <a:srgbClr val="C00000"/>
                </a:solidFill>
              </a:rPr>
              <a:t> (DML) </a:t>
            </a:r>
            <a:r>
              <a:rPr lang="fr-FR" b="1" dirty="0" err="1">
                <a:solidFill>
                  <a:srgbClr val="C00000"/>
                </a:solidFill>
              </a:rPr>
              <a:t>commands</a:t>
            </a:r>
            <a:endParaRPr lang="en-IN" b="1" dirty="0">
              <a:solidFill>
                <a:srgbClr val="C00000"/>
              </a:solidFill>
            </a:endParaRPr>
          </a:p>
        </p:txBody>
      </p:sp>
      <p:sp>
        <p:nvSpPr>
          <p:cNvPr id="3" name="Content Placeholder 2">
            <a:extLst>
              <a:ext uri="{FF2B5EF4-FFF2-40B4-BE49-F238E27FC236}">
                <a16:creationId xmlns:a16="http://schemas.microsoft.com/office/drawing/2014/main" id="{4700288F-B608-4709-E8A9-9EB55EC7A8A0}"/>
              </a:ext>
            </a:extLst>
          </p:cNvPr>
          <p:cNvSpPr>
            <a:spLocks noGrp="1"/>
          </p:cNvSpPr>
          <p:nvPr>
            <p:ph idx="1"/>
          </p:nvPr>
        </p:nvSpPr>
        <p:spPr>
          <a:xfrm>
            <a:off x="838200" y="1382486"/>
            <a:ext cx="10515600" cy="4794477"/>
          </a:xfrm>
        </p:spPr>
        <p:txBody>
          <a:bodyPr>
            <a:normAutofit/>
          </a:bodyPr>
          <a:lstStyle/>
          <a:p>
            <a:pPr marL="0" indent="0" algn="just">
              <a:buNone/>
            </a:pPr>
            <a:r>
              <a:rPr lang="en-IN" dirty="0"/>
              <a:t>Commands for inserting, deleting, updating, and merging data in Snowflake tables:</a:t>
            </a:r>
          </a:p>
          <a:p>
            <a:pPr marL="0" indent="0">
              <a:buNone/>
            </a:pPr>
            <a:endParaRPr lang="en-IN" dirty="0"/>
          </a:p>
          <a:p>
            <a:r>
              <a:rPr lang="en-IN" dirty="0"/>
              <a:t>INSERT</a:t>
            </a:r>
          </a:p>
          <a:p>
            <a:r>
              <a:rPr lang="en-IN" dirty="0"/>
              <a:t>MERGE</a:t>
            </a:r>
          </a:p>
          <a:p>
            <a:r>
              <a:rPr lang="en-IN" dirty="0"/>
              <a:t>UPDATE</a:t>
            </a:r>
          </a:p>
          <a:p>
            <a:r>
              <a:rPr lang="en-IN" dirty="0"/>
              <a:t>DELETE</a:t>
            </a:r>
          </a:p>
          <a:p>
            <a:r>
              <a:rPr lang="en-IN" dirty="0"/>
              <a:t>TRUNCATE TABLE</a:t>
            </a:r>
          </a:p>
        </p:txBody>
      </p:sp>
    </p:spTree>
    <p:extLst>
      <p:ext uri="{BB962C8B-B14F-4D97-AF65-F5344CB8AC3E}">
        <p14:creationId xmlns:p14="http://schemas.microsoft.com/office/powerpoint/2010/main" val="303944596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D890CD-0310-1C1F-4D42-8013571466CE}"/>
              </a:ext>
            </a:extLst>
          </p:cNvPr>
          <p:cNvSpPr>
            <a:spLocks noGrp="1"/>
          </p:cNvSpPr>
          <p:nvPr>
            <p:ph type="title"/>
          </p:nvPr>
        </p:nvSpPr>
        <p:spPr>
          <a:xfrm>
            <a:off x="838200" y="365126"/>
            <a:ext cx="10515600" cy="810532"/>
          </a:xfrm>
        </p:spPr>
        <p:txBody>
          <a:bodyPr>
            <a:normAutofit fontScale="90000"/>
          </a:bodyPr>
          <a:lstStyle/>
          <a:p>
            <a:pPr algn="ctr"/>
            <a:r>
              <a:rPr lang="en-IN" b="1" dirty="0">
                <a:solidFill>
                  <a:srgbClr val="C00000"/>
                </a:solidFill>
              </a:rPr>
              <a:t>SQL INSERT INTO Statement</a:t>
            </a:r>
            <a:br>
              <a:rPr lang="en-IN" dirty="0"/>
            </a:br>
            <a:endParaRPr lang="en-IN" dirty="0"/>
          </a:p>
        </p:txBody>
      </p:sp>
      <p:sp>
        <p:nvSpPr>
          <p:cNvPr id="3" name="Content Placeholder 2">
            <a:extLst>
              <a:ext uri="{FF2B5EF4-FFF2-40B4-BE49-F238E27FC236}">
                <a16:creationId xmlns:a16="http://schemas.microsoft.com/office/drawing/2014/main" id="{031134D2-1DF3-EBFE-08FE-B864D1E27802}"/>
              </a:ext>
            </a:extLst>
          </p:cNvPr>
          <p:cNvSpPr>
            <a:spLocks noGrp="1"/>
          </p:cNvSpPr>
          <p:nvPr>
            <p:ph idx="1"/>
          </p:nvPr>
        </p:nvSpPr>
        <p:spPr>
          <a:xfrm>
            <a:off x="838200" y="1175658"/>
            <a:ext cx="10515600" cy="5214256"/>
          </a:xfrm>
        </p:spPr>
        <p:txBody>
          <a:bodyPr>
            <a:normAutofit lnSpcReduction="10000"/>
          </a:bodyPr>
          <a:lstStyle/>
          <a:p>
            <a:pPr algn="just"/>
            <a:r>
              <a:rPr lang="en-US" dirty="0"/>
              <a:t>The INSERT INTO statement in SQL is used to add new rows of data to a table in a database.</a:t>
            </a:r>
          </a:p>
          <a:p>
            <a:pPr algn="just"/>
            <a:r>
              <a:rPr lang="en-US" dirty="0"/>
              <a:t>There are two main ways to use the INSERT INTO statement by specifying the columns and values explicitly or by inserting values for all columns without specifying them.</a:t>
            </a:r>
          </a:p>
          <a:p>
            <a:pPr algn="just"/>
            <a:r>
              <a:rPr lang="en-US" dirty="0"/>
              <a:t>There are two primary syntaxes of INSERT INTO statements depending on the requirements. The two syntaxes are:</a:t>
            </a:r>
          </a:p>
          <a:p>
            <a:pPr algn="just"/>
            <a:r>
              <a:rPr lang="en-US" dirty="0">
                <a:solidFill>
                  <a:srgbClr val="C00000"/>
                </a:solidFill>
              </a:rPr>
              <a:t>Syntax 1. Only Values</a:t>
            </a:r>
          </a:p>
          <a:p>
            <a:pPr algn="just"/>
            <a:r>
              <a:rPr lang="en-US" dirty="0"/>
              <a:t>The first method is to specify only the value of data to be inserted without the column names.</a:t>
            </a:r>
          </a:p>
          <a:p>
            <a:pPr algn="just"/>
            <a:r>
              <a:rPr lang="en-US" i="1" dirty="0"/>
              <a:t>INSERT INTO </a:t>
            </a:r>
            <a:r>
              <a:rPr lang="en-US" i="1" dirty="0" err="1"/>
              <a:t>table_name</a:t>
            </a:r>
            <a:r>
              <a:rPr lang="en-US" i="1" dirty="0"/>
              <a:t> </a:t>
            </a:r>
          </a:p>
          <a:p>
            <a:pPr marL="0" indent="0" algn="just">
              <a:buNone/>
            </a:pPr>
            <a:r>
              <a:rPr lang="en-US" i="1" dirty="0"/>
              <a:t>   VALUES (value1, value2, value); </a:t>
            </a:r>
            <a:endParaRPr lang="en-IN" i="1" dirty="0"/>
          </a:p>
        </p:txBody>
      </p:sp>
    </p:spTree>
    <p:extLst>
      <p:ext uri="{BB962C8B-B14F-4D97-AF65-F5344CB8AC3E}">
        <p14:creationId xmlns:p14="http://schemas.microsoft.com/office/powerpoint/2010/main" val="154620545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50ACD8B-0D5F-EF86-B85C-B85C609BCD58}"/>
              </a:ext>
            </a:extLst>
          </p:cNvPr>
          <p:cNvSpPr>
            <a:spLocks noGrp="1"/>
          </p:cNvSpPr>
          <p:nvPr>
            <p:ph idx="1"/>
          </p:nvPr>
        </p:nvSpPr>
        <p:spPr>
          <a:xfrm>
            <a:off x="783771" y="696686"/>
            <a:ext cx="10570029" cy="5480277"/>
          </a:xfrm>
        </p:spPr>
        <p:txBody>
          <a:bodyPr>
            <a:normAutofit/>
          </a:bodyPr>
          <a:lstStyle/>
          <a:p>
            <a:r>
              <a:rPr lang="en-US" dirty="0">
                <a:solidFill>
                  <a:srgbClr val="C00000"/>
                </a:solidFill>
              </a:rPr>
              <a:t>Syntax 2. Column Names And Values Both</a:t>
            </a:r>
          </a:p>
          <a:p>
            <a:pPr algn="just"/>
            <a:r>
              <a:rPr lang="en-US" dirty="0"/>
              <a:t>In the second method we will specify both the columns which we want to fill and their corresponding values as shown below:</a:t>
            </a:r>
          </a:p>
          <a:p>
            <a:pPr algn="just"/>
            <a:r>
              <a:rPr lang="en-US" i="1" dirty="0"/>
              <a:t>INSERT INTO </a:t>
            </a:r>
            <a:r>
              <a:rPr lang="en-US" i="1" dirty="0" err="1"/>
              <a:t>table_name</a:t>
            </a:r>
            <a:r>
              <a:rPr lang="en-US" i="1" dirty="0"/>
              <a:t> (column1, column2, column3) </a:t>
            </a:r>
          </a:p>
          <a:p>
            <a:pPr marL="0" indent="0" algn="just">
              <a:buNone/>
            </a:pPr>
            <a:r>
              <a:rPr lang="en-US" i="1" dirty="0"/>
              <a:t>   VALUES ( value1, value2, value); </a:t>
            </a:r>
          </a:p>
          <a:p>
            <a:endParaRPr lang="en-US" dirty="0"/>
          </a:p>
          <a:p>
            <a:endParaRPr lang="en-IN" dirty="0"/>
          </a:p>
        </p:txBody>
      </p:sp>
    </p:spTree>
    <p:extLst>
      <p:ext uri="{BB962C8B-B14F-4D97-AF65-F5344CB8AC3E}">
        <p14:creationId xmlns:p14="http://schemas.microsoft.com/office/powerpoint/2010/main" val="318854956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E0E3F6-1D8D-2D31-B8FF-9F5E622C8FFE}"/>
              </a:ext>
            </a:extLst>
          </p:cNvPr>
          <p:cNvSpPr>
            <a:spLocks noGrp="1"/>
          </p:cNvSpPr>
          <p:nvPr>
            <p:ph type="title"/>
          </p:nvPr>
        </p:nvSpPr>
        <p:spPr>
          <a:xfrm>
            <a:off x="838200" y="163287"/>
            <a:ext cx="10515600" cy="1045027"/>
          </a:xfrm>
        </p:spPr>
        <p:txBody>
          <a:bodyPr/>
          <a:lstStyle/>
          <a:p>
            <a:pPr algn="ctr"/>
            <a:r>
              <a:rPr lang="en-IN" b="1" dirty="0">
                <a:solidFill>
                  <a:srgbClr val="C00000"/>
                </a:solidFill>
              </a:rPr>
              <a:t>UPDATE Statement</a:t>
            </a:r>
          </a:p>
        </p:txBody>
      </p:sp>
      <p:sp>
        <p:nvSpPr>
          <p:cNvPr id="3" name="Content Placeholder 2">
            <a:extLst>
              <a:ext uri="{FF2B5EF4-FFF2-40B4-BE49-F238E27FC236}">
                <a16:creationId xmlns:a16="http://schemas.microsoft.com/office/drawing/2014/main" id="{2700C903-7493-0D22-DCA9-EBABF34BA926}"/>
              </a:ext>
            </a:extLst>
          </p:cNvPr>
          <p:cNvSpPr>
            <a:spLocks noGrp="1"/>
          </p:cNvSpPr>
          <p:nvPr>
            <p:ph idx="1"/>
          </p:nvPr>
        </p:nvSpPr>
        <p:spPr>
          <a:xfrm>
            <a:off x="838200" y="1208314"/>
            <a:ext cx="10515600" cy="4968649"/>
          </a:xfrm>
        </p:spPr>
        <p:txBody>
          <a:bodyPr>
            <a:normAutofit/>
          </a:bodyPr>
          <a:lstStyle/>
          <a:p>
            <a:pPr algn="just"/>
            <a:r>
              <a:rPr lang="en-US" dirty="0"/>
              <a:t>The UPDATE statement in SQL is used to update the data of an existing table in the database. </a:t>
            </a:r>
          </a:p>
          <a:p>
            <a:pPr algn="just"/>
            <a:r>
              <a:rPr lang="en-US" dirty="0"/>
              <a:t>We can update single columns as well as multiple columns using the UPDATE statement as per our requirement.</a:t>
            </a:r>
          </a:p>
          <a:p>
            <a:pPr algn="just"/>
            <a:r>
              <a:rPr lang="en-US" dirty="0">
                <a:solidFill>
                  <a:srgbClr val="C00000"/>
                </a:solidFill>
              </a:rPr>
              <a:t>Syntax:</a:t>
            </a:r>
          </a:p>
          <a:p>
            <a:pPr algn="just"/>
            <a:r>
              <a:rPr lang="en-US" dirty="0"/>
              <a:t>The syntax for SQL UPDATE Statement is :</a:t>
            </a:r>
          </a:p>
          <a:p>
            <a:pPr algn="just"/>
            <a:r>
              <a:rPr lang="en-US" i="1" dirty="0"/>
              <a:t>UPDATE </a:t>
            </a:r>
            <a:r>
              <a:rPr lang="en-US" i="1" dirty="0" err="1"/>
              <a:t>table_name</a:t>
            </a:r>
            <a:r>
              <a:rPr lang="en-US" i="1" dirty="0"/>
              <a:t> SET column1 = value1, column2 = value2,… </a:t>
            </a:r>
          </a:p>
          <a:p>
            <a:pPr marL="0" indent="0" algn="just">
              <a:buNone/>
            </a:pPr>
            <a:r>
              <a:rPr lang="en-US" i="1" dirty="0"/>
              <a:t>   WHERE condition;</a:t>
            </a:r>
          </a:p>
          <a:p>
            <a:endParaRPr lang="en-IN" dirty="0"/>
          </a:p>
        </p:txBody>
      </p:sp>
    </p:spTree>
    <p:extLst>
      <p:ext uri="{BB962C8B-B14F-4D97-AF65-F5344CB8AC3E}">
        <p14:creationId xmlns:p14="http://schemas.microsoft.com/office/powerpoint/2010/main" val="202809356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ACA0AF9D-8153-D147-D08D-4C2BD2776C7C}"/>
              </a:ext>
            </a:extLst>
          </p:cNvPr>
          <p:cNvPicPr>
            <a:picLocks noGrp="1" noChangeAspect="1"/>
          </p:cNvPicPr>
          <p:nvPr>
            <p:ph idx="1"/>
          </p:nvPr>
        </p:nvPicPr>
        <p:blipFill>
          <a:blip r:embed="rId2"/>
          <a:stretch>
            <a:fillRect/>
          </a:stretch>
        </p:blipFill>
        <p:spPr>
          <a:xfrm>
            <a:off x="321042" y="3234600"/>
            <a:ext cx="8797727" cy="2928257"/>
          </a:xfrm>
          <a:prstGeom prst="rect">
            <a:avLst/>
          </a:prstGeom>
        </p:spPr>
      </p:pic>
      <p:sp>
        <p:nvSpPr>
          <p:cNvPr id="6" name="TextBox 5">
            <a:extLst>
              <a:ext uri="{FF2B5EF4-FFF2-40B4-BE49-F238E27FC236}">
                <a16:creationId xmlns:a16="http://schemas.microsoft.com/office/drawing/2014/main" id="{AD40A827-1E90-1799-E63F-7649533E9951}"/>
              </a:ext>
            </a:extLst>
          </p:cNvPr>
          <p:cNvSpPr txBox="1"/>
          <p:nvPr/>
        </p:nvSpPr>
        <p:spPr>
          <a:xfrm>
            <a:off x="8004996" y="961651"/>
            <a:ext cx="4829262" cy="1938992"/>
          </a:xfrm>
          <a:prstGeom prst="rect">
            <a:avLst/>
          </a:prstGeom>
          <a:noFill/>
        </p:spPr>
        <p:txBody>
          <a:bodyPr wrap="square">
            <a:spAutoFit/>
          </a:bodyPr>
          <a:lstStyle/>
          <a:p>
            <a:r>
              <a:rPr lang="en-US" sz="2400" dirty="0"/>
              <a:t>Query:</a:t>
            </a:r>
          </a:p>
          <a:p>
            <a:endParaRPr lang="en-US" sz="2400" dirty="0"/>
          </a:p>
          <a:p>
            <a:r>
              <a:rPr lang="en-US" sz="2400" i="1" dirty="0"/>
              <a:t>UPDATE Customer </a:t>
            </a:r>
          </a:p>
          <a:p>
            <a:r>
              <a:rPr lang="en-US" sz="2400" i="1" dirty="0"/>
              <a:t>SET </a:t>
            </a:r>
            <a:r>
              <a:rPr lang="en-US" sz="2400" i="1" dirty="0" err="1"/>
              <a:t>CustomerName</a:t>
            </a:r>
            <a:r>
              <a:rPr lang="en-US" sz="2400" i="1" dirty="0"/>
              <a:t>  = 'Nitin' </a:t>
            </a:r>
          </a:p>
          <a:p>
            <a:r>
              <a:rPr lang="en-US" sz="2400" i="1" dirty="0"/>
              <a:t>WHERE Age = 22;</a:t>
            </a:r>
            <a:endParaRPr lang="en-IN" sz="2400" i="1" dirty="0"/>
          </a:p>
        </p:txBody>
      </p:sp>
      <p:pic>
        <p:nvPicPr>
          <p:cNvPr id="7" name="Picture 6">
            <a:extLst>
              <a:ext uri="{FF2B5EF4-FFF2-40B4-BE49-F238E27FC236}">
                <a16:creationId xmlns:a16="http://schemas.microsoft.com/office/drawing/2014/main" id="{DDB9A0C9-6DE2-778D-E19B-0CB880A53759}"/>
              </a:ext>
            </a:extLst>
          </p:cNvPr>
          <p:cNvPicPr>
            <a:picLocks noChangeAspect="1"/>
          </p:cNvPicPr>
          <p:nvPr/>
        </p:nvPicPr>
        <p:blipFill>
          <a:blip r:embed="rId3"/>
          <a:stretch>
            <a:fillRect/>
          </a:stretch>
        </p:blipFill>
        <p:spPr>
          <a:xfrm>
            <a:off x="321042" y="225459"/>
            <a:ext cx="7375157" cy="2768420"/>
          </a:xfrm>
          <a:prstGeom prst="rect">
            <a:avLst/>
          </a:prstGeom>
        </p:spPr>
      </p:pic>
    </p:spTree>
    <p:extLst>
      <p:ext uri="{BB962C8B-B14F-4D97-AF65-F5344CB8AC3E}">
        <p14:creationId xmlns:p14="http://schemas.microsoft.com/office/powerpoint/2010/main" val="39870002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3558F9F-5E51-EC1B-B68B-4F204B6C836A}"/>
              </a:ext>
            </a:extLst>
          </p:cNvPr>
          <p:cNvSpPr>
            <a:spLocks noGrp="1"/>
          </p:cNvSpPr>
          <p:nvPr>
            <p:ph idx="1"/>
          </p:nvPr>
        </p:nvSpPr>
        <p:spPr>
          <a:xfrm>
            <a:off x="468085" y="283028"/>
            <a:ext cx="10602686" cy="5687106"/>
          </a:xfrm>
        </p:spPr>
        <p:txBody>
          <a:bodyPr/>
          <a:lstStyle/>
          <a:p>
            <a:pPr marL="0" indent="0">
              <a:buNone/>
            </a:pPr>
            <a:r>
              <a:rPr lang="en-US" b="1" dirty="0">
                <a:solidFill>
                  <a:srgbClr val="C00000"/>
                </a:solidFill>
              </a:rPr>
              <a:t>Omitting WHERE Clause in UPDATE Statement</a:t>
            </a:r>
          </a:p>
          <a:p>
            <a:pPr algn="just"/>
            <a:r>
              <a:rPr lang="en-US" dirty="0"/>
              <a:t>If we omit the WHERE clause from the update query then all of the rows will get updated.</a:t>
            </a:r>
          </a:p>
          <a:p>
            <a:r>
              <a:rPr lang="en-US" dirty="0">
                <a:solidFill>
                  <a:srgbClr val="C00000"/>
                </a:solidFill>
              </a:rPr>
              <a:t>Query:</a:t>
            </a:r>
          </a:p>
          <a:p>
            <a:r>
              <a:rPr lang="en-US" i="1" dirty="0"/>
              <a:t>UPDATE Customer SET </a:t>
            </a:r>
            <a:r>
              <a:rPr lang="en-US" i="1" dirty="0" err="1"/>
              <a:t>CustomerName</a:t>
            </a:r>
            <a:r>
              <a:rPr lang="en-US" i="1" dirty="0"/>
              <a:t> = 'Shubham';</a:t>
            </a:r>
            <a:endParaRPr lang="en-IN" i="1" dirty="0"/>
          </a:p>
        </p:txBody>
      </p:sp>
      <p:pic>
        <p:nvPicPr>
          <p:cNvPr id="4" name="Picture 3">
            <a:extLst>
              <a:ext uri="{FF2B5EF4-FFF2-40B4-BE49-F238E27FC236}">
                <a16:creationId xmlns:a16="http://schemas.microsoft.com/office/drawing/2014/main" id="{156C3621-39BE-442E-922D-FF7F1B0A8646}"/>
              </a:ext>
            </a:extLst>
          </p:cNvPr>
          <p:cNvPicPr>
            <a:picLocks noChangeAspect="1"/>
          </p:cNvPicPr>
          <p:nvPr/>
        </p:nvPicPr>
        <p:blipFill>
          <a:blip r:embed="rId2"/>
          <a:stretch>
            <a:fillRect/>
          </a:stretch>
        </p:blipFill>
        <p:spPr>
          <a:xfrm>
            <a:off x="587828" y="2644549"/>
            <a:ext cx="6553200" cy="2247900"/>
          </a:xfrm>
          <a:prstGeom prst="rect">
            <a:avLst/>
          </a:prstGeom>
        </p:spPr>
      </p:pic>
      <p:pic>
        <p:nvPicPr>
          <p:cNvPr id="5" name="Picture 4">
            <a:extLst>
              <a:ext uri="{FF2B5EF4-FFF2-40B4-BE49-F238E27FC236}">
                <a16:creationId xmlns:a16="http://schemas.microsoft.com/office/drawing/2014/main" id="{E7D1AA02-B21C-C8BA-2BDD-FFE3B0D35396}"/>
              </a:ext>
            </a:extLst>
          </p:cNvPr>
          <p:cNvPicPr>
            <a:picLocks noChangeAspect="1"/>
          </p:cNvPicPr>
          <p:nvPr/>
        </p:nvPicPr>
        <p:blipFill>
          <a:blip r:embed="rId3"/>
          <a:stretch>
            <a:fillRect/>
          </a:stretch>
        </p:blipFill>
        <p:spPr>
          <a:xfrm>
            <a:off x="4413477" y="4810125"/>
            <a:ext cx="6391275" cy="2047875"/>
          </a:xfrm>
          <a:prstGeom prst="rect">
            <a:avLst/>
          </a:prstGeom>
        </p:spPr>
      </p:pic>
    </p:spTree>
    <p:extLst>
      <p:ext uri="{BB962C8B-B14F-4D97-AF65-F5344CB8AC3E}">
        <p14:creationId xmlns:p14="http://schemas.microsoft.com/office/powerpoint/2010/main" val="16499929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A28D25-0171-F6C4-79D4-B6D484168B89}"/>
              </a:ext>
            </a:extLst>
          </p:cNvPr>
          <p:cNvSpPr>
            <a:spLocks noGrp="1"/>
          </p:cNvSpPr>
          <p:nvPr>
            <p:ph type="title"/>
          </p:nvPr>
        </p:nvSpPr>
        <p:spPr>
          <a:xfrm>
            <a:off x="838200" y="97972"/>
            <a:ext cx="10515600" cy="1153886"/>
          </a:xfrm>
        </p:spPr>
        <p:txBody>
          <a:bodyPr/>
          <a:lstStyle/>
          <a:p>
            <a:pPr algn="ctr"/>
            <a:r>
              <a:rPr lang="en-IN" b="1" dirty="0">
                <a:solidFill>
                  <a:srgbClr val="C00000"/>
                </a:solidFill>
              </a:rPr>
              <a:t>DELETE Statement</a:t>
            </a:r>
          </a:p>
        </p:txBody>
      </p:sp>
      <p:sp>
        <p:nvSpPr>
          <p:cNvPr id="3" name="Content Placeholder 2">
            <a:extLst>
              <a:ext uri="{FF2B5EF4-FFF2-40B4-BE49-F238E27FC236}">
                <a16:creationId xmlns:a16="http://schemas.microsoft.com/office/drawing/2014/main" id="{28C52277-1089-E648-A371-2C08E5D5C35C}"/>
              </a:ext>
            </a:extLst>
          </p:cNvPr>
          <p:cNvSpPr>
            <a:spLocks noGrp="1"/>
          </p:cNvSpPr>
          <p:nvPr>
            <p:ph idx="1"/>
          </p:nvPr>
        </p:nvSpPr>
        <p:spPr>
          <a:xfrm>
            <a:off x="838200" y="1251858"/>
            <a:ext cx="10515600" cy="4925105"/>
          </a:xfrm>
        </p:spPr>
        <p:txBody>
          <a:bodyPr/>
          <a:lstStyle/>
          <a:p>
            <a:pPr algn="just"/>
            <a:r>
              <a:rPr lang="en-US" dirty="0"/>
              <a:t>The SQL DELETE statement removes one or more rows from a database table based on a condition specified in the WHERE clause.</a:t>
            </a:r>
          </a:p>
          <a:p>
            <a:pPr algn="just"/>
            <a:r>
              <a:rPr lang="en-US" dirty="0">
                <a:solidFill>
                  <a:srgbClr val="C00000"/>
                </a:solidFill>
              </a:rPr>
              <a:t>Syntax: </a:t>
            </a:r>
          </a:p>
          <a:p>
            <a:pPr algn="just"/>
            <a:r>
              <a:rPr lang="en-US" i="1" dirty="0"/>
              <a:t>DELETE FROM </a:t>
            </a:r>
            <a:r>
              <a:rPr lang="en-US" i="1" dirty="0" err="1"/>
              <a:t>table_name</a:t>
            </a:r>
            <a:endParaRPr lang="en-US" i="1" dirty="0"/>
          </a:p>
          <a:p>
            <a:pPr marL="0" indent="0" algn="just">
              <a:buNone/>
            </a:pPr>
            <a:r>
              <a:rPr lang="en-US" i="1" dirty="0"/>
              <a:t>   WHERE </a:t>
            </a:r>
            <a:r>
              <a:rPr lang="en-US" i="1" dirty="0" err="1"/>
              <a:t>some_condition</a:t>
            </a:r>
            <a:r>
              <a:rPr lang="en-US" i="1" dirty="0"/>
              <a:t>;</a:t>
            </a:r>
            <a:endParaRPr lang="en-IN" i="1" dirty="0"/>
          </a:p>
        </p:txBody>
      </p:sp>
    </p:spTree>
    <p:extLst>
      <p:ext uri="{BB962C8B-B14F-4D97-AF65-F5344CB8AC3E}">
        <p14:creationId xmlns:p14="http://schemas.microsoft.com/office/powerpoint/2010/main" val="82099672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80F3DD-1DF1-39EC-42A5-52385976586C}"/>
              </a:ext>
            </a:extLst>
          </p:cNvPr>
          <p:cNvSpPr>
            <a:spLocks noGrp="1"/>
          </p:cNvSpPr>
          <p:nvPr>
            <p:ph type="title"/>
          </p:nvPr>
        </p:nvSpPr>
        <p:spPr>
          <a:xfrm>
            <a:off x="838200" y="206829"/>
            <a:ext cx="10515600" cy="1001485"/>
          </a:xfrm>
        </p:spPr>
        <p:txBody>
          <a:bodyPr/>
          <a:lstStyle/>
          <a:p>
            <a:pPr algn="ctr"/>
            <a:r>
              <a:rPr lang="en-IN" b="1" dirty="0">
                <a:solidFill>
                  <a:srgbClr val="C00000"/>
                </a:solidFill>
              </a:rPr>
              <a:t>Aggregate functions</a:t>
            </a:r>
          </a:p>
        </p:txBody>
      </p:sp>
      <p:sp>
        <p:nvSpPr>
          <p:cNvPr id="3" name="Content Placeholder 2">
            <a:extLst>
              <a:ext uri="{FF2B5EF4-FFF2-40B4-BE49-F238E27FC236}">
                <a16:creationId xmlns:a16="http://schemas.microsoft.com/office/drawing/2014/main" id="{CAA84278-C086-D3EE-2E5F-4EB0802FB549}"/>
              </a:ext>
            </a:extLst>
          </p:cNvPr>
          <p:cNvSpPr>
            <a:spLocks noGrp="1"/>
          </p:cNvSpPr>
          <p:nvPr>
            <p:ph idx="1"/>
          </p:nvPr>
        </p:nvSpPr>
        <p:spPr>
          <a:xfrm>
            <a:off x="838200" y="1208314"/>
            <a:ext cx="10515600" cy="5105400"/>
          </a:xfrm>
        </p:spPr>
        <p:txBody>
          <a:bodyPr>
            <a:normAutofit lnSpcReduction="10000"/>
          </a:bodyPr>
          <a:lstStyle/>
          <a:p>
            <a:pPr algn="just"/>
            <a:r>
              <a:rPr lang="en-US" dirty="0"/>
              <a:t>SQL Aggregate Functions are used to perform calculations on a set of rows and return a single value. They are used to perform mathematical calculations on data. They usually return a single value as output.</a:t>
            </a:r>
          </a:p>
          <a:p>
            <a:pPr algn="just"/>
            <a:r>
              <a:rPr lang="en-US" dirty="0"/>
              <a:t>They are often used with the GROUP BY clause in SQL to summarize data for each group.</a:t>
            </a:r>
          </a:p>
          <a:p>
            <a:pPr algn="just"/>
            <a:r>
              <a:rPr lang="en-US" dirty="0"/>
              <a:t>The most commonly used SQL aggregate functions are:</a:t>
            </a:r>
          </a:p>
          <a:p>
            <a:pPr lvl="1"/>
            <a:r>
              <a:rPr lang="en-US" sz="2800" dirty="0"/>
              <a:t>MIN() - returns the smallest value within the selected column</a:t>
            </a:r>
          </a:p>
          <a:p>
            <a:pPr lvl="1"/>
            <a:r>
              <a:rPr lang="en-US" sz="2800" dirty="0"/>
              <a:t>MAX() - returns the largest value within the selected column</a:t>
            </a:r>
          </a:p>
          <a:p>
            <a:pPr lvl="1"/>
            <a:r>
              <a:rPr lang="en-US" sz="2800" dirty="0"/>
              <a:t>COUNT() - returns the number of rows in a set</a:t>
            </a:r>
          </a:p>
          <a:p>
            <a:pPr lvl="1"/>
            <a:r>
              <a:rPr lang="en-US" sz="2800" dirty="0"/>
              <a:t>SUM() - returns the total sum of a numerical column</a:t>
            </a:r>
          </a:p>
          <a:p>
            <a:pPr lvl="1"/>
            <a:r>
              <a:rPr lang="en-US" sz="2800" dirty="0"/>
              <a:t>AVG() - returns the average value of a numerical column</a:t>
            </a:r>
            <a:endParaRPr lang="en-IN" dirty="0"/>
          </a:p>
        </p:txBody>
      </p:sp>
    </p:spTree>
    <p:extLst>
      <p:ext uri="{BB962C8B-B14F-4D97-AF65-F5344CB8AC3E}">
        <p14:creationId xmlns:p14="http://schemas.microsoft.com/office/powerpoint/2010/main" val="305988317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BFE8E220-A39A-CB0B-F94D-CA860F0D89E5}"/>
              </a:ext>
            </a:extLst>
          </p:cNvPr>
          <p:cNvPicPr>
            <a:picLocks noGrp="1" noChangeAspect="1"/>
          </p:cNvPicPr>
          <p:nvPr>
            <p:ph idx="1"/>
          </p:nvPr>
        </p:nvPicPr>
        <p:blipFill>
          <a:blip r:embed="rId2"/>
          <a:stretch>
            <a:fillRect/>
          </a:stretch>
        </p:blipFill>
        <p:spPr>
          <a:xfrm>
            <a:off x="753767" y="911225"/>
            <a:ext cx="10444980" cy="4351338"/>
          </a:xfrm>
        </p:spPr>
      </p:pic>
    </p:spTree>
    <p:extLst>
      <p:ext uri="{BB962C8B-B14F-4D97-AF65-F5344CB8AC3E}">
        <p14:creationId xmlns:p14="http://schemas.microsoft.com/office/powerpoint/2010/main" val="378489598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26EEBC5-80EB-457D-A2C7-2C54998982F0}"/>
              </a:ext>
            </a:extLst>
          </p:cNvPr>
          <p:cNvSpPr>
            <a:spLocks noGrp="1"/>
          </p:cNvSpPr>
          <p:nvPr>
            <p:ph sz="half" idx="1"/>
          </p:nvPr>
        </p:nvSpPr>
        <p:spPr>
          <a:xfrm>
            <a:off x="293914" y="500743"/>
            <a:ext cx="5725886" cy="5676220"/>
          </a:xfrm>
        </p:spPr>
        <p:txBody>
          <a:bodyPr>
            <a:normAutofit/>
          </a:bodyPr>
          <a:lstStyle/>
          <a:p>
            <a:r>
              <a:rPr lang="en-US" sz="3000" b="1" dirty="0">
                <a:solidFill>
                  <a:srgbClr val="C00000"/>
                </a:solidFill>
              </a:rPr>
              <a:t>Syntax</a:t>
            </a:r>
          </a:p>
          <a:p>
            <a:r>
              <a:rPr lang="en-US" i="1" dirty="0"/>
              <a:t>SELECT </a:t>
            </a:r>
            <a:r>
              <a:rPr lang="en-US" b="1" i="1" dirty="0">
                <a:solidFill>
                  <a:srgbClr val="C00000"/>
                </a:solidFill>
              </a:rPr>
              <a:t>MIN</a:t>
            </a:r>
            <a:r>
              <a:rPr lang="en-US" i="1" dirty="0"/>
              <a:t>(</a:t>
            </a:r>
            <a:r>
              <a:rPr lang="en-US" i="1" dirty="0" err="1"/>
              <a:t>column_name</a:t>
            </a:r>
            <a:r>
              <a:rPr lang="en-US" i="1" dirty="0"/>
              <a:t>)</a:t>
            </a:r>
          </a:p>
          <a:p>
            <a:pPr marL="0" indent="0">
              <a:buNone/>
            </a:pPr>
            <a:r>
              <a:rPr lang="en-US" i="1" dirty="0"/>
              <a:t>   FROM </a:t>
            </a:r>
            <a:r>
              <a:rPr lang="en-US" i="1" dirty="0" err="1"/>
              <a:t>table_name</a:t>
            </a:r>
            <a:endParaRPr lang="en-US" i="1" dirty="0"/>
          </a:p>
          <a:p>
            <a:pPr marL="0" indent="0">
              <a:buNone/>
            </a:pPr>
            <a:r>
              <a:rPr lang="en-US" i="1" dirty="0"/>
              <a:t>   WHERE condition;</a:t>
            </a:r>
          </a:p>
          <a:p>
            <a:endParaRPr lang="en-US" i="1" dirty="0"/>
          </a:p>
          <a:p>
            <a:r>
              <a:rPr lang="en-US" i="1" dirty="0"/>
              <a:t>SELECT </a:t>
            </a:r>
            <a:r>
              <a:rPr lang="en-US" b="1" i="1" dirty="0">
                <a:solidFill>
                  <a:srgbClr val="C00000"/>
                </a:solidFill>
              </a:rPr>
              <a:t>MAX</a:t>
            </a:r>
            <a:r>
              <a:rPr lang="en-US" i="1" dirty="0"/>
              <a:t>(</a:t>
            </a:r>
            <a:r>
              <a:rPr lang="en-US" i="1" dirty="0" err="1"/>
              <a:t>column_name</a:t>
            </a:r>
            <a:r>
              <a:rPr lang="en-US" i="1" dirty="0"/>
              <a:t>)</a:t>
            </a:r>
          </a:p>
          <a:p>
            <a:pPr marL="0" indent="0">
              <a:buNone/>
            </a:pPr>
            <a:r>
              <a:rPr lang="en-US" i="1" dirty="0"/>
              <a:t>   FROM </a:t>
            </a:r>
            <a:r>
              <a:rPr lang="en-US" i="1" dirty="0" err="1"/>
              <a:t>table_name</a:t>
            </a:r>
            <a:endParaRPr lang="en-US" i="1" dirty="0"/>
          </a:p>
          <a:p>
            <a:pPr marL="0" indent="0">
              <a:buNone/>
            </a:pPr>
            <a:r>
              <a:rPr lang="en-US" i="1" dirty="0"/>
              <a:t>   WHERE condition;</a:t>
            </a:r>
            <a:endParaRPr lang="en-US" dirty="0"/>
          </a:p>
          <a:p>
            <a:endParaRPr lang="en-US" dirty="0"/>
          </a:p>
        </p:txBody>
      </p:sp>
      <p:sp>
        <p:nvSpPr>
          <p:cNvPr id="5" name="Content Placeholder 4">
            <a:extLst>
              <a:ext uri="{FF2B5EF4-FFF2-40B4-BE49-F238E27FC236}">
                <a16:creationId xmlns:a16="http://schemas.microsoft.com/office/drawing/2014/main" id="{5F7548EB-C110-A970-706C-3FCC32DD94C6}"/>
              </a:ext>
            </a:extLst>
          </p:cNvPr>
          <p:cNvSpPr>
            <a:spLocks noGrp="1"/>
          </p:cNvSpPr>
          <p:nvPr>
            <p:ph sz="half" idx="2"/>
          </p:nvPr>
        </p:nvSpPr>
        <p:spPr>
          <a:xfrm>
            <a:off x="5464629" y="500743"/>
            <a:ext cx="6531427" cy="5676220"/>
          </a:xfrm>
        </p:spPr>
        <p:txBody>
          <a:bodyPr>
            <a:normAutofit/>
          </a:bodyPr>
          <a:lstStyle/>
          <a:p>
            <a:pPr marL="0" indent="0">
              <a:buNone/>
            </a:pPr>
            <a:r>
              <a:rPr lang="en-US" dirty="0">
                <a:solidFill>
                  <a:srgbClr val="C00000"/>
                </a:solidFill>
              </a:rPr>
              <a:t>MIN Example:</a:t>
            </a:r>
          </a:p>
          <a:p>
            <a:r>
              <a:rPr lang="en-US" dirty="0"/>
              <a:t>Find the lowest price in the Price column:</a:t>
            </a:r>
          </a:p>
          <a:p>
            <a:r>
              <a:rPr lang="en-US" i="1" dirty="0"/>
              <a:t>SELECT MIN(Price)</a:t>
            </a:r>
          </a:p>
          <a:p>
            <a:pPr marL="0" indent="0">
              <a:buNone/>
            </a:pPr>
            <a:r>
              <a:rPr lang="en-US" i="1" dirty="0"/>
              <a:t>   FROM Products;</a:t>
            </a:r>
          </a:p>
          <a:p>
            <a:pPr marL="0" indent="0">
              <a:buNone/>
            </a:pPr>
            <a:endParaRPr lang="en-US" i="1" dirty="0"/>
          </a:p>
          <a:p>
            <a:pPr marL="0" indent="0">
              <a:buNone/>
            </a:pPr>
            <a:r>
              <a:rPr lang="en-US" dirty="0">
                <a:solidFill>
                  <a:srgbClr val="C00000"/>
                </a:solidFill>
              </a:rPr>
              <a:t>MAX Example:</a:t>
            </a:r>
          </a:p>
          <a:p>
            <a:r>
              <a:rPr lang="en-US" i="1" dirty="0"/>
              <a:t>Find the highest price in the Price column:</a:t>
            </a:r>
          </a:p>
          <a:p>
            <a:r>
              <a:rPr lang="en-US" i="1" dirty="0"/>
              <a:t>SELECT MAX(Price)</a:t>
            </a:r>
          </a:p>
          <a:p>
            <a:pPr marL="0" indent="0">
              <a:buNone/>
            </a:pPr>
            <a:r>
              <a:rPr lang="en-US" i="1" dirty="0"/>
              <a:t>   FROM Products;</a:t>
            </a:r>
            <a:endParaRPr lang="en-IN" i="1" dirty="0"/>
          </a:p>
        </p:txBody>
      </p:sp>
    </p:spTree>
    <p:extLst>
      <p:ext uri="{BB962C8B-B14F-4D97-AF65-F5344CB8AC3E}">
        <p14:creationId xmlns:p14="http://schemas.microsoft.com/office/powerpoint/2010/main" val="285716612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0E121EB-E581-9A69-B215-AC40178287E2}"/>
              </a:ext>
            </a:extLst>
          </p:cNvPr>
          <p:cNvSpPr>
            <a:spLocks noGrp="1"/>
          </p:cNvSpPr>
          <p:nvPr>
            <p:ph sz="half" idx="1"/>
          </p:nvPr>
        </p:nvSpPr>
        <p:spPr>
          <a:xfrm>
            <a:off x="283029" y="454024"/>
            <a:ext cx="5181600" cy="6077403"/>
          </a:xfrm>
        </p:spPr>
        <p:txBody>
          <a:bodyPr>
            <a:normAutofit/>
          </a:bodyPr>
          <a:lstStyle/>
          <a:p>
            <a:r>
              <a:rPr lang="en-US" b="1" dirty="0">
                <a:solidFill>
                  <a:srgbClr val="C00000"/>
                </a:solidFill>
              </a:rPr>
              <a:t>Syntax</a:t>
            </a:r>
          </a:p>
          <a:p>
            <a:r>
              <a:rPr lang="en-US" i="1" dirty="0"/>
              <a:t>SELECT </a:t>
            </a:r>
            <a:r>
              <a:rPr lang="en-US" b="1" i="1" dirty="0">
                <a:solidFill>
                  <a:srgbClr val="C00000"/>
                </a:solidFill>
              </a:rPr>
              <a:t>COUNT</a:t>
            </a:r>
            <a:r>
              <a:rPr lang="en-US" i="1" dirty="0"/>
              <a:t>(</a:t>
            </a:r>
            <a:r>
              <a:rPr lang="en-US" i="1" dirty="0" err="1"/>
              <a:t>column_name</a:t>
            </a:r>
            <a:r>
              <a:rPr lang="en-US" i="1" dirty="0"/>
              <a:t>)</a:t>
            </a:r>
          </a:p>
          <a:p>
            <a:pPr marL="0" indent="0">
              <a:buNone/>
            </a:pPr>
            <a:r>
              <a:rPr lang="en-US" i="1" dirty="0"/>
              <a:t>   FROM </a:t>
            </a:r>
            <a:r>
              <a:rPr lang="en-US" i="1" dirty="0" err="1"/>
              <a:t>table_name</a:t>
            </a:r>
            <a:endParaRPr lang="en-US" i="1" dirty="0"/>
          </a:p>
          <a:p>
            <a:pPr marL="0" indent="0">
              <a:buNone/>
            </a:pPr>
            <a:r>
              <a:rPr lang="en-US" i="1" dirty="0"/>
              <a:t>   WHERE condition;</a:t>
            </a:r>
          </a:p>
          <a:p>
            <a:endParaRPr lang="en-US" dirty="0"/>
          </a:p>
          <a:p>
            <a:r>
              <a:rPr lang="en-US" b="1" dirty="0">
                <a:solidFill>
                  <a:srgbClr val="C00000"/>
                </a:solidFill>
              </a:rPr>
              <a:t>Example</a:t>
            </a:r>
          </a:p>
          <a:p>
            <a:r>
              <a:rPr lang="en-US" dirty="0"/>
              <a:t>Find the number of products where Price is higher than 20:</a:t>
            </a:r>
          </a:p>
          <a:p>
            <a:r>
              <a:rPr lang="en-US" i="1" dirty="0"/>
              <a:t>SELECT COUNT(</a:t>
            </a:r>
            <a:r>
              <a:rPr lang="en-US" i="1" dirty="0" err="1"/>
              <a:t>ProductID</a:t>
            </a:r>
            <a:r>
              <a:rPr lang="en-US" i="1" dirty="0"/>
              <a:t>)</a:t>
            </a:r>
          </a:p>
          <a:p>
            <a:pPr marL="0" indent="0">
              <a:buNone/>
            </a:pPr>
            <a:r>
              <a:rPr lang="en-US" i="1" dirty="0"/>
              <a:t>   FROM Products</a:t>
            </a:r>
          </a:p>
          <a:p>
            <a:pPr marL="0" indent="0">
              <a:buNone/>
            </a:pPr>
            <a:r>
              <a:rPr lang="en-US" i="1" dirty="0"/>
              <a:t>   WHERE Price &gt; 20;</a:t>
            </a:r>
          </a:p>
          <a:p>
            <a:endParaRPr lang="en-US" dirty="0"/>
          </a:p>
          <a:p>
            <a:endParaRPr lang="en-IN" dirty="0"/>
          </a:p>
        </p:txBody>
      </p:sp>
      <p:sp>
        <p:nvSpPr>
          <p:cNvPr id="4" name="Content Placeholder 3">
            <a:extLst>
              <a:ext uri="{FF2B5EF4-FFF2-40B4-BE49-F238E27FC236}">
                <a16:creationId xmlns:a16="http://schemas.microsoft.com/office/drawing/2014/main" id="{3AFDDAAB-E0DA-33D1-392F-2ACD878C8DDB}"/>
              </a:ext>
            </a:extLst>
          </p:cNvPr>
          <p:cNvSpPr>
            <a:spLocks noGrp="1"/>
          </p:cNvSpPr>
          <p:nvPr>
            <p:ph sz="half" idx="2"/>
          </p:nvPr>
        </p:nvSpPr>
        <p:spPr>
          <a:xfrm>
            <a:off x="5344886" y="454024"/>
            <a:ext cx="6564085" cy="6284233"/>
          </a:xfrm>
        </p:spPr>
        <p:txBody>
          <a:bodyPr>
            <a:normAutofit/>
          </a:bodyPr>
          <a:lstStyle/>
          <a:p>
            <a:r>
              <a:rPr lang="en-US" b="1" dirty="0">
                <a:solidFill>
                  <a:srgbClr val="C00000"/>
                </a:solidFill>
              </a:rPr>
              <a:t>Example</a:t>
            </a:r>
          </a:p>
          <a:p>
            <a:r>
              <a:rPr lang="en-US" dirty="0"/>
              <a:t>Find the total number of rows in the Products table:</a:t>
            </a:r>
          </a:p>
          <a:p>
            <a:r>
              <a:rPr lang="en-US" i="1" dirty="0"/>
              <a:t>SELECT COUNT(*)</a:t>
            </a:r>
          </a:p>
          <a:p>
            <a:pPr marL="0" indent="0">
              <a:buNone/>
            </a:pPr>
            <a:r>
              <a:rPr lang="en-US" i="1" dirty="0"/>
              <a:t>   FROM Products;</a:t>
            </a:r>
          </a:p>
          <a:p>
            <a:endParaRPr lang="en-US" i="1" dirty="0"/>
          </a:p>
          <a:p>
            <a:r>
              <a:rPr lang="en-US" b="1" dirty="0">
                <a:solidFill>
                  <a:srgbClr val="C00000"/>
                </a:solidFill>
              </a:rPr>
              <a:t>Example</a:t>
            </a:r>
          </a:p>
          <a:p>
            <a:r>
              <a:rPr lang="en-US" dirty="0"/>
              <a:t>Find the number of products where the ProductName is not null:</a:t>
            </a:r>
          </a:p>
          <a:p>
            <a:r>
              <a:rPr lang="en-US" i="1" dirty="0"/>
              <a:t>SELECT COUNT(ProductName)</a:t>
            </a:r>
          </a:p>
          <a:p>
            <a:pPr marL="0" indent="0">
              <a:buNone/>
            </a:pPr>
            <a:r>
              <a:rPr lang="en-US" i="1" dirty="0"/>
              <a:t>   FROM Products;</a:t>
            </a:r>
            <a:endParaRPr lang="en-IN" i="1" dirty="0"/>
          </a:p>
        </p:txBody>
      </p:sp>
    </p:spTree>
    <p:extLst>
      <p:ext uri="{BB962C8B-B14F-4D97-AF65-F5344CB8AC3E}">
        <p14:creationId xmlns:p14="http://schemas.microsoft.com/office/powerpoint/2010/main" val="305190374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B6C778C-B895-3BA2-3584-BFCE561BC729}"/>
              </a:ext>
            </a:extLst>
          </p:cNvPr>
          <p:cNvSpPr>
            <a:spLocks noGrp="1"/>
          </p:cNvSpPr>
          <p:nvPr>
            <p:ph sz="half" idx="1"/>
          </p:nvPr>
        </p:nvSpPr>
        <p:spPr>
          <a:xfrm>
            <a:off x="424543" y="381000"/>
            <a:ext cx="5595257" cy="5795963"/>
          </a:xfrm>
        </p:spPr>
        <p:txBody>
          <a:bodyPr>
            <a:normAutofit lnSpcReduction="10000"/>
          </a:bodyPr>
          <a:lstStyle/>
          <a:p>
            <a:r>
              <a:rPr lang="en-US" b="1" dirty="0">
                <a:solidFill>
                  <a:srgbClr val="C00000"/>
                </a:solidFill>
              </a:rPr>
              <a:t>Syntax</a:t>
            </a:r>
          </a:p>
          <a:p>
            <a:r>
              <a:rPr lang="en-US" i="1" dirty="0"/>
              <a:t>SELECT </a:t>
            </a:r>
            <a:r>
              <a:rPr lang="en-US" b="1" i="1" dirty="0">
                <a:solidFill>
                  <a:srgbClr val="C00000"/>
                </a:solidFill>
              </a:rPr>
              <a:t>SUM</a:t>
            </a:r>
            <a:r>
              <a:rPr lang="en-US" i="1" dirty="0"/>
              <a:t>(</a:t>
            </a:r>
            <a:r>
              <a:rPr lang="en-US" i="1" dirty="0" err="1"/>
              <a:t>column_name</a:t>
            </a:r>
            <a:r>
              <a:rPr lang="en-US" i="1" dirty="0"/>
              <a:t>)</a:t>
            </a:r>
          </a:p>
          <a:p>
            <a:pPr marL="0" indent="0">
              <a:buNone/>
            </a:pPr>
            <a:r>
              <a:rPr lang="en-US" i="1" dirty="0"/>
              <a:t>   FROM </a:t>
            </a:r>
            <a:r>
              <a:rPr lang="en-US" i="1" dirty="0" err="1"/>
              <a:t>table_name</a:t>
            </a:r>
            <a:endParaRPr lang="en-US" i="1" dirty="0"/>
          </a:p>
          <a:p>
            <a:pPr marL="0" indent="0">
              <a:buNone/>
            </a:pPr>
            <a:r>
              <a:rPr lang="en-US" i="1" dirty="0"/>
              <a:t>   WHERE condition;</a:t>
            </a:r>
          </a:p>
          <a:p>
            <a:endParaRPr lang="en-US" i="1" dirty="0"/>
          </a:p>
          <a:p>
            <a:r>
              <a:rPr lang="en-US" b="1" dirty="0">
                <a:solidFill>
                  <a:srgbClr val="C00000"/>
                </a:solidFill>
              </a:rPr>
              <a:t>Example</a:t>
            </a:r>
          </a:p>
          <a:p>
            <a:r>
              <a:rPr lang="en-US" dirty="0"/>
              <a:t>Return the sum of the Quantity field for the product with </a:t>
            </a:r>
            <a:r>
              <a:rPr lang="en-US" dirty="0" err="1"/>
              <a:t>ProductID</a:t>
            </a:r>
            <a:r>
              <a:rPr lang="en-US" dirty="0"/>
              <a:t> 11:</a:t>
            </a:r>
          </a:p>
          <a:p>
            <a:r>
              <a:rPr lang="en-US" i="1" dirty="0"/>
              <a:t>SELECT SUM(Quantity)</a:t>
            </a:r>
          </a:p>
          <a:p>
            <a:pPr marL="0" indent="0">
              <a:buNone/>
            </a:pPr>
            <a:r>
              <a:rPr lang="en-US" i="1" dirty="0"/>
              <a:t>  FROM </a:t>
            </a:r>
            <a:r>
              <a:rPr lang="en-US" i="1" dirty="0" err="1"/>
              <a:t>OrderDetails</a:t>
            </a:r>
            <a:endParaRPr lang="en-US" i="1" dirty="0"/>
          </a:p>
          <a:p>
            <a:pPr marL="0" indent="0">
              <a:buNone/>
            </a:pPr>
            <a:r>
              <a:rPr lang="en-US" i="1" dirty="0"/>
              <a:t>  WHERE </a:t>
            </a:r>
            <a:r>
              <a:rPr lang="en-US" i="1" dirty="0" err="1"/>
              <a:t>ProductId</a:t>
            </a:r>
            <a:r>
              <a:rPr lang="en-US" i="1" dirty="0"/>
              <a:t> = 11;</a:t>
            </a:r>
            <a:endParaRPr lang="en-IN" i="1" dirty="0"/>
          </a:p>
        </p:txBody>
      </p:sp>
      <p:sp>
        <p:nvSpPr>
          <p:cNvPr id="4" name="Content Placeholder 3">
            <a:extLst>
              <a:ext uri="{FF2B5EF4-FFF2-40B4-BE49-F238E27FC236}">
                <a16:creationId xmlns:a16="http://schemas.microsoft.com/office/drawing/2014/main" id="{29858F78-F559-6BC9-6A90-4621A8747B40}"/>
              </a:ext>
            </a:extLst>
          </p:cNvPr>
          <p:cNvSpPr>
            <a:spLocks noGrp="1"/>
          </p:cNvSpPr>
          <p:nvPr>
            <p:ph sz="half" idx="2"/>
          </p:nvPr>
        </p:nvSpPr>
        <p:spPr>
          <a:xfrm>
            <a:off x="6096000" y="381000"/>
            <a:ext cx="5954486" cy="5795963"/>
          </a:xfrm>
        </p:spPr>
        <p:txBody>
          <a:bodyPr>
            <a:normAutofit lnSpcReduction="10000"/>
          </a:bodyPr>
          <a:lstStyle/>
          <a:p>
            <a:r>
              <a:rPr lang="en-US" b="1" dirty="0">
                <a:solidFill>
                  <a:srgbClr val="C00000"/>
                </a:solidFill>
              </a:rPr>
              <a:t>Example</a:t>
            </a:r>
          </a:p>
          <a:p>
            <a:r>
              <a:rPr lang="en-US" dirty="0"/>
              <a:t>Return the sum of all Quantity fields in the </a:t>
            </a:r>
            <a:r>
              <a:rPr lang="en-US" dirty="0" err="1"/>
              <a:t>OrderDetails</a:t>
            </a:r>
            <a:r>
              <a:rPr lang="en-US" dirty="0"/>
              <a:t> table:</a:t>
            </a:r>
          </a:p>
          <a:p>
            <a:r>
              <a:rPr lang="en-US" i="1" dirty="0"/>
              <a:t>SELECT SUM(Quantity)</a:t>
            </a:r>
          </a:p>
          <a:p>
            <a:pPr marL="0" indent="0">
              <a:buNone/>
            </a:pPr>
            <a:r>
              <a:rPr lang="en-US" i="1" dirty="0"/>
              <a:t>   FROM </a:t>
            </a:r>
            <a:r>
              <a:rPr lang="en-US" i="1" dirty="0" err="1"/>
              <a:t>OrderDetails</a:t>
            </a:r>
            <a:r>
              <a:rPr lang="en-US" i="1" dirty="0"/>
              <a:t>;</a:t>
            </a:r>
          </a:p>
          <a:p>
            <a:endParaRPr lang="en-US" dirty="0"/>
          </a:p>
          <a:p>
            <a:r>
              <a:rPr lang="en-US" b="1" dirty="0">
                <a:solidFill>
                  <a:srgbClr val="C00000"/>
                </a:solidFill>
              </a:rPr>
              <a:t>Example</a:t>
            </a:r>
          </a:p>
          <a:p>
            <a:r>
              <a:rPr lang="en-US" dirty="0"/>
              <a:t>Use an expression inside the SUM() function:</a:t>
            </a:r>
          </a:p>
          <a:p>
            <a:r>
              <a:rPr lang="en-US" i="1" dirty="0"/>
              <a:t>SELECT SUM(Quantity * 10)</a:t>
            </a:r>
          </a:p>
          <a:p>
            <a:pPr marL="0" indent="0">
              <a:buNone/>
            </a:pPr>
            <a:r>
              <a:rPr lang="en-US" i="1" dirty="0"/>
              <a:t>   FROM </a:t>
            </a:r>
            <a:r>
              <a:rPr lang="en-US" i="1" dirty="0" err="1"/>
              <a:t>OrderDetails</a:t>
            </a:r>
            <a:r>
              <a:rPr lang="en-US" i="1" dirty="0"/>
              <a:t>;</a:t>
            </a:r>
            <a:endParaRPr lang="en-IN" i="1" dirty="0"/>
          </a:p>
        </p:txBody>
      </p:sp>
    </p:spTree>
    <p:extLst>
      <p:ext uri="{BB962C8B-B14F-4D97-AF65-F5344CB8AC3E}">
        <p14:creationId xmlns:p14="http://schemas.microsoft.com/office/powerpoint/2010/main" val="91350375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8BFECD9-A66D-EDA2-EFF6-F74B3DEB0A64}"/>
              </a:ext>
            </a:extLst>
          </p:cNvPr>
          <p:cNvSpPr>
            <a:spLocks noGrp="1"/>
          </p:cNvSpPr>
          <p:nvPr>
            <p:ph sz="half" idx="1"/>
          </p:nvPr>
        </p:nvSpPr>
        <p:spPr>
          <a:xfrm>
            <a:off x="337457" y="435429"/>
            <a:ext cx="5682343" cy="5741534"/>
          </a:xfrm>
        </p:spPr>
        <p:txBody>
          <a:bodyPr>
            <a:normAutofit/>
          </a:bodyPr>
          <a:lstStyle/>
          <a:p>
            <a:r>
              <a:rPr lang="en-US" b="1" dirty="0">
                <a:solidFill>
                  <a:srgbClr val="C00000"/>
                </a:solidFill>
              </a:rPr>
              <a:t>Syntax</a:t>
            </a:r>
          </a:p>
          <a:p>
            <a:r>
              <a:rPr lang="en-US" i="1" dirty="0"/>
              <a:t>SELECT </a:t>
            </a:r>
            <a:r>
              <a:rPr lang="en-US" b="1" i="1" dirty="0">
                <a:solidFill>
                  <a:srgbClr val="C00000"/>
                </a:solidFill>
              </a:rPr>
              <a:t>AVG</a:t>
            </a:r>
            <a:r>
              <a:rPr lang="en-US" i="1" dirty="0"/>
              <a:t>(</a:t>
            </a:r>
            <a:r>
              <a:rPr lang="en-US" i="1" dirty="0" err="1"/>
              <a:t>column_name</a:t>
            </a:r>
            <a:r>
              <a:rPr lang="en-US" i="1" dirty="0"/>
              <a:t>)</a:t>
            </a:r>
          </a:p>
          <a:p>
            <a:pPr marL="0" indent="0">
              <a:buNone/>
            </a:pPr>
            <a:r>
              <a:rPr lang="en-US" i="1" dirty="0"/>
              <a:t>   FROM </a:t>
            </a:r>
            <a:r>
              <a:rPr lang="en-US" i="1" dirty="0" err="1"/>
              <a:t>table_name</a:t>
            </a:r>
            <a:endParaRPr lang="en-US" i="1" dirty="0"/>
          </a:p>
          <a:p>
            <a:pPr marL="0" indent="0">
              <a:buNone/>
            </a:pPr>
            <a:r>
              <a:rPr lang="en-US" i="1" dirty="0"/>
              <a:t>    WHERE condition;</a:t>
            </a:r>
          </a:p>
          <a:p>
            <a:endParaRPr lang="en-US" dirty="0"/>
          </a:p>
          <a:p>
            <a:r>
              <a:rPr lang="en-US" b="1" dirty="0">
                <a:solidFill>
                  <a:srgbClr val="C00000"/>
                </a:solidFill>
              </a:rPr>
              <a:t>Example</a:t>
            </a:r>
          </a:p>
          <a:p>
            <a:r>
              <a:rPr lang="en-US" dirty="0"/>
              <a:t>Return the average price of products in category 1:</a:t>
            </a:r>
          </a:p>
          <a:p>
            <a:r>
              <a:rPr lang="en-US" i="1" dirty="0"/>
              <a:t>SELECT AVG(Price)</a:t>
            </a:r>
          </a:p>
          <a:p>
            <a:pPr marL="0" indent="0">
              <a:buNone/>
            </a:pPr>
            <a:r>
              <a:rPr lang="en-US" i="1" dirty="0"/>
              <a:t>   FROM Products</a:t>
            </a:r>
          </a:p>
          <a:p>
            <a:pPr marL="0" indent="0">
              <a:buNone/>
            </a:pPr>
            <a:r>
              <a:rPr lang="en-US" i="1" dirty="0"/>
              <a:t>   WHERE </a:t>
            </a:r>
            <a:r>
              <a:rPr lang="en-US" i="1" dirty="0" err="1"/>
              <a:t>CategoryID</a:t>
            </a:r>
            <a:r>
              <a:rPr lang="en-US" i="1" dirty="0"/>
              <a:t> = 1;</a:t>
            </a:r>
            <a:endParaRPr lang="en-IN" i="1" dirty="0"/>
          </a:p>
        </p:txBody>
      </p:sp>
      <p:sp>
        <p:nvSpPr>
          <p:cNvPr id="4" name="Content Placeholder 3">
            <a:extLst>
              <a:ext uri="{FF2B5EF4-FFF2-40B4-BE49-F238E27FC236}">
                <a16:creationId xmlns:a16="http://schemas.microsoft.com/office/drawing/2014/main" id="{DDA46AA6-6E70-5964-B36E-25B10CA71A3C}"/>
              </a:ext>
            </a:extLst>
          </p:cNvPr>
          <p:cNvSpPr>
            <a:spLocks noGrp="1"/>
          </p:cNvSpPr>
          <p:nvPr>
            <p:ph sz="half" idx="2"/>
          </p:nvPr>
        </p:nvSpPr>
        <p:spPr>
          <a:xfrm>
            <a:off x="5845629" y="435429"/>
            <a:ext cx="6183085" cy="5741534"/>
          </a:xfrm>
        </p:spPr>
        <p:txBody>
          <a:bodyPr>
            <a:normAutofit/>
          </a:bodyPr>
          <a:lstStyle/>
          <a:p>
            <a:r>
              <a:rPr lang="en-US" b="1" dirty="0">
                <a:solidFill>
                  <a:srgbClr val="C00000"/>
                </a:solidFill>
              </a:rPr>
              <a:t>Example</a:t>
            </a:r>
          </a:p>
          <a:p>
            <a:r>
              <a:rPr lang="en-US" dirty="0"/>
              <a:t>Find the average price of all products:</a:t>
            </a:r>
          </a:p>
          <a:p>
            <a:r>
              <a:rPr lang="en-US" i="1" dirty="0"/>
              <a:t>SELECT AVG(Price)</a:t>
            </a:r>
          </a:p>
          <a:p>
            <a:pPr marL="0" indent="0">
              <a:buNone/>
            </a:pPr>
            <a:r>
              <a:rPr lang="en-US" i="1" dirty="0"/>
              <a:t>    FROM Products;</a:t>
            </a:r>
          </a:p>
          <a:p>
            <a:endParaRPr lang="en-US" dirty="0"/>
          </a:p>
          <a:p>
            <a:r>
              <a:rPr lang="en-US" b="1" dirty="0">
                <a:solidFill>
                  <a:srgbClr val="C00000"/>
                </a:solidFill>
              </a:rPr>
              <a:t>Example</a:t>
            </a:r>
          </a:p>
          <a:p>
            <a:r>
              <a:rPr lang="en-US" dirty="0"/>
              <a:t>Return all products with a higher price than the average price:</a:t>
            </a:r>
          </a:p>
          <a:p>
            <a:r>
              <a:rPr lang="en-US" i="1" dirty="0"/>
              <a:t>SELECT * FROM Products</a:t>
            </a:r>
          </a:p>
          <a:p>
            <a:pPr marL="0" indent="0">
              <a:buNone/>
            </a:pPr>
            <a:r>
              <a:rPr lang="en-US" i="1" dirty="0"/>
              <a:t>    WHERE price &gt; (SELECT AVG(price)    	FROM Products);</a:t>
            </a:r>
            <a:endParaRPr lang="en-IN" i="1" dirty="0"/>
          </a:p>
        </p:txBody>
      </p:sp>
    </p:spTree>
    <p:extLst>
      <p:ext uri="{BB962C8B-B14F-4D97-AF65-F5344CB8AC3E}">
        <p14:creationId xmlns:p14="http://schemas.microsoft.com/office/powerpoint/2010/main" val="95901979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3BB19F-F17D-4509-F26D-2B57803ED9FD}"/>
              </a:ext>
            </a:extLst>
          </p:cNvPr>
          <p:cNvSpPr>
            <a:spLocks noGrp="1"/>
          </p:cNvSpPr>
          <p:nvPr>
            <p:ph type="title"/>
          </p:nvPr>
        </p:nvSpPr>
        <p:spPr>
          <a:xfrm>
            <a:off x="838200" y="123291"/>
            <a:ext cx="10515600" cy="914399"/>
          </a:xfrm>
        </p:spPr>
        <p:txBody>
          <a:bodyPr/>
          <a:lstStyle/>
          <a:p>
            <a:pPr algn="ctr"/>
            <a:r>
              <a:rPr lang="en-IN" b="1" dirty="0">
                <a:solidFill>
                  <a:srgbClr val="C00000"/>
                </a:solidFill>
              </a:rPr>
              <a:t>GROUP BY Clause</a:t>
            </a:r>
          </a:p>
        </p:txBody>
      </p:sp>
      <p:sp>
        <p:nvSpPr>
          <p:cNvPr id="3" name="Content Placeholder 2">
            <a:extLst>
              <a:ext uri="{FF2B5EF4-FFF2-40B4-BE49-F238E27FC236}">
                <a16:creationId xmlns:a16="http://schemas.microsoft.com/office/drawing/2014/main" id="{5AF0A12B-3FCE-33E9-30E4-0A02E5A8B5AD}"/>
              </a:ext>
            </a:extLst>
          </p:cNvPr>
          <p:cNvSpPr>
            <a:spLocks noGrp="1"/>
          </p:cNvSpPr>
          <p:nvPr>
            <p:ph idx="1"/>
          </p:nvPr>
        </p:nvSpPr>
        <p:spPr>
          <a:xfrm>
            <a:off x="698643" y="1150706"/>
            <a:ext cx="10655157" cy="5584003"/>
          </a:xfrm>
        </p:spPr>
        <p:txBody>
          <a:bodyPr>
            <a:normAutofit fontScale="85000" lnSpcReduction="20000"/>
          </a:bodyPr>
          <a:lstStyle/>
          <a:p>
            <a:pPr algn="just"/>
            <a:r>
              <a:rPr lang="en-US" dirty="0"/>
              <a:t>The GROUP BY statement in SQL is used for organizing and summarizing data based on identical values in specified columns. </a:t>
            </a:r>
          </a:p>
          <a:p>
            <a:pPr algn="just"/>
            <a:r>
              <a:rPr lang="en-US" dirty="0"/>
              <a:t>By using the GROUP BY clause, users can apply aggregate functions like SUM, COUNT, AVG, MIN, and MAX to each group, making it easier to perform detailed data analysis.</a:t>
            </a:r>
          </a:p>
          <a:p>
            <a:pPr algn="just"/>
            <a:r>
              <a:rPr lang="en-US" dirty="0"/>
              <a:t>The GROUP BY statement in SQL is used to arrange identical data into groups based on specified columns. </a:t>
            </a:r>
          </a:p>
          <a:p>
            <a:pPr algn="just"/>
            <a:r>
              <a:rPr lang="en-US" dirty="0"/>
              <a:t>If a particular column has the same values in multiple rows, the GROUP BY clause will group these rows together.</a:t>
            </a:r>
          </a:p>
          <a:p>
            <a:pPr algn="just"/>
            <a:r>
              <a:rPr lang="en-US" sz="3300" b="1" dirty="0">
                <a:solidFill>
                  <a:srgbClr val="C00000"/>
                </a:solidFill>
              </a:rPr>
              <a:t>Key Points About GROUP BY:</a:t>
            </a:r>
          </a:p>
          <a:p>
            <a:pPr algn="just"/>
            <a:r>
              <a:rPr lang="en-US" dirty="0"/>
              <a:t>GROUP BY clause is used with the SELECT statement.</a:t>
            </a:r>
          </a:p>
          <a:p>
            <a:pPr algn="just"/>
            <a:r>
              <a:rPr lang="en-US" dirty="0"/>
              <a:t>In the query, the GROUP BY clause is placed after the WHERE clause.</a:t>
            </a:r>
          </a:p>
          <a:p>
            <a:pPr algn="just"/>
            <a:r>
              <a:rPr lang="en-US" dirty="0"/>
              <a:t>In the query, the GROUP BY clause is placed before the ORDER BY clause if used.</a:t>
            </a:r>
          </a:p>
          <a:p>
            <a:pPr algn="just"/>
            <a:r>
              <a:rPr lang="en-US" dirty="0"/>
              <a:t>In the query, the Group BY clause is placed before the Having clause.</a:t>
            </a:r>
          </a:p>
          <a:p>
            <a:pPr algn="just"/>
            <a:r>
              <a:rPr lang="en-US" dirty="0"/>
              <a:t>Place condition in the having clause.</a:t>
            </a:r>
            <a:endParaRPr lang="en-IN" dirty="0"/>
          </a:p>
        </p:txBody>
      </p:sp>
    </p:spTree>
    <p:extLst>
      <p:ext uri="{BB962C8B-B14F-4D97-AF65-F5344CB8AC3E}">
        <p14:creationId xmlns:p14="http://schemas.microsoft.com/office/powerpoint/2010/main" val="109203109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A7B85C1-EC18-5E79-190A-B33271B38ACA}"/>
              </a:ext>
            </a:extLst>
          </p:cNvPr>
          <p:cNvSpPr>
            <a:spLocks noGrp="1"/>
          </p:cNvSpPr>
          <p:nvPr>
            <p:ph idx="1"/>
          </p:nvPr>
        </p:nvSpPr>
        <p:spPr>
          <a:xfrm>
            <a:off x="456183" y="308225"/>
            <a:ext cx="10515600" cy="5334482"/>
          </a:xfrm>
        </p:spPr>
        <p:txBody>
          <a:bodyPr>
            <a:normAutofit/>
          </a:bodyPr>
          <a:lstStyle/>
          <a:p>
            <a:r>
              <a:rPr lang="en-US" b="1" dirty="0">
                <a:solidFill>
                  <a:srgbClr val="C00000"/>
                </a:solidFill>
              </a:rPr>
              <a:t>Syntax:</a:t>
            </a:r>
          </a:p>
          <a:p>
            <a:r>
              <a:rPr lang="en-US" i="1" dirty="0"/>
              <a:t>SELECT column1, </a:t>
            </a:r>
            <a:r>
              <a:rPr lang="en-US" i="1" dirty="0" err="1"/>
              <a:t>function_name</a:t>
            </a:r>
            <a:r>
              <a:rPr lang="en-US" i="1" dirty="0"/>
              <a:t>(column2)</a:t>
            </a:r>
          </a:p>
          <a:p>
            <a:pPr marL="0" indent="0">
              <a:buNone/>
            </a:pPr>
            <a:r>
              <a:rPr lang="en-US" i="1" dirty="0"/>
              <a:t>   FROM </a:t>
            </a:r>
            <a:r>
              <a:rPr lang="en-US" i="1" dirty="0" err="1"/>
              <a:t>table_name</a:t>
            </a:r>
            <a:endParaRPr lang="en-US" i="1" dirty="0"/>
          </a:p>
          <a:p>
            <a:pPr marL="0" indent="0">
              <a:buNone/>
            </a:pPr>
            <a:r>
              <a:rPr lang="en-US" i="1" dirty="0"/>
              <a:t>   GROUP BY column1, column2</a:t>
            </a:r>
          </a:p>
          <a:p>
            <a:pPr marL="0" indent="0">
              <a:buNone/>
            </a:pPr>
            <a:r>
              <a:rPr lang="en-US" b="1" dirty="0">
                <a:solidFill>
                  <a:srgbClr val="C00000"/>
                </a:solidFill>
              </a:rPr>
              <a:t>Example 1 :</a:t>
            </a:r>
            <a:r>
              <a:rPr lang="en-US" dirty="0"/>
              <a:t> Group By Single Column</a:t>
            </a:r>
          </a:p>
          <a:p>
            <a:pPr marL="0" indent="0">
              <a:buNone/>
            </a:pPr>
            <a:r>
              <a:rPr lang="en-US" dirty="0"/>
              <a:t>Query:</a:t>
            </a:r>
          </a:p>
          <a:p>
            <a:pPr marL="0" indent="0">
              <a:buNone/>
            </a:pPr>
            <a:r>
              <a:rPr lang="en-US" i="1" dirty="0"/>
              <a:t>SELECT name, SUM(</a:t>
            </a:r>
            <a:r>
              <a:rPr lang="en-US" i="1" dirty="0" err="1"/>
              <a:t>sal</a:t>
            </a:r>
            <a:r>
              <a:rPr lang="en-US" i="1" dirty="0"/>
              <a:t>) FROM emp </a:t>
            </a:r>
          </a:p>
          <a:p>
            <a:pPr marL="0" indent="0">
              <a:buNone/>
            </a:pPr>
            <a:r>
              <a:rPr lang="en-US" i="1" dirty="0"/>
              <a:t>GROUP BY name;</a:t>
            </a:r>
            <a:endParaRPr lang="en-IN" i="1" dirty="0"/>
          </a:p>
        </p:txBody>
      </p:sp>
      <p:pic>
        <p:nvPicPr>
          <p:cNvPr id="4" name="Picture 3">
            <a:extLst>
              <a:ext uri="{FF2B5EF4-FFF2-40B4-BE49-F238E27FC236}">
                <a16:creationId xmlns:a16="http://schemas.microsoft.com/office/drawing/2014/main" id="{DF62546F-0EBC-7DD0-71D4-C88B3B2D5757}"/>
              </a:ext>
            </a:extLst>
          </p:cNvPr>
          <p:cNvPicPr>
            <a:picLocks noChangeAspect="1"/>
          </p:cNvPicPr>
          <p:nvPr/>
        </p:nvPicPr>
        <p:blipFill>
          <a:blip r:embed="rId2"/>
          <a:stretch>
            <a:fillRect/>
          </a:stretch>
        </p:blipFill>
        <p:spPr>
          <a:xfrm>
            <a:off x="6256962" y="1352176"/>
            <a:ext cx="5234843" cy="3594540"/>
          </a:xfrm>
          <a:prstGeom prst="rect">
            <a:avLst/>
          </a:prstGeom>
        </p:spPr>
      </p:pic>
      <p:pic>
        <p:nvPicPr>
          <p:cNvPr id="5" name="Picture 4">
            <a:extLst>
              <a:ext uri="{FF2B5EF4-FFF2-40B4-BE49-F238E27FC236}">
                <a16:creationId xmlns:a16="http://schemas.microsoft.com/office/drawing/2014/main" id="{E05BC485-EDC2-4268-B290-C8845C64B36F}"/>
              </a:ext>
            </a:extLst>
          </p:cNvPr>
          <p:cNvPicPr>
            <a:picLocks noChangeAspect="1"/>
          </p:cNvPicPr>
          <p:nvPr/>
        </p:nvPicPr>
        <p:blipFill>
          <a:blip r:embed="rId3"/>
          <a:srcRect r="32728"/>
          <a:stretch/>
        </p:blipFill>
        <p:spPr>
          <a:xfrm>
            <a:off x="548650" y="4473038"/>
            <a:ext cx="4424042" cy="2339338"/>
          </a:xfrm>
          <a:prstGeom prst="rect">
            <a:avLst/>
          </a:prstGeom>
        </p:spPr>
      </p:pic>
    </p:spTree>
    <p:extLst>
      <p:ext uri="{BB962C8B-B14F-4D97-AF65-F5344CB8AC3E}">
        <p14:creationId xmlns:p14="http://schemas.microsoft.com/office/powerpoint/2010/main" val="230267154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C450BC5-0BBB-9586-3FEA-A9D9EBD4305B}"/>
              </a:ext>
            </a:extLst>
          </p:cNvPr>
          <p:cNvSpPr>
            <a:spLocks noGrp="1"/>
          </p:cNvSpPr>
          <p:nvPr>
            <p:ph idx="1"/>
          </p:nvPr>
        </p:nvSpPr>
        <p:spPr>
          <a:xfrm>
            <a:off x="626724" y="490403"/>
            <a:ext cx="10603787" cy="5396127"/>
          </a:xfrm>
        </p:spPr>
        <p:txBody>
          <a:bodyPr>
            <a:normAutofit/>
          </a:bodyPr>
          <a:lstStyle/>
          <a:p>
            <a:r>
              <a:rPr lang="en-US" dirty="0">
                <a:solidFill>
                  <a:srgbClr val="C00000"/>
                </a:solidFill>
              </a:rPr>
              <a:t>Example 2 : </a:t>
            </a:r>
            <a:r>
              <a:rPr lang="en-US" dirty="0"/>
              <a:t>Group By Multiple Columns</a:t>
            </a:r>
          </a:p>
          <a:p>
            <a:pPr algn="just"/>
            <a:r>
              <a:rPr lang="en-US" dirty="0"/>
              <a:t>Group by multiple columns is say, for example, GROUP BY column1, column2. This means placing all the rows with the same values of columns column 1 and column 2 in one group. Consider the below query:</a:t>
            </a:r>
          </a:p>
          <a:p>
            <a:r>
              <a:rPr lang="en-US" b="1" dirty="0">
                <a:solidFill>
                  <a:srgbClr val="C00000"/>
                </a:solidFill>
              </a:rPr>
              <a:t>Query:</a:t>
            </a:r>
          </a:p>
          <a:p>
            <a:r>
              <a:rPr lang="en-US" i="1" dirty="0"/>
              <a:t>SELECT SUBJECT, YEAR, Count(*)</a:t>
            </a:r>
          </a:p>
          <a:p>
            <a:pPr marL="0" indent="0">
              <a:buNone/>
            </a:pPr>
            <a:r>
              <a:rPr lang="en-US" i="1" dirty="0"/>
              <a:t>   FROM Student</a:t>
            </a:r>
          </a:p>
          <a:p>
            <a:pPr marL="0" indent="0">
              <a:buNone/>
            </a:pPr>
            <a:r>
              <a:rPr lang="en-US" i="1" dirty="0"/>
              <a:t>   GROUP BY SUBJECT, YEAR;</a:t>
            </a:r>
            <a:endParaRPr lang="en-IN" i="1" dirty="0"/>
          </a:p>
        </p:txBody>
      </p:sp>
      <p:pic>
        <p:nvPicPr>
          <p:cNvPr id="4" name="Picture 3">
            <a:extLst>
              <a:ext uri="{FF2B5EF4-FFF2-40B4-BE49-F238E27FC236}">
                <a16:creationId xmlns:a16="http://schemas.microsoft.com/office/drawing/2014/main" id="{A903819B-4FAA-09B8-5072-E9B1AEE6A885}"/>
              </a:ext>
            </a:extLst>
          </p:cNvPr>
          <p:cNvPicPr>
            <a:picLocks noChangeAspect="1"/>
          </p:cNvPicPr>
          <p:nvPr/>
        </p:nvPicPr>
        <p:blipFill>
          <a:blip r:embed="rId2"/>
          <a:srcRect r="16780"/>
          <a:stretch/>
        </p:blipFill>
        <p:spPr>
          <a:xfrm>
            <a:off x="5621408" y="2457530"/>
            <a:ext cx="6419903" cy="1942940"/>
          </a:xfrm>
          <a:prstGeom prst="rect">
            <a:avLst/>
          </a:prstGeom>
        </p:spPr>
      </p:pic>
      <p:sp>
        <p:nvSpPr>
          <p:cNvPr id="6" name="TextBox 5">
            <a:extLst>
              <a:ext uri="{FF2B5EF4-FFF2-40B4-BE49-F238E27FC236}">
                <a16:creationId xmlns:a16="http://schemas.microsoft.com/office/drawing/2014/main" id="{F1ACBE54-3B32-3D49-70A1-4777D5C231D1}"/>
              </a:ext>
            </a:extLst>
          </p:cNvPr>
          <p:cNvSpPr txBox="1"/>
          <p:nvPr/>
        </p:nvSpPr>
        <p:spPr>
          <a:xfrm>
            <a:off x="5621408" y="4400470"/>
            <a:ext cx="6097712" cy="2308324"/>
          </a:xfrm>
          <a:prstGeom prst="rect">
            <a:avLst/>
          </a:prstGeom>
          <a:noFill/>
        </p:spPr>
        <p:txBody>
          <a:bodyPr wrap="square">
            <a:spAutoFit/>
          </a:bodyPr>
          <a:lstStyle/>
          <a:p>
            <a:pPr algn="just"/>
            <a:r>
              <a:rPr lang="en-US" dirty="0"/>
              <a:t>As we can see in the above output the students with both the same SUBJECT and YEAR are placed in the same group. And those whose only SUBJECT is the same but not YEAR belong to different groups. So here we have grouped the table according to two columns or more than one column. The Grouped subject and years are (English,2) , (Mathematics,1) and (Science,3). The above-mentioned all groups and years are repeated twice.</a:t>
            </a:r>
            <a:endParaRPr lang="en-IN" dirty="0"/>
          </a:p>
        </p:txBody>
      </p:sp>
    </p:spTree>
    <p:extLst>
      <p:ext uri="{BB962C8B-B14F-4D97-AF65-F5344CB8AC3E}">
        <p14:creationId xmlns:p14="http://schemas.microsoft.com/office/powerpoint/2010/main" val="401402106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7530E45-D71A-2F20-C741-107D6FCE19E3}"/>
              </a:ext>
            </a:extLst>
          </p:cNvPr>
          <p:cNvSpPr>
            <a:spLocks noGrp="1"/>
          </p:cNvSpPr>
          <p:nvPr>
            <p:ph type="title"/>
          </p:nvPr>
        </p:nvSpPr>
        <p:spPr>
          <a:xfrm>
            <a:off x="838200" y="365126"/>
            <a:ext cx="10515600" cy="878048"/>
          </a:xfrm>
        </p:spPr>
        <p:txBody>
          <a:bodyPr/>
          <a:lstStyle/>
          <a:p>
            <a:pPr algn="ctr"/>
            <a:r>
              <a:rPr lang="en-IN" b="1" dirty="0">
                <a:solidFill>
                  <a:srgbClr val="C00000"/>
                </a:solidFill>
              </a:rPr>
              <a:t>SQL HAVING Clause</a:t>
            </a:r>
          </a:p>
        </p:txBody>
      </p:sp>
      <p:sp>
        <p:nvSpPr>
          <p:cNvPr id="6" name="Content Placeholder 5">
            <a:extLst>
              <a:ext uri="{FF2B5EF4-FFF2-40B4-BE49-F238E27FC236}">
                <a16:creationId xmlns:a16="http://schemas.microsoft.com/office/drawing/2014/main" id="{813EE061-766D-EE73-3140-3EA85F72EA39}"/>
              </a:ext>
            </a:extLst>
          </p:cNvPr>
          <p:cNvSpPr>
            <a:spLocks noGrp="1"/>
          </p:cNvSpPr>
          <p:nvPr>
            <p:ph idx="1"/>
          </p:nvPr>
        </p:nvSpPr>
        <p:spPr>
          <a:xfrm>
            <a:off x="838200" y="1387011"/>
            <a:ext cx="10515600" cy="4789952"/>
          </a:xfrm>
        </p:spPr>
        <p:txBody>
          <a:bodyPr/>
          <a:lstStyle/>
          <a:p>
            <a:pPr algn="just"/>
            <a:r>
              <a:rPr lang="en-US" dirty="0"/>
              <a:t>The HAVING clause in SQL is used to filter query results based on aggregate functions. Unlike the WHERE clause, which filters individual rows before grouping, the HAVING clause filters groups of data after aggregation.</a:t>
            </a:r>
          </a:p>
          <a:p>
            <a:pPr algn="just"/>
            <a:r>
              <a:rPr lang="en-US" dirty="0"/>
              <a:t>The HAVING clause is used to filter the result of the GROUP BY statement based on the specified conditions. </a:t>
            </a:r>
          </a:p>
          <a:p>
            <a:pPr algn="just"/>
            <a:r>
              <a:rPr lang="en-US" dirty="0"/>
              <a:t>It allows filtering grouped data using Boolean conditions (AND, OR). </a:t>
            </a:r>
          </a:p>
          <a:p>
            <a:pPr algn="just"/>
            <a:r>
              <a:rPr lang="en-US" dirty="0"/>
              <a:t>It was introduced because the WHERE clause cannot be used with aggregate functions.</a:t>
            </a:r>
            <a:endParaRPr lang="en-IN" dirty="0"/>
          </a:p>
        </p:txBody>
      </p:sp>
    </p:spTree>
    <p:extLst>
      <p:ext uri="{BB962C8B-B14F-4D97-AF65-F5344CB8AC3E}">
        <p14:creationId xmlns:p14="http://schemas.microsoft.com/office/powerpoint/2010/main" val="75242989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4BBD9F7-91DD-A9A7-7180-84869286D36B}"/>
              </a:ext>
            </a:extLst>
          </p:cNvPr>
          <p:cNvSpPr>
            <a:spLocks noGrp="1"/>
          </p:cNvSpPr>
          <p:nvPr>
            <p:ph idx="1"/>
          </p:nvPr>
        </p:nvSpPr>
        <p:spPr/>
        <p:txBody>
          <a:bodyPr/>
          <a:lstStyle/>
          <a:p>
            <a:r>
              <a:rPr lang="en-US" b="1" dirty="0">
                <a:solidFill>
                  <a:srgbClr val="C00000"/>
                </a:solidFill>
              </a:rPr>
              <a:t>Syntax:</a:t>
            </a:r>
          </a:p>
          <a:p>
            <a:r>
              <a:rPr lang="en-US" i="1" dirty="0"/>
              <a:t>SELECT </a:t>
            </a:r>
            <a:r>
              <a:rPr lang="en-US" i="1" dirty="0" err="1"/>
              <a:t>column_name</a:t>
            </a:r>
            <a:r>
              <a:rPr lang="en-US" i="1" dirty="0"/>
              <a:t>, AGGREGATE_FUNCTION(</a:t>
            </a:r>
            <a:r>
              <a:rPr lang="en-US" i="1" dirty="0" err="1"/>
              <a:t>column_name</a:t>
            </a:r>
            <a:r>
              <a:rPr lang="en-US" i="1" dirty="0"/>
              <a:t>)</a:t>
            </a:r>
          </a:p>
          <a:p>
            <a:pPr marL="0" indent="0">
              <a:buNone/>
            </a:pPr>
            <a:r>
              <a:rPr lang="en-US" i="1" dirty="0"/>
              <a:t>    FROM </a:t>
            </a:r>
            <a:r>
              <a:rPr lang="en-US" i="1" dirty="0" err="1"/>
              <a:t>table_name</a:t>
            </a:r>
            <a:endParaRPr lang="en-US" i="1" dirty="0"/>
          </a:p>
          <a:p>
            <a:pPr marL="0" indent="0">
              <a:buNone/>
            </a:pPr>
            <a:r>
              <a:rPr lang="en-US" i="1" dirty="0"/>
              <a:t>    GROUP BY </a:t>
            </a:r>
            <a:r>
              <a:rPr lang="en-US" i="1" dirty="0" err="1"/>
              <a:t>column_name</a:t>
            </a:r>
            <a:endParaRPr lang="en-US" i="1" dirty="0"/>
          </a:p>
          <a:p>
            <a:pPr marL="0" indent="0">
              <a:buNone/>
            </a:pPr>
            <a:r>
              <a:rPr lang="en-US" i="1" dirty="0"/>
              <a:t>    HAVING condition;</a:t>
            </a:r>
            <a:endParaRPr lang="en-IN" i="1" dirty="0"/>
          </a:p>
        </p:txBody>
      </p:sp>
    </p:spTree>
    <p:extLst>
      <p:ext uri="{BB962C8B-B14F-4D97-AF65-F5344CB8AC3E}">
        <p14:creationId xmlns:p14="http://schemas.microsoft.com/office/powerpoint/2010/main" val="4234673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42A2861-D1F8-CC11-AFC5-A54D0185B76E}"/>
              </a:ext>
            </a:extLst>
          </p:cNvPr>
          <p:cNvPicPr>
            <a:picLocks noChangeAspect="1"/>
          </p:cNvPicPr>
          <p:nvPr/>
        </p:nvPicPr>
        <p:blipFill>
          <a:blip r:embed="rId2"/>
          <a:stretch>
            <a:fillRect/>
          </a:stretch>
        </p:blipFill>
        <p:spPr>
          <a:xfrm>
            <a:off x="964540" y="360238"/>
            <a:ext cx="8932042" cy="2330098"/>
          </a:xfrm>
          <a:prstGeom prst="rect">
            <a:avLst/>
          </a:prstGeom>
        </p:spPr>
      </p:pic>
      <p:sp>
        <p:nvSpPr>
          <p:cNvPr id="6" name="TextBox 5">
            <a:extLst>
              <a:ext uri="{FF2B5EF4-FFF2-40B4-BE49-F238E27FC236}">
                <a16:creationId xmlns:a16="http://schemas.microsoft.com/office/drawing/2014/main" id="{AE3B66E9-3BCE-25DD-9D43-B7E10B73157F}"/>
              </a:ext>
            </a:extLst>
          </p:cNvPr>
          <p:cNvSpPr txBox="1"/>
          <p:nvPr/>
        </p:nvSpPr>
        <p:spPr>
          <a:xfrm>
            <a:off x="3798870" y="2690336"/>
            <a:ext cx="6097712" cy="1477328"/>
          </a:xfrm>
          <a:prstGeom prst="rect">
            <a:avLst/>
          </a:prstGeom>
          <a:noFill/>
        </p:spPr>
        <p:txBody>
          <a:bodyPr wrap="square">
            <a:spAutoFit/>
          </a:bodyPr>
          <a:lstStyle/>
          <a:p>
            <a:r>
              <a:rPr lang="en-US" dirty="0"/>
              <a:t>Query:</a:t>
            </a:r>
          </a:p>
          <a:p>
            <a:endParaRPr lang="en-US" dirty="0"/>
          </a:p>
          <a:p>
            <a:r>
              <a:rPr lang="en-US" dirty="0"/>
              <a:t>SELECT Department, sum(Salary) as Salary</a:t>
            </a:r>
          </a:p>
          <a:p>
            <a:r>
              <a:rPr lang="en-US" dirty="0"/>
              <a:t>FROM Employee</a:t>
            </a:r>
          </a:p>
          <a:p>
            <a:r>
              <a:rPr lang="en-US" dirty="0"/>
              <a:t>GROUP BY department;</a:t>
            </a:r>
            <a:endParaRPr lang="en-IN" dirty="0"/>
          </a:p>
        </p:txBody>
      </p:sp>
      <p:pic>
        <p:nvPicPr>
          <p:cNvPr id="1026" name="Picture 2" descr="img4">
            <a:extLst>
              <a:ext uri="{FF2B5EF4-FFF2-40B4-BE49-F238E27FC236}">
                <a16:creationId xmlns:a16="http://schemas.microsoft.com/office/drawing/2014/main" id="{F0CC8D1C-FF29-C8A6-4B48-6C53760E5F3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8604" y="4326062"/>
            <a:ext cx="10105053" cy="21717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4220087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85FC301-D8B0-A737-7DD1-ECE30D6D3313}"/>
              </a:ext>
            </a:extLst>
          </p:cNvPr>
          <p:cNvSpPr>
            <a:spLocks noGrp="1"/>
          </p:cNvSpPr>
          <p:nvPr>
            <p:ph idx="1"/>
          </p:nvPr>
        </p:nvSpPr>
        <p:spPr>
          <a:xfrm>
            <a:off x="688369" y="452064"/>
            <a:ext cx="10665431" cy="5724900"/>
          </a:xfrm>
        </p:spPr>
        <p:txBody>
          <a:bodyPr>
            <a:normAutofit/>
          </a:bodyPr>
          <a:lstStyle/>
          <a:p>
            <a:pPr algn="just"/>
            <a:r>
              <a:rPr lang="en-US" b="1" dirty="0">
                <a:solidFill>
                  <a:srgbClr val="C00000"/>
                </a:solidFill>
              </a:rPr>
              <a:t>Example 2:</a:t>
            </a:r>
            <a:r>
              <a:rPr lang="en-US" dirty="0"/>
              <a:t> Using HAVING with Multiple Conditions</a:t>
            </a:r>
          </a:p>
          <a:p>
            <a:pPr algn="just"/>
            <a:r>
              <a:rPr lang="en-US" dirty="0"/>
              <a:t>If we want to find the departments where the total salary is greater than or equal to $50,000, and the average salary is greater than $55,000. We can use the HAVING clause to apply both conditions.</a:t>
            </a:r>
          </a:p>
          <a:p>
            <a:pPr algn="just"/>
            <a:r>
              <a:rPr lang="en-US" b="1" dirty="0">
                <a:solidFill>
                  <a:srgbClr val="C00000"/>
                </a:solidFill>
              </a:rPr>
              <a:t>Query</a:t>
            </a:r>
          </a:p>
          <a:p>
            <a:pPr algn="just"/>
            <a:r>
              <a:rPr lang="en-US" i="1" dirty="0"/>
              <a:t>SELECT Department, SUM(Salary) AS </a:t>
            </a:r>
            <a:r>
              <a:rPr lang="en-US" i="1" dirty="0" err="1"/>
              <a:t>Total_Salary</a:t>
            </a:r>
            <a:r>
              <a:rPr lang="en-US" i="1" dirty="0"/>
              <a:t>, AVG(Salary) AS </a:t>
            </a:r>
            <a:r>
              <a:rPr lang="en-US" i="1" dirty="0" err="1"/>
              <a:t>Average_Salary</a:t>
            </a:r>
            <a:r>
              <a:rPr lang="en-US" i="1" dirty="0"/>
              <a:t>  FROM Employee</a:t>
            </a:r>
          </a:p>
          <a:p>
            <a:pPr marL="0" indent="0" algn="just">
              <a:buNone/>
            </a:pPr>
            <a:r>
              <a:rPr lang="en-US" i="1" dirty="0"/>
              <a:t>   GROUP BY Department</a:t>
            </a:r>
          </a:p>
          <a:p>
            <a:pPr marL="0" indent="0" algn="just">
              <a:buNone/>
            </a:pPr>
            <a:r>
              <a:rPr lang="en-US" i="1" dirty="0"/>
              <a:t>    HAVING SUM(Salary) &gt;= 50000 AND AVG(Salary) &gt; 55000;</a:t>
            </a:r>
            <a:endParaRPr lang="en-IN" i="1" dirty="0"/>
          </a:p>
        </p:txBody>
      </p:sp>
      <p:pic>
        <p:nvPicPr>
          <p:cNvPr id="5" name="Picture 4">
            <a:extLst>
              <a:ext uri="{FF2B5EF4-FFF2-40B4-BE49-F238E27FC236}">
                <a16:creationId xmlns:a16="http://schemas.microsoft.com/office/drawing/2014/main" id="{073B5CF6-3ED0-B792-6E98-1F2E7F938CEF}"/>
              </a:ext>
            </a:extLst>
          </p:cNvPr>
          <p:cNvPicPr>
            <a:picLocks noChangeAspect="1"/>
          </p:cNvPicPr>
          <p:nvPr/>
        </p:nvPicPr>
        <p:blipFill>
          <a:blip r:embed="rId3"/>
          <a:stretch>
            <a:fillRect/>
          </a:stretch>
        </p:blipFill>
        <p:spPr>
          <a:xfrm>
            <a:off x="2948682" y="4639510"/>
            <a:ext cx="4940799" cy="2010076"/>
          </a:xfrm>
          <a:prstGeom prst="rect">
            <a:avLst/>
          </a:prstGeom>
        </p:spPr>
      </p:pic>
    </p:spTree>
    <p:extLst>
      <p:ext uri="{BB962C8B-B14F-4D97-AF65-F5344CB8AC3E}">
        <p14:creationId xmlns:p14="http://schemas.microsoft.com/office/powerpoint/2010/main" val="350662945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6DE5F9F-4EE4-9291-CD4D-FE0A2217E8E4}"/>
              </a:ext>
            </a:extLst>
          </p:cNvPr>
          <p:cNvSpPr>
            <a:spLocks noGrp="1"/>
          </p:cNvSpPr>
          <p:nvPr>
            <p:ph idx="1"/>
          </p:nvPr>
        </p:nvSpPr>
        <p:spPr>
          <a:xfrm>
            <a:off x="565079" y="513708"/>
            <a:ext cx="10788721" cy="5663255"/>
          </a:xfrm>
        </p:spPr>
        <p:txBody>
          <a:bodyPr/>
          <a:lstStyle/>
          <a:p>
            <a:pPr algn="just"/>
            <a:r>
              <a:rPr lang="en-US" b="1" dirty="0">
                <a:solidFill>
                  <a:srgbClr val="C00000"/>
                </a:solidFill>
              </a:rPr>
              <a:t>Example: </a:t>
            </a:r>
            <a:r>
              <a:rPr lang="en-US" dirty="0"/>
              <a:t>Now if we need to display the departments where the sum of salaries is 50,000 or more. In this condition, we will use the HAVING Clause.</a:t>
            </a:r>
          </a:p>
          <a:p>
            <a:r>
              <a:rPr lang="en-US" b="1" dirty="0">
                <a:solidFill>
                  <a:srgbClr val="C00000"/>
                </a:solidFill>
              </a:rPr>
              <a:t>Query:</a:t>
            </a:r>
          </a:p>
          <a:p>
            <a:r>
              <a:rPr lang="en-US" i="1" dirty="0"/>
              <a:t>SELECT Department, sum(Salary) as Salary</a:t>
            </a:r>
          </a:p>
          <a:p>
            <a:pPr marL="0" indent="0">
              <a:buNone/>
            </a:pPr>
            <a:r>
              <a:rPr lang="en-US" i="1" dirty="0"/>
              <a:t>   FROM Employee</a:t>
            </a:r>
          </a:p>
          <a:p>
            <a:pPr marL="0" indent="0">
              <a:buNone/>
            </a:pPr>
            <a:r>
              <a:rPr lang="en-US" i="1" dirty="0"/>
              <a:t>   GROUP BY department</a:t>
            </a:r>
          </a:p>
          <a:p>
            <a:pPr marL="0" indent="0">
              <a:buNone/>
            </a:pPr>
            <a:r>
              <a:rPr lang="en-US" i="1" dirty="0"/>
              <a:t>   HAVING SUM(Salary) &gt;= 50000; </a:t>
            </a:r>
            <a:endParaRPr lang="en-IN" i="1" dirty="0"/>
          </a:p>
        </p:txBody>
      </p:sp>
      <p:pic>
        <p:nvPicPr>
          <p:cNvPr id="4" name="Picture 3">
            <a:extLst>
              <a:ext uri="{FF2B5EF4-FFF2-40B4-BE49-F238E27FC236}">
                <a16:creationId xmlns:a16="http://schemas.microsoft.com/office/drawing/2014/main" id="{B64659BF-65A5-939C-2D48-7D8A724A4B8B}"/>
              </a:ext>
            </a:extLst>
          </p:cNvPr>
          <p:cNvPicPr>
            <a:picLocks noChangeAspect="1"/>
          </p:cNvPicPr>
          <p:nvPr/>
        </p:nvPicPr>
        <p:blipFill>
          <a:blip r:embed="rId2"/>
          <a:stretch>
            <a:fillRect/>
          </a:stretch>
        </p:blipFill>
        <p:spPr>
          <a:xfrm>
            <a:off x="1654138" y="4563117"/>
            <a:ext cx="9529451" cy="1971247"/>
          </a:xfrm>
          <a:prstGeom prst="rect">
            <a:avLst/>
          </a:prstGeom>
        </p:spPr>
      </p:pic>
    </p:spTree>
    <p:extLst>
      <p:ext uri="{BB962C8B-B14F-4D97-AF65-F5344CB8AC3E}">
        <p14:creationId xmlns:p14="http://schemas.microsoft.com/office/powerpoint/2010/main" val="5886970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8BB3718-9C29-609D-18AC-50099C555EEA}"/>
              </a:ext>
            </a:extLst>
          </p:cNvPr>
          <p:cNvSpPr>
            <a:spLocks noGrp="1"/>
          </p:cNvSpPr>
          <p:nvPr>
            <p:ph type="title"/>
          </p:nvPr>
        </p:nvSpPr>
        <p:spPr>
          <a:xfrm>
            <a:off x="936172" y="270328"/>
            <a:ext cx="10515600" cy="821417"/>
          </a:xfrm>
        </p:spPr>
        <p:txBody>
          <a:bodyPr>
            <a:normAutofit fontScale="90000"/>
          </a:bodyPr>
          <a:lstStyle/>
          <a:p>
            <a:pPr algn="ctr"/>
            <a:r>
              <a:rPr lang="en-IN" sz="4900" b="1" dirty="0">
                <a:solidFill>
                  <a:srgbClr val="C00000"/>
                </a:solidFill>
              </a:rPr>
              <a:t>Scalar Functions</a:t>
            </a:r>
            <a:br>
              <a:rPr lang="en-IN" dirty="0"/>
            </a:br>
            <a:endParaRPr lang="en-IN" dirty="0"/>
          </a:p>
        </p:txBody>
      </p:sp>
      <p:sp>
        <p:nvSpPr>
          <p:cNvPr id="6" name="Content Placeholder 5">
            <a:extLst>
              <a:ext uri="{FF2B5EF4-FFF2-40B4-BE49-F238E27FC236}">
                <a16:creationId xmlns:a16="http://schemas.microsoft.com/office/drawing/2014/main" id="{F2E90ED1-8138-0F6B-7BB0-29CF2ACA98ED}"/>
              </a:ext>
            </a:extLst>
          </p:cNvPr>
          <p:cNvSpPr>
            <a:spLocks noGrp="1"/>
          </p:cNvSpPr>
          <p:nvPr>
            <p:ph idx="1"/>
          </p:nvPr>
        </p:nvSpPr>
        <p:spPr>
          <a:xfrm>
            <a:off x="936172" y="859971"/>
            <a:ext cx="10417628" cy="5316992"/>
          </a:xfrm>
        </p:spPr>
        <p:txBody>
          <a:bodyPr>
            <a:normAutofit/>
          </a:bodyPr>
          <a:lstStyle/>
          <a:p>
            <a:pPr algn="just"/>
            <a:r>
              <a:rPr lang="en-US" dirty="0"/>
              <a:t>Scalar functions are also used to return a single value after performing data operation.</a:t>
            </a:r>
          </a:p>
          <a:p>
            <a:pPr algn="just"/>
            <a:r>
              <a:rPr lang="en-US" dirty="0"/>
              <a:t>Scalar functions are used to perform operations on individual values in a column and return a single value for each row in the result set. </a:t>
            </a:r>
          </a:p>
          <a:p>
            <a:pPr algn="just"/>
            <a:r>
              <a:rPr lang="en-US" dirty="0"/>
              <a:t>These functions can be used to manipulate strings, numbers, and dates, among other data types.</a:t>
            </a:r>
          </a:p>
          <a:p>
            <a:pPr algn="just"/>
            <a:r>
              <a:rPr lang="en-US" dirty="0"/>
              <a:t>The most common Scalar Functions are:</a:t>
            </a:r>
          </a:p>
          <a:p>
            <a:pPr algn="just"/>
            <a:r>
              <a:rPr lang="en-US" dirty="0"/>
              <a:t>UCASE()         ROUND()          </a:t>
            </a:r>
          </a:p>
          <a:p>
            <a:pPr algn="just"/>
            <a:r>
              <a:rPr lang="en-US" dirty="0"/>
              <a:t>LCASE()          NOW()</a:t>
            </a:r>
          </a:p>
          <a:p>
            <a:pPr algn="just"/>
            <a:r>
              <a:rPr lang="en-US" dirty="0"/>
              <a:t>MID()             FORMAT()</a:t>
            </a:r>
          </a:p>
          <a:p>
            <a:pPr algn="just"/>
            <a:r>
              <a:rPr lang="en-US" dirty="0"/>
              <a:t>LENGTH()</a:t>
            </a:r>
          </a:p>
        </p:txBody>
      </p:sp>
    </p:spTree>
    <p:extLst>
      <p:ext uri="{BB962C8B-B14F-4D97-AF65-F5344CB8AC3E}">
        <p14:creationId xmlns:p14="http://schemas.microsoft.com/office/powerpoint/2010/main" val="182461142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0F69F72-AF25-966F-045A-DEA3FA0D9936}"/>
              </a:ext>
            </a:extLst>
          </p:cNvPr>
          <p:cNvSpPr>
            <a:spLocks noGrp="1"/>
          </p:cNvSpPr>
          <p:nvPr>
            <p:ph idx="1"/>
          </p:nvPr>
        </p:nvSpPr>
        <p:spPr>
          <a:xfrm>
            <a:off x="642257" y="272142"/>
            <a:ext cx="10711543" cy="6281057"/>
          </a:xfrm>
        </p:spPr>
        <p:txBody>
          <a:bodyPr>
            <a:normAutofit fontScale="92500" lnSpcReduction="10000"/>
          </a:bodyPr>
          <a:lstStyle/>
          <a:p>
            <a:pPr marL="0" indent="0">
              <a:buNone/>
            </a:pPr>
            <a:r>
              <a:rPr lang="en-US" b="1" dirty="0">
                <a:solidFill>
                  <a:srgbClr val="C00000"/>
                </a:solidFill>
              </a:rPr>
              <a:t>1. UCASE()</a:t>
            </a:r>
          </a:p>
          <a:p>
            <a:pPr algn="just"/>
            <a:r>
              <a:rPr lang="en-US" dirty="0"/>
              <a:t>The UCASE() or the upper case function changes the case of the string to uppercase. An individual string or a column can be passed as the parameter to the function.</a:t>
            </a:r>
          </a:p>
          <a:p>
            <a:pPr algn="just"/>
            <a:r>
              <a:rPr lang="en-US" b="1" dirty="0">
                <a:solidFill>
                  <a:srgbClr val="C00000"/>
                </a:solidFill>
              </a:rPr>
              <a:t>Syntax:</a:t>
            </a:r>
          </a:p>
          <a:p>
            <a:pPr algn="just"/>
            <a:r>
              <a:rPr lang="en-US" i="1" dirty="0"/>
              <a:t>SELECT UCASE(string); </a:t>
            </a:r>
          </a:p>
          <a:p>
            <a:pPr marL="0" indent="0" algn="just">
              <a:buNone/>
            </a:pPr>
            <a:r>
              <a:rPr lang="en-US" dirty="0"/>
              <a:t>                         OR</a:t>
            </a:r>
          </a:p>
          <a:p>
            <a:pPr algn="just"/>
            <a:r>
              <a:rPr lang="en-US" i="1" dirty="0"/>
              <a:t>SELECT UCASE(</a:t>
            </a:r>
            <a:r>
              <a:rPr lang="en-US" i="1" dirty="0" err="1"/>
              <a:t>column_name</a:t>
            </a:r>
            <a:r>
              <a:rPr lang="en-US" i="1" dirty="0"/>
              <a:t>) FROM </a:t>
            </a:r>
            <a:r>
              <a:rPr lang="en-US" i="1" dirty="0" err="1"/>
              <a:t>table_name</a:t>
            </a:r>
            <a:r>
              <a:rPr lang="en-US" i="1" dirty="0"/>
              <a:t>; </a:t>
            </a:r>
          </a:p>
          <a:p>
            <a:pPr algn="just"/>
            <a:r>
              <a:rPr lang="en-US" b="1" dirty="0">
                <a:solidFill>
                  <a:srgbClr val="C00000"/>
                </a:solidFill>
              </a:rPr>
              <a:t>Example:</a:t>
            </a:r>
          </a:p>
          <a:p>
            <a:pPr algn="just"/>
            <a:r>
              <a:rPr lang="en-US" i="1" dirty="0"/>
              <a:t>SELECT UCASE('tree'); </a:t>
            </a:r>
          </a:p>
          <a:p>
            <a:pPr algn="just"/>
            <a:r>
              <a:rPr lang="en-US" dirty="0">
                <a:solidFill>
                  <a:srgbClr val="C00000"/>
                </a:solidFill>
              </a:rPr>
              <a:t>Output: </a:t>
            </a:r>
            <a:r>
              <a:rPr lang="en-US" dirty="0"/>
              <a:t>TREE</a:t>
            </a:r>
          </a:p>
          <a:p>
            <a:pPr algn="just"/>
            <a:endParaRPr lang="en-US" dirty="0"/>
          </a:p>
          <a:p>
            <a:pPr algn="just"/>
            <a:r>
              <a:rPr lang="en-US" dirty="0"/>
              <a:t>Using UCASE(), the case of the string has been changed to uppercase.</a:t>
            </a:r>
          </a:p>
          <a:p>
            <a:pPr algn="just"/>
            <a:r>
              <a:rPr lang="en-US" dirty="0"/>
              <a:t>tree -&gt; TREE</a:t>
            </a:r>
            <a:endParaRPr lang="en-IN" dirty="0"/>
          </a:p>
        </p:txBody>
      </p:sp>
    </p:spTree>
    <p:extLst>
      <p:ext uri="{BB962C8B-B14F-4D97-AF65-F5344CB8AC3E}">
        <p14:creationId xmlns:p14="http://schemas.microsoft.com/office/powerpoint/2010/main" val="312502293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FD8E6B6-AD04-02E3-6570-A70E96E24412}"/>
              </a:ext>
            </a:extLst>
          </p:cNvPr>
          <p:cNvSpPr>
            <a:spLocks noGrp="1"/>
          </p:cNvSpPr>
          <p:nvPr>
            <p:ph idx="1"/>
          </p:nvPr>
        </p:nvSpPr>
        <p:spPr>
          <a:xfrm>
            <a:off x="685801" y="468086"/>
            <a:ext cx="10668000" cy="6096000"/>
          </a:xfrm>
        </p:spPr>
        <p:txBody>
          <a:bodyPr>
            <a:normAutofit fontScale="92500" lnSpcReduction="10000"/>
          </a:bodyPr>
          <a:lstStyle/>
          <a:p>
            <a:pPr marL="0" indent="0">
              <a:buNone/>
            </a:pPr>
            <a:r>
              <a:rPr lang="en-US" sz="3000" b="1" dirty="0">
                <a:solidFill>
                  <a:srgbClr val="C00000"/>
                </a:solidFill>
              </a:rPr>
              <a:t>2. LCASE()</a:t>
            </a:r>
          </a:p>
          <a:p>
            <a:pPr algn="just"/>
            <a:r>
              <a:rPr lang="en-US" dirty="0"/>
              <a:t>The LCASE() or the lowercase function changes the case of the string to lowercase. Like UCASE(), any number of strings can be passed as a parameter to the LCASE() function.</a:t>
            </a:r>
          </a:p>
          <a:p>
            <a:pPr algn="just"/>
            <a:r>
              <a:rPr lang="en-US" b="1" dirty="0">
                <a:solidFill>
                  <a:srgbClr val="C00000"/>
                </a:solidFill>
              </a:rPr>
              <a:t>Syntax:</a:t>
            </a:r>
          </a:p>
          <a:p>
            <a:pPr algn="just"/>
            <a:r>
              <a:rPr lang="en-US" i="1" dirty="0"/>
              <a:t>SELECT LCASE(string); </a:t>
            </a:r>
          </a:p>
          <a:p>
            <a:pPr marL="0" indent="0" algn="just">
              <a:buNone/>
            </a:pPr>
            <a:r>
              <a:rPr lang="en-US" dirty="0"/>
              <a:t>                        OR</a:t>
            </a:r>
          </a:p>
          <a:p>
            <a:pPr algn="just"/>
            <a:r>
              <a:rPr lang="en-US" i="1" dirty="0"/>
              <a:t>SELECT LCASE(</a:t>
            </a:r>
            <a:r>
              <a:rPr lang="en-US" i="1" dirty="0" err="1"/>
              <a:t>column_name</a:t>
            </a:r>
            <a:r>
              <a:rPr lang="en-US" i="1" dirty="0"/>
              <a:t>) FROM </a:t>
            </a:r>
            <a:r>
              <a:rPr lang="en-US" i="1" dirty="0" err="1"/>
              <a:t>table_name</a:t>
            </a:r>
            <a:r>
              <a:rPr lang="en-US" i="1" dirty="0"/>
              <a:t>; </a:t>
            </a:r>
          </a:p>
          <a:p>
            <a:pPr algn="just"/>
            <a:r>
              <a:rPr lang="en-US" b="1" dirty="0">
                <a:solidFill>
                  <a:srgbClr val="C00000"/>
                </a:solidFill>
              </a:rPr>
              <a:t>Example:</a:t>
            </a:r>
          </a:p>
          <a:p>
            <a:pPr algn="just"/>
            <a:r>
              <a:rPr lang="en-US" i="1" dirty="0"/>
              <a:t>SELECT LCASE('</a:t>
            </a:r>
            <a:r>
              <a:rPr lang="en-US" i="1" dirty="0" err="1"/>
              <a:t>HeLLOWorld</a:t>
            </a:r>
            <a:r>
              <a:rPr lang="en-US" i="1" dirty="0"/>
              <a:t>'); </a:t>
            </a:r>
          </a:p>
          <a:p>
            <a:pPr algn="just"/>
            <a:r>
              <a:rPr lang="en-US" dirty="0">
                <a:solidFill>
                  <a:srgbClr val="C00000"/>
                </a:solidFill>
              </a:rPr>
              <a:t>Output:  </a:t>
            </a:r>
            <a:r>
              <a:rPr lang="en-US" dirty="0" err="1"/>
              <a:t>helloworld</a:t>
            </a:r>
            <a:endParaRPr lang="en-US" dirty="0"/>
          </a:p>
          <a:p>
            <a:pPr algn="just"/>
            <a:r>
              <a:rPr lang="en-US" dirty="0" err="1">
                <a:solidFill>
                  <a:srgbClr val="C00000"/>
                </a:solidFill>
              </a:rPr>
              <a:t>Explaination</a:t>
            </a:r>
            <a:r>
              <a:rPr lang="en-US" dirty="0">
                <a:solidFill>
                  <a:srgbClr val="C00000"/>
                </a:solidFill>
              </a:rPr>
              <a:t>:</a:t>
            </a:r>
            <a:r>
              <a:rPr lang="en-US" dirty="0"/>
              <a:t> Here, the case of the letters is changed to lowercase using the LCASE() function.</a:t>
            </a:r>
          </a:p>
          <a:p>
            <a:pPr algn="just"/>
            <a:r>
              <a:rPr lang="en-US" dirty="0" err="1"/>
              <a:t>HeLLOWorld</a:t>
            </a:r>
            <a:r>
              <a:rPr lang="en-US" dirty="0"/>
              <a:t> -&gt; </a:t>
            </a:r>
            <a:r>
              <a:rPr lang="en-US" dirty="0" err="1"/>
              <a:t>helloworld</a:t>
            </a:r>
            <a:endParaRPr lang="en-IN" dirty="0"/>
          </a:p>
        </p:txBody>
      </p:sp>
    </p:spTree>
    <p:extLst>
      <p:ext uri="{BB962C8B-B14F-4D97-AF65-F5344CB8AC3E}">
        <p14:creationId xmlns:p14="http://schemas.microsoft.com/office/powerpoint/2010/main" val="48718140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548EEFB-F5D3-93EB-4E66-3AA06C563E15}"/>
              </a:ext>
            </a:extLst>
          </p:cNvPr>
          <p:cNvSpPr>
            <a:spLocks noGrp="1"/>
          </p:cNvSpPr>
          <p:nvPr>
            <p:ph idx="1"/>
          </p:nvPr>
        </p:nvSpPr>
        <p:spPr>
          <a:xfrm>
            <a:off x="620486" y="283029"/>
            <a:ext cx="10733314" cy="5893934"/>
          </a:xfrm>
        </p:spPr>
        <p:txBody>
          <a:bodyPr>
            <a:normAutofit/>
          </a:bodyPr>
          <a:lstStyle/>
          <a:p>
            <a:pPr marL="0" indent="0">
              <a:buNone/>
            </a:pPr>
            <a:r>
              <a:rPr lang="en-US" b="1" dirty="0">
                <a:solidFill>
                  <a:srgbClr val="C00000"/>
                </a:solidFill>
              </a:rPr>
              <a:t>3. MID()</a:t>
            </a:r>
          </a:p>
          <a:p>
            <a:pPr algn="just"/>
            <a:r>
              <a:rPr lang="en-US" dirty="0"/>
              <a:t>The MID() function is used to extract substrings from the string passed as a parameter or from the table's column, which is of string datatype.</a:t>
            </a:r>
          </a:p>
          <a:p>
            <a:pPr algn="just"/>
            <a:r>
              <a:rPr lang="en-US" b="1" dirty="0">
                <a:solidFill>
                  <a:srgbClr val="C00000"/>
                </a:solidFill>
              </a:rPr>
              <a:t>Syntax:</a:t>
            </a:r>
          </a:p>
          <a:p>
            <a:pPr algn="just"/>
            <a:r>
              <a:rPr lang="en-US" i="1" dirty="0"/>
              <a:t>SELECT MID(string, start, length); </a:t>
            </a:r>
          </a:p>
          <a:p>
            <a:pPr marL="0" indent="0" algn="just">
              <a:buNone/>
            </a:pPr>
            <a:r>
              <a:rPr lang="en-US" dirty="0"/>
              <a:t>                                 OR</a:t>
            </a:r>
          </a:p>
          <a:p>
            <a:pPr algn="just"/>
            <a:r>
              <a:rPr lang="en-US" i="1" dirty="0"/>
              <a:t>SELECT MID(</a:t>
            </a:r>
            <a:r>
              <a:rPr lang="en-US" i="1" dirty="0" err="1"/>
              <a:t>column_name</a:t>
            </a:r>
            <a:r>
              <a:rPr lang="en-US" i="1" dirty="0"/>
              <a:t>, start, length) FROM </a:t>
            </a:r>
            <a:r>
              <a:rPr lang="en-US" i="1" dirty="0" err="1"/>
              <a:t>table_name</a:t>
            </a:r>
            <a:r>
              <a:rPr lang="en-US" i="1" dirty="0"/>
              <a:t>; </a:t>
            </a:r>
          </a:p>
          <a:p>
            <a:pPr algn="just"/>
            <a:r>
              <a:rPr lang="en-US" dirty="0"/>
              <a:t>Where, string/</a:t>
            </a:r>
            <a:r>
              <a:rPr lang="en-US" dirty="0" err="1"/>
              <a:t>column_name</a:t>
            </a:r>
            <a:r>
              <a:rPr lang="en-US" dirty="0"/>
              <a:t> is full of the string from which the substrings need to be extracted. start refers to the integer value that denotes the start position, starting from 1. length is the integer value that denotes the length of the substring to be extracted from the main string starting from start. Length is an optional parameter. If not stated, the whole string after the start position will be extracted as result.</a:t>
            </a:r>
            <a:endParaRPr lang="en-IN" dirty="0"/>
          </a:p>
        </p:txBody>
      </p:sp>
    </p:spTree>
    <p:extLst>
      <p:ext uri="{BB962C8B-B14F-4D97-AF65-F5344CB8AC3E}">
        <p14:creationId xmlns:p14="http://schemas.microsoft.com/office/powerpoint/2010/main" val="206591408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5CF800A-E767-185A-049E-1018685C3FD7}"/>
              </a:ext>
            </a:extLst>
          </p:cNvPr>
          <p:cNvSpPr>
            <a:spLocks noGrp="1"/>
          </p:cNvSpPr>
          <p:nvPr>
            <p:ph idx="1"/>
          </p:nvPr>
        </p:nvSpPr>
        <p:spPr>
          <a:xfrm>
            <a:off x="696686" y="533400"/>
            <a:ext cx="10657114" cy="5643563"/>
          </a:xfrm>
        </p:spPr>
        <p:txBody>
          <a:bodyPr>
            <a:normAutofit/>
          </a:bodyPr>
          <a:lstStyle/>
          <a:p>
            <a:r>
              <a:rPr lang="en-US" sz="3200" b="1" dirty="0">
                <a:solidFill>
                  <a:srgbClr val="C00000"/>
                </a:solidFill>
              </a:rPr>
              <a:t>Example:</a:t>
            </a:r>
            <a:endParaRPr lang="en-US" sz="3200" dirty="0"/>
          </a:p>
          <a:p>
            <a:r>
              <a:rPr lang="en-US" i="1" dirty="0"/>
              <a:t>SELECT MID('Worlds of Wonder', 11, 6); </a:t>
            </a:r>
          </a:p>
          <a:p>
            <a:r>
              <a:rPr lang="en-US" b="1" dirty="0">
                <a:solidFill>
                  <a:srgbClr val="C00000"/>
                </a:solidFill>
              </a:rPr>
              <a:t>Output:  </a:t>
            </a:r>
            <a:r>
              <a:rPr lang="en-US" i="1" dirty="0"/>
              <a:t>Wonder</a:t>
            </a:r>
          </a:p>
          <a:p>
            <a:endParaRPr lang="en-US" dirty="0"/>
          </a:p>
          <a:p>
            <a:r>
              <a:rPr lang="en-US" b="1" dirty="0">
                <a:solidFill>
                  <a:srgbClr val="C00000"/>
                </a:solidFill>
              </a:rPr>
              <a:t>Explanation:</a:t>
            </a:r>
            <a:r>
              <a:rPr lang="en-US" dirty="0"/>
              <a:t> In the above example, a substring has been extracted from the string.</a:t>
            </a:r>
          </a:p>
          <a:p>
            <a:r>
              <a:rPr lang="en-US" dirty="0"/>
              <a:t>start = 11, means the extraction would start from 11th </a:t>
            </a:r>
            <a:r>
              <a:rPr lang="en-US" dirty="0" err="1"/>
              <a:t>position,i.e</a:t>
            </a:r>
            <a:r>
              <a:rPr lang="en-US" dirty="0"/>
              <a:t>., W length = 6, 6 letters would be extracted out.</a:t>
            </a:r>
          </a:p>
          <a:p>
            <a:r>
              <a:rPr lang="en-US" dirty="0"/>
              <a:t>As a result, 'Wonder' is returned.</a:t>
            </a:r>
            <a:endParaRPr lang="en-IN" dirty="0"/>
          </a:p>
        </p:txBody>
      </p:sp>
    </p:spTree>
    <p:extLst>
      <p:ext uri="{BB962C8B-B14F-4D97-AF65-F5344CB8AC3E}">
        <p14:creationId xmlns:p14="http://schemas.microsoft.com/office/powerpoint/2010/main" val="225992953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4EC9207-D507-DCE3-DED6-F1C8B4299AA1}"/>
              </a:ext>
            </a:extLst>
          </p:cNvPr>
          <p:cNvSpPr>
            <a:spLocks noGrp="1"/>
          </p:cNvSpPr>
          <p:nvPr>
            <p:ph idx="1"/>
          </p:nvPr>
        </p:nvSpPr>
        <p:spPr>
          <a:xfrm>
            <a:off x="653143" y="511629"/>
            <a:ext cx="10700657" cy="5665334"/>
          </a:xfrm>
        </p:spPr>
        <p:txBody>
          <a:bodyPr>
            <a:normAutofit lnSpcReduction="10000"/>
          </a:bodyPr>
          <a:lstStyle/>
          <a:p>
            <a:pPr marL="0" indent="0">
              <a:buNone/>
            </a:pPr>
            <a:r>
              <a:rPr lang="en-US" sz="3000" b="1" dirty="0">
                <a:solidFill>
                  <a:srgbClr val="C00000"/>
                </a:solidFill>
              </a:rPr>
              <a:t>4. LENGTH()</a:t>
            </a:r>
          </a:p>
          <a:p>
            <a:pPr algn="just"/>
            <a:r>
              <a:rPr lang="en-US" dirty="0"/>
              <a:t>The LENGTH() function returns the length of the string passed as a parameter.</a:t>
            </a:r>
          </a:p>
          <a:p>
            <a:pPr algn="just"/>
            <a:r>
              <a:rPr lang="en-US" b="1" dirty="0">
                <a:solidFill>
                  <a:srgbClr val="C00000"/>
                </a:solidFill>
              </a:rPr>
              <a:t>Syntax:</a:t>
            </a:r>
          </a:p>
          <a:p>
            <a:pPr algn="just"/>
            <a:r>
              <a:rPr lang="en-US" i="1" dirty="0"/>
              <a:t>SELECT LENGTH(string); </a:t>
            </a:r>
          </a:p>
          <a:p>
            <a:pPr marL="0" indent="0" algn="just">
              <a:buNone/>
            </a:pPr>
            <a:r>
              <a:rPr lang="en-US" dirty="0"/>
              <a:t>                          OR</a:t>
            </a:r>
          </a:p>
          <a:p>
            <a:pPr algn="just"/>
            <a:r>
              <a:rPr lang="en-US" i="1" dirty="0"/>
              <a:t>SELECT LENGTH(</a:t>
            </a:r>
            <a:r>
              <a:rPr lang="en-US" i="1" dirty="0" err="1"/>
              <a:t>column_name</a:t>
            </a:r>
            <a:r>
              <a:rPr lang="en-US" i="1" dirty="0"/>
              <a:t>) FROM </a:t>
            </a:r>
            <a:r>
              <a:rPr lang="en-US" i="1" dirty="0" err="1"/>
              <a:t>table_name</a:t>
            </a:r>
            <a:r>
              <a:rPr lang="en-US" i="1" dirty="0"/>
              <a:t>; </a:t>
            </a:r>
          </a:p>
          <a:p>
            <a:pPr algn="just"/>
            <a:r>
              <a:rPr lang="en-US" b="1" dirty="0">
                <a:solidFill>
                  <a:srgbClr val="C00000"/>
                </a:solidFill>
              </a:rPr>
              <a:t>Example:</a:t>
            </a:r>
          </a:p>
          <a:p>
            <a:pPr algn="just"/>
            <a:r>
              <a:rPr lang="en-US" dirty="0"/>
              <a:t>SELECT LENGTH('sunshine'); </a:t>
            </a:r>
          </a:p>
          <a:p>
            <a:pPr algn="just"/>
            <a:r>
              <a:rPr lang="en-US" b="1" dirty="0">
                <a:solidFill>
                  <a:srgbClr val="C00000"/>
                </a:solidFill>
              </a:rPr>
              <a:t>Output:  </a:t>
            </a:r>
            <a:r>
              <a:rPr lang="en-US" dirty="0"/>
              <a:t>8</a:t>
            </a:r>
          </a:p>
          <a:p>
            <a:pPr algn="just"/>
            <a:r>
              <a:rPr lang="en-US" dirty="0"/>
              <a:t>using LENGTH(), the length of the string provided is returned. Here, the string is 'sunshine', 8 letter word. Thereby, 8 is returned.</a:t>
            </a:r>
            <a:endParaRPr lang="en-IN" dirty="0"/>
          </a:p>
        </p:txBody>
      </p:sp>
    </p:spTree>
    <p:extLst>
      <p:ext uri="{BB962C8B-B14F-4D97-AF65-F5344CB8AC3E}">
        <p14:creationId xmlns:p14="http://schemas.microsoft.com/office/powerpoint/2010/main" val="57101441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218FC16-1490-4111-C7D5-FEDAD16DC55B}"/>
              </a:ext>
            </a:extLst>
          </p:cNvPr>
          <p:cNvSpPr>
            <a:spLocks noGrp="1"/>
          </p:cNvSpPr>
          <p:nvPr>
            <p:ph idx="1"/>
          </p:nvPr>
        </p:nvSpPr>
        <p:spPr>
          <a:xfrm>
            <a:off x="925286" y="489857"/>
            <a:ext cx="10428514" cy="6030686"/>
          </a:xfrm>
        </p:spPr>
        <p:txBody>
          <a:bodyPr>
            <a:normAutofit lnSpcReduction="10000"/>
          </a:bodyPr>
          <a:lstStyle/>
          <a:p>
            <a:pPr marL="0" indent="0">
              <a:buNone/>
            </a:pPr>
            <a:r>
              <a:rPr lang="en-US" b="1" dirty="0">
                <a:solidFill>
                  <a:srgbClr val="C00000"/>
                </a:solidFill>
              </a:rPr>
              <a:t>5. ROUND()</a:t>
            </a:r>
          </a:p>
          <a:p>
            <a:pPr algn="just"/>
            <a:r>
              <a:rPr lang="en-US" dirty="0"/>
              <a:t>The ROUND() function is used to round off the numeric values to the specified decimal value.</a:t>
            </a:r>
          </a:p>
          <a:p>
            <a:pPr algn="just"/>
            <a:r>
              <a:rPr lang="en-US" b="1" dirty="0">
                <a:solidFill>
                  <a:srgbClr val="C00000"/>
                </a:solidFill>
              </a:rPr>
              <a:t>Syntax:</a:t>
            </a:r>
          </a:p>
          <a:p>
            <a:pPr algn="just"/>
            <a:r>
              <a:rPr lang="en-US" i="1" dirty="0"/>
              <a:t>SELECT ROUND(</a:t>
            </a:r>
            <a:r>
              <a:rPr lang="en-US" i="1" dirty="0" err="1"/>
              <a:t>numeric_value</a:t>
            </a:r>
            <a:r>
              <a:rPr lang="en-US" i="1" dirty="0"/>
              <a:t>, Decimal); </a:t>
            </a:r>
          </a:p>
          <a:p>
            <a:pPr marL="0" indent="0" algn="just">
              <a:buNone/>
            </a:pPr>
            <a:r>
              <a:rPr lang="en-US" dirty="0"/>
              <a:t>                                    OR</a:t>
            </a:r>
          </a:p>
          <a:p>
            <a:pPr algn="just"/>
            <a:r>
              <a:rPr lang="en-US" i="1" dirty="0"/>
              <a:t>SELECT ROUND(</a:t>
            </a:r>
            <a:r>
              <a:rPr lang="en-US" i="1" dirty="0" err="1"/>
              <a:t>column_name</a:t>
            </a:r>
            <a:r>
              <a:rPr lang="en-US" i="1" dirty="0"/>
              <a:t>, Decimal) FROM </a:t>
            </a:r>
            <a:r>
              <a:rPr lang="en-US" i="1" dirty="0" err="1"/>
              <a:t>table_name</a:t>
            </a:r>
            <a:r>
              <a:rPr lang="en-US" i="1" dirty="0"/>
              <a:t>; </a:t>
            </a:r>
          </a:p>
          <a:p>
            <a:pPr algn="just"/>
            <a:r>
              <a:rPr lang="en-US" dirty="0"/>
              <a:t>Where Decimal is the number of decimals that need to be fetched.</a:t>
            </a:r>
          </a:p>
          <a:p>
            <a:pPr algn="just"/>
            <a:r>
              <a:rPr lang="en-US" b="1" dirty="0">
                <a:solidFill>
                  <a:srgbClr val="C00000"/>
                </a:solidFill>
              </a:rPr>
              <a:t>Example:</a:t>
            </a:r>
          </a:p>
          <a:p>
            <a:pPr algn="just"/>
            <a:r>
              <a:rPr lang="en-US" dirty="0"/>
              <a:t>SELECT ROUND(3245.8762, 3); </a:t>
            </a:r>
          </a:p>
          <a:p>
            <a:pPr algn="just"/>
            <a:r>
              <a:rPr lang="en-US" b="1" dirty="0">
                <a:solidFill>
                  <a:srgbClr val="C00000"/>
                </a:solidFill>
              </a:rPr>
              <a:t>Output:  </a:t>
            </a:r>
            <a:r>
              <a:rPr lang="en-US" dirty="0"/>
              <a:t>3245.876</a:t>
            </a:r>
          </a:p>
          <a:p>
            <a:pPr algn="just"/>
            <a:r>
              <a:rPr lang="en-US" dirty="0"/>
              <a:t>The ROUND() function has rounded off the value given to 3 decimal places.</a:t>
            </a:r>
            <a:endParaRPr lang="en-IN" dirty="0"/>
          </a:p>
        </p:txBody>
      </p:sp>
    </p:spTree>
    <p:extLst>
      <p:ext uri="{BB962C8B-B14F-4D97-AF65-F5344CB8AC3E}">
        <p14:creationId xmlns:p14="http://schemas.microsoft.com/office/powerpoint/2010/main" val="35944086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DD2D5C5-1A91-4F01-A807-168886E74C95}"/>
              </a:ext>
            </a:extLst>
          </p:cNvPr>
          <p:cNvSpPr>
            <a:spLocks noGrp="1"/>
          </p:cNvSpPr>
          <p:nvPr>
            <p:ph idx="1"/>
          </p:nvPr>
        </p:nvSpPr>
        <p:spPr>
          <a:xfrm>
            <a:off x="598715" y="435428"/>
            <a:ext cx="10755086" cy="5965371"/>
          </a:xfrm>
        </p:spPr>
        <p:txBody>
          <a:bodyPr>
            <a:normAutofit/>
          </a:bodyPr>
          <a:lstStyle/>
          <a:p>
            <a:pPr marL="0" indent="0" algn="just">
              <a:buNone/>
            </a:pPr>
            <a:r>
              <a:rPr lang="en-US" b="1" dirty="0">
                <a:solidFill>
                  <a:srgbClr val="C00000"/>
                </a:solidFill>
              </a:rPr>
              <a:t>6. NOW()</a:t>
            </a:r>
          </a:p>
          <a:p>
            <a:pPr algn="just"/>
            <a:r>
              <a:rPr lang="en-US" dirty="0"/>
              <a:t>The NOW() function is used to get the current system's date and time.</a:t>
            </a:r>
          </a:p>
          <a:p>
            <a:pPr algn="just"/>
            <a:r>
              <a:rPr lang="en-US" b="1" dirty="0">
                <a:solidFill>
                  <a:srgbClr val="C00000"/>
                </a:solidFill>
              </a:rPr>
              <a:t>Syntax:</a:t>
            </a:r>
          </a:p>
          <a:p>
            <a:pPr algn="just"/>
            <a:r>
              <a:rPr lang="en-US" i="1" dirty="0"/>
              <a:t>SELECT NOW(); </a:t>
            </a:r>
          </a:p>
          <a:p>
            <a:pPr marL="0" indent="0" algn="just">
              <a:buNone/>
            </a:pPr>
            <a:r>
              <a:rPr lang="en-US" dirty="0"/>
              <a:t>             OR</a:t>
            </a:r>
          </a:p>
          <a:p>
            <a:pPr algn="just"/>
            <a:r>
              <a:rPr lang="en-US" i="1" dirty="0"/>
              <a:t>SELECT NOW() FROM </a:t>
            </a:r>
            <a:r>
              <a:rPr lang="en-US" i="1" dirty="0" err="1"/>
              <a:t>table_name</a:t>
            </a:r>
            <a:r>
              <a:rPr lang="en-US" i="1" dirty="0"/>
              <a:t>; </a:t>
            </a:r>
          </a:p>
          <a:p>
            <a:pPr algn="just"/>
            <a:r>
              <a:rPr lang="en-US" b="1" dirty="0">
                <a:solidFill>
                  <a:srgbClr val="C00000"/>
                </a:solidFill>
              </a:rPr>
              <a:t>Example:</a:t>
            </a:r>
          </a:p>
          <a:p>
            <a:pPr algn="just"/>
            <a:r>
              <a:rPr lang="en-US" i="1" dirty="0"/>
              <a:t>SELECT NOW(); </a:t>
            </a:r>
          </a:p>
          <a:p>
            <a:pPr algn="just"/>
            <a:r>
              <a:rPr lang="en-US" b="1" dirty="0">
                <a:solidFill>
                  <a:srgbClr val="C00000"/>
                </a:solidFill>
              </a:rPr>
              <a:t>Output:  </a:t>
            </a:r>
            <a:r>
              <a:rPr lang="en-US" dirty="0"/>
              <a:t>2022-02-12 21:41:48</a:t>
            </a:r>
          </a:p>
          <a:p>
            <a:pPr algn="just"/>
            <a:r>
              <a:rPr lang="en-US" dirty="0"/>
              <a:t>Here, the NOW() function has simply returned the current date and time.</a:t>
            </a:r>
            <a:endParaRPr lang="en-IN" dirty="0"/>
          </a:p>
        </p:txBody>
      </p:sp>
    </p:spTree>
    <p:extLst>
      <p:ext uri="{BB962C8B-B14F-4D97-AF65-F5344CB8AC3E}">
        <p14:creationId xmlns:p14="http://schemas.microsoft.com/office/powerpoint/2010/main" val="326098971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3C282AC-3CFA-A7CB-8950-A2365480C7CB}"/>
              </a:ext>
            </a:extLst>
          </p:cNvPr>
          <p:cNvSpPr>
            <a:spLocks noGrp="1"/>
          </p:cNvSpPr>
          <p:nvPr>
            <p:ph idx="1"/>
          </p:nvPr>
        </p:nvSpPr>
        <p:spPr>
          <a:xfrm>
            <a:off x="609600" y="402771"/>
            <a:ext cx="10744200" cy="6117772"/>
          </a:xfrm>
        </p:spPr>
        <p:txBody>
          <a:bodyPr>
            <a:normAutofit fontScale="92500" lnSpcReduction="10000"/>
          </a:bodyPr>
          <a:lstStyle/>
          <a:p>
            <a:pPr marL="0" indent="0">
              <a:buNone/>
            </a:pPr>
            <a:r>
              <a:rPr lang="en-US" b="1" dirty="0">
                <a:solidFill>
                  <a:srgbClr val="C00000"/>
                </a:solidFill>
              </a:rPr>
              <a:t>7. FORMAT()</a:t>
            </a:r>
          </a:p>
          <a:p>
            <a:pPr algn="just"/>
            <a:r>
              <a:rPr lang="en-US" dirty="0"/>
              <a:t>The FORMAT() function is used to modify the display of the column values. There can be different formats that we can use.</a:t>
            </a:r>
          </a:p>
          <a:p>
            <a:pPr algn="just"/>
            <a:r>
              <a:rPr lang="en-US" b="1" dirty="0">
                <a:solidFill>
                  <a:srgbClr val="C00000"/>
                </a:solidFill>
              </a:rPr>
              <a:t>Syntax:</a:t>
            </a:r>
          </a:p>
          <a:p>
            <a:pPr algn="just"/>
            <a:r>
              <a:rPr lang="en-US" dirty="0"/>
              <a:t>SELECT FORMAT(value/string, </a:t>
            </a:r>
            <a:r>
              <a:rPr lang="en-US" dirty="0" err="1"/>
              <a:t>FormatRequired</a:t>
            </a:r>
            <a:r>
              <a:rPr lang="en-US" dirty="0"/>
              <a:t> ); </a:t>
            </a:r>
          </a:p>
          <a:p>
            <a:pPr marL="0" indent="0" algn="just">
              <a:buNone/>
            </a:pPr>
            <a:r>
              <a:rPr lang="en-US" dirty="0"/>
              <a:t>                                     OR</a:t>
            </a:r>
          </a:p>
          <a:p>
            <a:pPr algn="just"/>
            <a:r>
              <a:rPr lang="en-US" dirty="0"/>
              <a:t>SELECT FORMAT(</a:t>
            </a:r>
            <a:r>
              <a:rPr lang="en-US" dirty="0" err="1"/>
              <a:t>column_name</a:t>
            </a:r>
            <a:r>
              <a:rPr lang="en-US" dirty="0"/>
              <a:t>, </a:t>
            </a:r>
            <a:r>
              <a:rPr lang="en-US" dirty="0" err="1"/>
              <a:t>FormatRequired</a:t>
            </a:r>
            <a:r>
              <a:rPr lang="en-US" dirty="0"/>
              <a:t> ) FROM </a:t>
            </a:r>
            <a:r>
              <a:rPr lang="en-US" dirty="0" err="1"/>
              <a:t>table_name</a:t>
            </a:r>
            <a:r>
              <a:rPr lang="en-US" dirty="0"/>
              <a:t>; </a:t>
            </a:r>
          </a:p>
          <a:p>
            <a:pPr algn="just"/>
            <a:r>
              <a:rPr lang="en-US" dirty="0"/>
              <a:t>Where, </a:t>
            </a:r>
            <a:r>
              <a:rPr lang="en-US" dirty="0" err="1"/>
              <a:t>FormatRequired</a:t>
            </a:r>
            <a:r>
              <a:rPr lang="en-US" dirty="0"/>
              <a:t> is the format in which the value/string will be displayed.</a:t>
            </a:r>
          </a:p>
          <a:p>
            <a:pPr algn="just"/>
            <a:r>
              <a:rPr lang="en-US" b="1" dirty="0">
                <a:solidFill>
                  <a:srgbClr val="C00000"/>
                </a:solidFill>
              </a:rPr>
              <a:t>Example:</a:t>
            </a:r>
          </a:p>
          <a:p>
            <a:pPr algn="just"/>
            <a:r>
              <a:rPr lang="en-US" dirty="0"/>
              <a:t>SELECT FORMAT( 137/3, 2 ); </a:t>
            </a:r>
          </a:p>
          <a:p>
            <a:pPr algn="just"/>
            <a:r>
              <a:rPr lang="en-US" b="1" dirty="0">
                <a:solidFill>
                  <a:srgbClr val="C00000"/>
                </a:solidFill>
              </a:rPr>
              <a:t>Output:</a:t>
            </a:r>
            <a:r>
              <a:rPr lang="en-US" dirty="0"/>
              <a:t>  45.67</a:t>
            </a:r>
          </a:p>
          <a:p>
            <a:pPr algn="just"/>
            <a:r>
              <a:rPr lang="en-US" dirty="0"/>
              <a:t>FORMAT() function has returned the value rounded off 2 decimal places after dividing by 3.</a:t>
            </a:r>
            <a:endParaRPr lang="en-IN" dirty="0"/>
          </a:p>
        </p:txBody>
      </p:sp>
    </p:spTree>
    <p:extLst>
      <p:ext uri="{BB962C8B-B14F-4D97-AF65-F5344CB8AC3E}">
        <p14:creationId xmlns:p14="http://schemas.microsoft.com/office/powerpoint/2010/main" val="44558016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5039E5-A1D2-8C18-16EB-BF750DE17FB5}"/>
              </a:ext>
            </a:extLst>
          </p:cNvPr>
          <p:cNvSpPr>
            <a:spLocks noGrp="1"/>
          </p:cNvSpPr>
          <p:nvPr>
            <p:ph type="title"/>
          </p:nvPr>
        </p:nvSpPr>
        <p:spPr>
          <a:xfrm>
            <a:off x="838200" y="1"/>
            <a:ext cx="10515600" cy="1058237"/>
          </a:xfrm>
        </p:spPr>
        <p:txBody>
          <a:bodyPr/>
          <a:lstStyle/>
          <a:p>
            <a:pPr algn="ctr"/>
            <a:r>
              <a:rPr lang="en-IN" b="1" dirty="0">
                <a:solidFill>
                  <a:srgbClr val="C00000"/>
                </a:solidFill>
              </a:rPr>
              <a:t>String functions</a:t>
            </a:r>
          </a:p>
        </p:txBody>
      </p:sp>
      <p:sp>
        <p:nvSpPr>
          <p:cNvPr id="3" name="Content Placeholder 2">
            <a:extLst>
              <a:ext uri="{FF2B5EF4-FFF2-40B4-BE49-F238E27FC236}">
                <a16:creationId xmlns:a16="http://schemas.microsoft.com/office/drawing/2014/main" id="{9DE8EDD1-7858-7D79-A23C-C659CF955E62}"/>
              </a:ext>
            </a:extLst>
          </p:cNvPr>
          <p:cNvSpPr>
            <a:spLocks noGrp="1"/>
          </p:cNvSpPr>
          <p:nvPr>
            <p:ph idx="1"/>
          </p:nvPr>
        </p:nvSpPr>
        <p:spPr>
          <a:xfrm>
            <a:off x="688369" y="955497"/>
            <a:ext cx="10665431" cy="5221466"/>
          </a:xfrm>
        </p:spPr>
        <p:txBody>
          <a:bodyPr>
            <a:normAutofit fontScale="85000" lnSpcReduction="10000"/>
          </a:bodyPr>
          <a:lstStyle/>
          <a:p>
            <a:pPr algn="just"/>
            <a:r>
              <a:rPr lang="en-US" dirty="0"/>
              <a:t>SQL String Functions are powerful tools that allow us to manipulate, format, and extract specific parts of text data in our database. These functions are essential for tasks like cleaning up data, comparing strings, and combining text fields.</a:t>
            </a:r>
          </a:p>
          <a:p>
            <a:pPr algn="just"/>
            <a:r>
              <a:rPr lang="en-US" b="1" dirty="0">
                <a:solidFill>
                  <a:srgbClr val="C00000"/>
                </a:solidFill>
              </a:rPr>
              <a:t>Common SQL String Functions</a:t>
            </a:r>
          </a:p>
          <a:p>
            <a:pPr algn="just"/>
            <a:r>
              <a:rPr lang="en-US" dirty="0"/>
              <a:t>String functions are used to perform an operation on input string and return an output string. Following are the string functions defined in SQL:</a:t>
            </a:r>
          </a:p>
          <a:p>
            <a:pPr algn="just"/>
            <a:endParaRPr lang="en-US" dirty="0"/>
          </a:p>
          <a:p>
            <a:pPr marL="0" indent="0" algn="just">
              <a:buNone/>
            </a:pPr>
            <a:r>
              <a:rPr lang="en-US" b="1" dirty="0"/>
              <a:t>1. CONCAT(): Concatenate Strings</a:t>
            </a:r>
          </a:p>
          <a:p>
            <a:pPr algn="just"/>
            <a:r>
              <a:rPr lang="en-US" dirty="0"/>
              <a:t>The CONCAT() function is used to concatenate (combine) two or more strings into one string. It is useful when we want to merge fields like first and last names into a full name.</a:t>
            </a:r>
          </a:p>
          <a:p>
            <a:pPr algn="just"/>
            <a:r>
              <a:rPr lang="en-US" dirty="0">
                <a:solidFill>
                  <a:srgbClr val="C00000"/>
                </a:solidFill>
              </a:rPr>
              <a:t>Query:</a:t>
            </a:r>
          </a:p>
          <a:p>
            <a:pPr algn="just"/>
            <a:r>
              <a:rPr lang="en-US" dirty="0"/>
              <a:t>SELECT CONCAT('John', ' ', 'Doe') AS </a:t>
            </a:r>
            <a:r>
              <a:rPr lang="en-US" dirty="0" err="1"/>
              <a:t>FullName</a:t>
            </a:r>
            <a:r>
              <a:rPr lang="en-US" dirty="0"/>
              <a:t>;</a:t>
            </a:r>
          </a:p>
          <a:p>
            <a:pPr algn="just"/>
            <a:r>
              <a:rPr lang="en-US" dirty="0">
                <a:solidFill>
                  <a:srgbClr val="C00000"/>
                </a:solidFill>
              </a:rPr>
              <a:t>Output:</a:t>
            </a:r>
            <a:r>
              <a:rPr lang="en-US" dirty="0"/>
              <a:t> John Doe</a:t>
            </a:r>
            <a:endParaRPr lang="en-IN" dirty="0"/>
          </a:p>
        </p:txBody>
      </p:sp>
    </p:spTree>
    <p:extLst>
      <p:ext uri="{BB962C8B-B14F-4D97-AF65-F5344CB8AC3E}">
        <p14:creationId xmlns:p14="http://schemas.microsoft.com/office/powerpoint/2010/main" val="153882872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892FF5E-D4D2-EAC3-0A35-7420A53D0716}"/>
              </a:ext>
            </a:extLst>
          </p:cNvPr>
          <p:cNvSpPr>
            <a:spLocks noGrp="1"/>
          </p:cNvSpPr>
          <p:nvPr>
            <p:ph idx="1"/>
          </p:nvPr>
        </p:nvSpPr>
        <p:spPr>
          <a:xfrm>
            <a:off x="595901" y="493160"/>
            <a:ext cx="10757899" cy="5683803"/>
          </a:xfrm>
        </p:spPr>
        <p:txBody>
          <a:bodyPr>
            <a:normAutofit/>
          </a:bodyPr>
          <a:lstStyle/>
          <a:p>
            <a:pPr marL="0" indent="0">
              <a:buNone/>
            </a:pPr>
            <a:r>
              <a:rPr lang="en-US" dirty="0">
                <a:solidFill>
                  <a:srgbClr val="C00000"/>
                </a:solidFill>
              </a:rPr>
              <a:t>2. CHAR_LENGTH() / CHARACTER_LENGTH():</a:t>
            </a:r>
            <a:r>
              <a:rPr lang="en-US" dirty="0"/>
              <a:t> Find String Length</a:t>
            </a:r>
          </a:p>
          <a:p>
            <a:r>
              <a:rPr lang="en-US" dirty="0"/>
              <a:t>The CHAR_LENGTH() or LENGTH() function returns the length of a string in characters. It’s essential for validating or manipulating text data, especially when you need to know how many characters a string contains.</a:t>
            </a:r>
          </a:p>
          <a:p>
            <a:r>
              <a:rPr lang="en-US" dirty="0">
                <a:solidFill>
                  <a:srgbClr val="C00000"/>
                </a:solidFill>
              </a:rPr>
              <a:t>Query:</a:t>
            </a:r>
            <a:endParaRPr lang="en-US" dirty="0"/>
          </a:p>
          <a:p>
            <a:r>
              <a:rPr lang="en-US" i="1" dirty="0"/>
              <a:t>SELECT CHAR_LENGTH('Hello') AS </a:t>
            </a:r>
            <a:r>
              <a:rPr lang="en-US" i="1" dirty="0" err="1"/>
              <a:t>StringLength</a:t>
            </a:r>
            <a:r>
              <a:rPr lang="en-US" i="1" dirty="0"/>
              <a:t>;</a:t>
            </a:r>
          </a:p>
          <a:p>
            <a:r>
              <a:rPr lang="en-US" dirty="0">
                <a:solidFill>
                  <a:srgbClr val="C00000"/>
                </a:solidFill>
              </a:rPr>
              <a:t>Output:</a:t>
            </a:r>
            <a:r>
              <a:rPr lang="en-US" dirty="0"/>
              <a:t> 5</a:t>
            </a:r>
            <a:endParaRPr lang="en-IN" dirty="0"/>
          </a:p>
        </p:txBody>
      </p:sp>
    </p:spTree>
    <p:extLst>
      <p:ext uri="{BB962C8B-B14F-4D97-AF65-F5344CB8AC3E}">
        <p14:creationId xmlns:p14="http://schemas.microsoft.com/office/powerpoint/2010/main" val="381405528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F762739-D8AD-0768-B1BA-209709EE865F}"/>
              </a:ext>
            </a:extLst>
          </p:cNvPr>
          <p:cNvSpPr>
            <a:spLocks noGrp="1"/>
          </p:cNvSpPr>
          <p:nvPr>
            <p:ph idx="1"/>
          </p:nvPr>
        </p:nvSpPr>
        <p:spPr>
          <a:xfrm>
            <a:off x="770562" y="739739"/>
            <a:ext cx="10583238" cy="5437224"/>
          </a:xfrm>
        </p:spPr>
        <p:txBody>
          <a:bodyPr>
            <a:normAutofit/>
          </a:bodyPr>
          <a:lstStyle/>
          <a:p>
            <a:pPr marL="0" indent="0">
              <a:buNone/>
            </a:pPr>
            <a:r>
              <a:rPr lang="en-US" dirty="0">
                <a:solidFill>
                  <a:srgbClr val="C00000"/>
                </a:solidFill>
              </a:rPr>
              <a:t>3. UPPER() and LOWER():</a:t>
            </a:r>
            <a:r>
              <a:rPr lang="en-US" dirty="0"/>
              <a:t> Convert Text Case</a:t>
            </a:r>
          </a:p>
          <a:p>
            <a:r>
              <a:rPr lang="en-US" dirty="0"/>
              <a:t>These functions convert the text to uppercase or lowercase, respectively. They are useful for normalizing the case of text in a database.</a:t>
            </a:r>
          </a:p>
          <a:p>
            <a:r>
              <a:rPr lang="en-US" dirty="0">
                <a:solidFill>
                  <a:srgbClr val="C00000"/>
                </a:solidFill>
              </a:rPr>
              <a:t>Query:</a:t>
            </a:r>
            <a:endParaRPr lang="en-US" dirty="0"/>
          </a:p>
          <a:p>
            <a:r>
              <a:rPr lang="en-US" i="1" dirty="0"/>
              <a:t>SELECT UPPER('hello') AS </a:t>
            </a:r>
            <a:r>
              <a:rPr lang="en-US" i="1" dirty="0" err="1"/>
              <a:t>UpperCase</a:t>
            </a:r>
            <a:r>
              <a:rPr lang="en-US" i="1" dirty="0"/>
              <a:t>;</a:t>
            </a:r>
          </a:p>
          <a:p>
            <a:r>
              <a:rPr lang="en-US" i="1" dirty="0"/>
              <a:t>SELECT LOWER('HELLO') AS </a:t>
            </a:r>
            <a:r>
              <a:rPr lang="en-US" i="1" dirty="0" err="1"/>
              <a:t>LowerCase</a:t>
            </a:r>
            <a:r>
              <a:rPr lang="en-US" i="1" dirty="0"/>
              <a:t>;</a:t>
            </a:r>
          </a:p>
          <a:p>
            <a:r>
              <a:rPr lang="en-US" dirty="0">
                <a:solidFill>
                  <a:srgbClr val="C00000"/>
                </a:solidFill>
              </a:rPr>
              <a:t>Output:</a:t>
            </a:r>
            <a:endParaRPr lang="en-US" dirty="0"/>
          </a:p>
          <a:p>
            <a:pPr marL="0" indent="0">
              <a:buNone/>
            </a:pPr>
            <a:r>
              <a:rPr lang="en-US" dirty="0"/>
              <a:t>  HELLO</a:t>
            </a:r>
          </a:p>
          <a:p>
            <a:pPr marL="0" indent="0">
              <a:buNone/>
            </a:pPr>
            <a:r>
              <a:rPr lang="en-US" dirty="0"/>
              <a:t>   hello</a:t>
            </a:r>
            <a:endParaRPr lang="en-IN" dirty="0"/>
          </a:p>
        </p:txBody>
      </p:sp>
    </p:spTree>
    <p:extLst>
      <p:ext uri="{BB962C8B-B14F-4D97-AF65-F5344CB8AC3E}">
        <p14:creationId xmlns:p14="http://schemas.microsoft.com/office/powerpoint/2010/main" val="166910566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03955BA-B031-8B16-8962-A80C380A0CE3}"/>
              </a:ext>
            </a:extLst>
          </p:cNvPr>
          <p:cNvSpPr>
            <a:spLocks noGrp="1"/>
          </p:cNvSpPr>
          <p:nvPr>
            <p:ph idx="1"/>
          </p:nvPr>
        </p:nvSpPr>
        <p:spPr>
          <a:xfrm>
            <a:off x="698643" y="616449"/>
            <a:ext cx="10655157" cy="5560514"/>
          </a:xfrm>
        </p:spPr>
        <p:txBody>
          <a:bodyPr>
            <a:normAutofit/>
          </a:bodyPr>
          <a:lstStyle/>
          <a:p>
            <a:pPr marL="0" indent="0">
              <a:buNone/>
            </a:pPr>
            <a:r>
              <a:rPr lang="en-US" dirty="0">
                <a:solidFill>
                  <a:srgbClr val="C00000"/>
                </a:solidFill>
              </a:rPr>
              <a:t>4. LENGTH(): </a:t>
            </a:r>
            <a:r>
              <a:rPr lang="en-US" dirty="0"/>
              <a:t>Length of String in Bytes</a:t>
            </a:r>
          </a:p>
          <a:p>
            <a:pPr algn="just"/>
            <a:r>
              <a:rPr lang="en-US" dirty="0"/>
              <a:t>LENGTH() returns the length of a string in bytes. This can be useful for working with multi-byte character sets.</a:t>
            </a:r>
          </a:p>
          <a:p>
            <a:pPr lvl="1" algn="just"/>
            <a:r>
              <a:rPr lang="en-US" dirty="0">
                <a:solidFill>
                  <a:srgbClr val="C00000"/>
                </a:solidFill>
              </a:rPr>
              <a:t>Query:</a:t>
            </a:r>
          </a:p>
          <a:p>
            <a:pPr lvl="1" algn="just"/>
            <a:r>
              <a:rPr lang="en-US" i="1" dirty="0"/>
              <a:t>SELECT LENGTH('Hello');</a:t>
            </a:r>
          </a:p>
          <a:p>
            <a:pPr lvl="1" algn="just"/>
            <a:r>
              <a:rPr lang="en-US" dirty="0">
                <a:solidFill>
                  <a:srgbClr val="C00000"/>
                </a:solidFill>
              </a:rPr>
              <a:t>Output:</a:t>
            </a:r>
            <a:r>
              <a:rPr lang="en-US" dirty="0"/>
              <a:t> 5</a:t>
            </a:r>
          </a:p>
          <a:p>
            <a:pPr algn="just"/>
            <a:r>
              <a:rPr lang="en-US" dirty="0"/>
              <a:t>Example: Find all the students’ names having length greater than 6 characters.</a:t>
            </a:r>
          </a:p>
          <a:p>
            <a:pPr lvl="1" algn="just"/>
            <a:r>
              <a:rPr lang="en-US" dirty="0"/>
              <a:t>SELECT </a:t>
            </a:r>
            <a:r>
              <a:rPr lang="en-US" dirty="0" err="1"/>
              <a:t>student_name</a:t>
            </a:r>
            <a:endParaRPr lang="en-US" dirty="0"/>
          </a:p>
          <a:p>
            <a:pPr marL="457200" lvl="1" indent="0" algn="just">
              <a:buNone/>
            </a:pPr>
            <a:r>
              <a:rPr lang="en-US" dirty="0"/>
              <a:t>   FROM students</a:t>
            </a:r>
          </a:p>
          <a:p>
            <a:pPr marL="457200" lvl="1" indent="0" algn="just">
              <a:buNone/>
            </a:pPr>
            <a:r>
              <a:rPr lang="en-US" dirty="0"/>
              <a:t>   WHERE LENGTH(</a:t>
            </a:r>
            <a:r>
              <a:rPr lang="en-US" dirty="0" err="1"/>
              <a:t>student_name</a:t>
            </a:r>
            <a:r>
              <a:rPr lang="en-US" dirty="0"/>
              <a:t>) &gt; 6;</a:t>
            </a:r>
            <a:endParaRPr lang="en-IN" dirty="0"/>
          </a:p>
        </p:txBody>
      </p:sp>
    </p:spTree>
    <p:extLst>
      <p:ext uri="{BB962C8B-B14F-4D97-AF65-F5344CB8AC3E}">
        <p14:creationId xmlns:p14="http://schemas.microsoft.com/office/powerpoint/2010/main" val="139944567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9B7F4A1-7DA6-EB89-B70A-ED7006D9A38E}"/>
              </a:ext>
            </a:extLst>
          </p:cNvPr>
          <p:cNvSpPr>
            <a:spLocks noGrp="1"/>
          </p:cNvSpPr>
          <p:nvPr>
            <p:ph idx="1"/>
          </p:nvPr>
        </p:nvSpPr>
        <p:spPr>
          <a:xfrm>
            <a:off x="565079" y="523982"/>
            <a:ext cx="10788721" cy="5652981"/>
          </a:xfrm>
        </p:spPr>
        <p:txBody>
          <a:bodyPr>
            <a:normAutofit/>
          </a:bodyPr>
          <a:lstStyle/>
          <a:p>
            <a:r>
              <a:rPr lang="en-US" dirty="0">
                <a:solidFill>
                  <a:srgbClr val="C00000"/>
                </a:solidFill>
              </a:rPr>
              <a:t>Example:</a:t>
            </a:r>
            <a:r>
              <a:rPr lang="en-US" dirty="0"/>
              <a:t> Display the Length and First 3 Characters of </a:t>
            </a:r>
            <a:r>
              <a:rPr lang="en-US" dirty="0" err="1"/>
              <a:t>Ename</a:t>
            </a:r>
            <a:r>
              <a:rPr lang="en-US" dirty="0"/>
              <a:t> Column?</a:t>
            </a:r>
          </a:p>
          <a:p>
            <a:r>
              <a:rPr lang="en-US" dirty="0">
                <a:solidFill>
                  <a:srgbClr val="C00000"/>
                </a:solidFill>
              </a:rPr>
              <a:t>Query:</a:t>
            </a:r>
          </a:p>
          <a:p>
            <a:r>
              <a:rPr lang="en-US" dirty="0"/>
              <a:t>SELECT LEN(</a:t>
            </a:r>
            <a:r>
              <a:rPr lang="en-US" dirty="0" err="1"/>
              <a:t>Ename</a:t>
            </a:r>
            <a:r>
              <a:rPr lang="en-US" dirty="0"/>
              <a:t>) AS </a:t>
            </a:r>
            <a:r>
              <a:rPr lang="en-US" dirty="0" err="1"/>
              <a:t>LengthofEname</a:t>
            </a:r>
            <a:r>
              <a:rPr lang="en-US" dirty="0"/>
              <a:t>,</a:t>
            </a:r>
          </a:p>
          <a:p>
            <a:pPr marL="0" indent="0">
              <a:buNone/>
            </a:pPr>
            <a:r>
              <a:rPr lang="en-US" dirty="0"/>
              <a:t>   LEFT(Ename,3) AS </a:t>
            </a:r>
            <a:r>
              <a:rPr lang="en-US" dirty="0" err="1"/>
              <a:t>FirstThree</a:t>
            </a:r>
            <a:r>
              <a:rPr lang="en-US" dirty="0"/>
              <a:t> FROM Emp;</a:t>
            </a:r>
          </a:p>
          <a:p>
            <a:pPr marL="0" indent="0">
              <a:buNone/>
            </a:pPr>
            <a:endParaRPr lang="en-US" dirty="0"/>
          </a:p>
          <a:p>
            <a:pPr marL="0" indent="0">
              <a:buNone/>
            </a:pPr>
            <a:endParaRPr lang="en-US" dirty="0"/>
          </a:p>
          <a:p>
            <a:pPr marL="0" indent="0">
              <a:buNone/>
            </a:pPr>
            <a:endParaRPr lang="en-US" dirty="0"/>
          </a:p>
          <a:p>
            <a:pPr marL="0" indent="0">
              <a:buNone/>
            </a:pPr>
            <a:endParaRPr lang="en-US" dirty="0"/>
          </a:p>
          <a:p>
            <a:r>
              <a:rPr lang="en-US" dirty="0">
                <a:solidFill>
                  <a:srgbClr val="C00000"/>
                </a:solidFill>
              </a:rPr>
              <a:t>Example:</a:t>
            </a:r>
            <a:r>
              <a:rPr lang="en-US" dirty="0"/>
              <a:t> Display the Last 3 Characters of </a:t>
            </a:r>
            <a:r>
              <a:rPr lang="en-US" dirty="0" err="1"/>
              <a:t>Ename</a:t>
            </a:r>
            <a:r>
              <a:rPr lang="en-US" dirty="0"/>
              <a:t> Column?</a:t>
            </a:r>
          </a:p>
          <a:p>
            <a:r>
              <a:rPr lang="en-US" dirty="0"/>
              <a:t>Query:</a:t>
            </a:r>
          </a:p>
          <a:p>
            <a:r>
              <a:rPr lang="en-US" dirty="0"/>
              <a:t>SELECT RIGHT(Ename,3) AS </a:t>
            </a:r>
            <a:r>
              <a:rPr lang="en-US" dirty="0" err="1"/>
              <a:t>LastThree</a:t>
            </a:r>
            <a:r>
              <a:rPr lang="en-US" dirty="0"/>
              <a:t> FROM Emp;</a:t>
            </a:r>
            <a:endParaRPr lang="en-IN" dirty="0"/>
          </a:p>
        </p:txBody>
      </p:sp>
      <p:pic>
        <p:nvPicPr>
          <p:cNvPr id="4" name="Picture 3">
            <a:extLst>
              <a:ext uri="{FF2B5EF4-FFF2-40B4-BE49-F238E27FC236}">
                <a16:creationId xmlns:a16="http://schemas.microsoft.com/office/drawing/2014/main" id="{31580DDC-18E7-7D1F-895F-40C6B96016EF}"/>
              </a:ext>
            </a:extLst>
          </p:cNvPr>
          <p:cNvPicPr>
            <a:picLocks noChangeAspect="1"/>
          </p:cNvPicPr>
          <p:nvPr/>
        </p:nvPicPr>
        <p:blipFill>
          <a:blip r:embed="rId2"/>
          <a:stretch>
            <a:fillRect/>
          </a:stretch>
        </p:blipFill>
        <p:spPr>
          <a:xfrm>
            <a:off x="838199" y="2743200"/>
            <a:ext cx="6924351" cy="1541123"/>
          </a:xfrm>
          <a:prstGeom prst="rect">
            <a:avLst/>
          </a:prstGeom>
        </p:spPr>
      </p:pic>
      <p:pic>
        <p:nvPicPr>
          <p:cNvPr id="6" name="Picture 5">
            <a:extLst>
              <a:ext uri="{FF2B5EF4-FFF2-40B4-BE49-F238E27FC236}">
                <a16:creationId xmlns:a16="http://schemas.microsoft.com/office/drawing/2014/main" id="{5C50A84A-09F5-D25B-2DDA-E5E82DD8E2ED}"/>
              </a:ext>
            </a:extLst>
          </p:cNvPr>
          <p:cNvPicPr>
            <a:picLocks noChangeAspect="1"/>
          </p:cNvPicPr>
          <p:nvPr/>
        </p:nvPicPr>
        <p:blipFill>
          <a:blip r:embed="rId3"/>
          <a:stretch>
            <a:fillRect/>
          </a:stretch>
        </p:blipFill>
        <p:spPr>
          <a:xfrm>
            <a:off x="7959677" y="1028924"/>
            <a:ext cx="2332885" cy="2844433"/>
          </a:xfrm>
          <a:prstGeom prst="rect">
            <a:avLst/>
          </a:prstGeom>
        </p:spPr>
      </p:pic>
      <p:pic>
        <p:nvPicPr>
          <p:cNvPr id="10" name="Picture 9">
            <a:extLst>
              <a:ext uri="{FF2B5EF4-FFF2-40B4-BE49-F238E27FC236}">
                <a16:creationId xmlns:a16="http://schemas.microsoft.com/office/drawing/2014/main" id="{5A3C4395-DAFB-5512-098D-B8C794D8C7E5}"/>
              </a:ext>
            </a:extLst>
          </p:cNvPr>
          <p:cNvPicPr>
            <a:picLocks noChangeAspect="1"/>
          </p:cNvPicPr>
          <p:nvPr/>
        </p:nvPicPr>
        <p:blipFill>
          <a:blip r:embed="rId4"/>
          <a:srcRect l="5062" t="3892"/>
          <a:stretch/>
        </p:blipFill>
        <p:spPr>
          <a:xfrm>
            <a:off x="10546666" y="3350472"/>
            <a:ext cx="1196850" cy="3267452"/>
          </a:xfrm>
          <a:prstGeom prst="rect">
            <a:avLst/>
          </a:prstGeom>
        </p:spPr>
      </p:pic>
    </p:spTree>
    <p:extLst>
      <p:ext uri="{BB962C8B-B14F-4D97-AF65-F5344CB8AC3E}">
        <p14:creationId xmlns:p14="http://schemas.microsoft.com/office/powerpoint/2010/main" val="26111293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81F33CF-812B-A29F-7C5D-9304F6E99184}"/>
              </a:ext>
            </a:extLst>
          </p:cNvPr>
          <p:cNvSpPr>
            <a:spLocks noGrp="1"/>
          </p:cNvSpPr>
          <p:nvPr>
            <p:ph idx="1"/>
          </p:nvPr>
        </p:nvSpPr>
        <p:spPr>
          <a:xfrm>
            <a:off x="719191" y="636998"/>
            <a:ext cx="10634609" cy="5539965"/>
          </a:xfrm>
        </p:spPr>
        <p:txBody>
          <a:bodyPr>
            <a:normAutofit/>
          </a:bodyPr>
          <a:lstStyle/>
          <a:p>
            <a:pPr marL="0" indent="0">
              <a:buNone/>
            </a:pPr>
            <a:r>
              <a:rPr lang="en-US" dirty="0">
                <a:solidFill>
                  <a:srgbClr val="C00000"/>
                </a:solidFill>
              </a:rPr>
              <a:t>5. REPLACE(): Replace Substring in String</a:t>
            </a:r>
          </a:p>
          <a:p>
            <a:pPr algn="just"/>
            <a:r>
              <a:rPr lang="en-US" dirty="0"/>
              <a:t>The REPLACE() function replaces occurrences of a substring within a string with another substring. This is useful for cleaning up data, such as replacing invalid characters or formatting errors.</a:t>
            </a:r>
          </a:p>
          <a:p>
            <a:pPr algn="just"/>
            <a:r>
              <a:rPr lang="en-US" dirty="0">
                <a:solidFill>
                  <a:srgbClr val="C00000"/>
                </a:solidFill>
              </a:rPr>
              <a:t>Query:</a:t>
            </a:r>
          </a:p>
          <a:p>
            <a:pPr algn="just"/>
            <a:r>
              <a:rPr lang="en-US" dirty="0"/>
              <a:t>SELECT REPLACE('Hello World', 'World', 'SQL') AS </a:t>
            </a:r>
            <a:r>
              <a:rPr lang="en-US" dirty="0" err="1"/>
              <a:t>UpdatedString</a:t>
            </a:r>
            <a:r>
              <a:rPr lang="en-US" dirty="0"/>
              <a:t>;</a:t>
            </a:r>
          </a:p>
          <a:p>
            <a:pPr algn="just"/>
            <a:r>
              <a:rPr lang="en-US" dirty="0">
                <a:solidFill>
                  <a:srgbClr val="C00000"/>
                </a:solidFill>
              </a:rPr>
              <a:t>Output:</a:t>
            </a:r>
            <a:r>
              <a:rPr lang="en-US" dirty="0"/>
              <a:t> Hello SQL</a:t>
            </a:r>
            <a:endParaRPr lang="en-IN" dirty="0"/>
          </a:p>
        </p:txBody>
      </p:sp>
    </p:spTree>
    <p:extLst>
      <p:ext uri="{BB962C8B-B14F-4D97-AF65-F5344CB8AC3E}">
        <p14:creationId xmlns:p14="http://schemas.microsoft.com/office/powerpoint/2010/main" val="332178747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C994B67-E399-8E0C-D321-B395069665F3}"/>
              </a:ext>
            </a:extLst>
          </p:cNvPr>
          <p:cNvSpPr>
            <a:spLocks noGrp="1"/>
          </p:cNvSpPr>
          <p:nvPr>
            <p:ph idx="1"/>
          </p:nvPr>
        </p:nvSpPr>
        <p:spPr>
          <a:xfrm>
            <a:off x="811658" y="523982"/>
            <a:ext cx="10542142" cy="5652981"/>
          </a:xfrm>
        </p:spPr>
        <p:txBody>
          <a:bodyPr>
            <a:normAutofit/>
          </a:bodyPr>
          <a:lstStyle/>
          <a:p>
            <a:pPr marL="0" indent="0">
              <a:buNone/>
            </a:pPr>
            <a:r>
              <a:rPr lang="en-US" dirty="0">
                <a:solidFill>
                  <a:srgbClr val="C00000"/>
                </a:solidFill>
              </a:rPr>
              <a:t>6. SUBSTRING() / SUBSTR():</a:t>
            </a:r>
            <a:r>
              <a:rPr lang="en-US" dirty="0"/>
              <a:t> Extract Part of a String</a:t>
            </a:r>
          </a:p>
          <a:p>
            <a:pPr algn="just"/>
            <a:r>
              <a:rPr lang="en-US" dirty="0"/>
              <a:t>The SUBSTRING() (or SUBSTR()) function is used to extract a substring from a string, starting from a specified position. It is especially useful when we need to extract a specific part of a string, like extracting the domain from an email address.</a:t>
            </a:r>
          </a:p>
          <a:p>
            <a:pPr algn="just"/>
            <a:r>
              <a:rPr lang="en-US" i="1" dirty="0">
                <a:solidFill>
                  <a:srgbClr val="C00000"/>
                </a:solidFill>
              </a:rPr>
              <a:t>Syntax:</a:t>
            </a:r>
            <a:r>
              <a:rPr lang="en-US" i="1" dirty="0"/>
              <a:t> SUBSTRING(string, </a:t>
            </a:r>
            <a:r>
              <a:rPr lang="en-US" i="1" dirty="0" err="1"/>
              <a:t>start_position</a:t>
            </a:r>
            <a:r>
              <a:rPr lang="en-US" i="1" dirty="0"/>
              <a:t>, length): </a:t>
            </a:r>
          </a:p>
          <a:p>
            <a:pPr marL="457200" lvl="1" indent="0" algn="just">
              <a:buNone/>
            </a:pPr>
            <a:r>
              <a:rPr lang="en-US" dirty="0"/>
              <a:t>Extracts a portion of a string, starting at the specified position and with a specified length.</a:t>
            </a:r>
          </a:p>
          <a:p>
            <a:pPr algn="just"/>
            <a:r>
              <a:rPr lang="en-US" dirty="0">
                <a:solidFill>
                  <a:srgbClr val="C00000"/>
                </a:solidFill>
              </a:rPr>
              <a:t>Query:</a:t>
            </a:r>
          </a:p>
          <a:p>
            <a:r>
              <a:rPr lang="en-US" i="1" dirty="0"/>
              <a:t>SELECT SUBSTRING('Hello World', 1, 5) AS </a:t>
            </a:r>
            <a:r>
              <a:rPr lang="en-US" i="1" dirty="0" err="1"/>
              <a:t>SubStringExample</a:t>
            </a:r>
            <a:r>
              <a:rPr lang="en-US" i="1" dirty="0"/>
              <a:t>;</a:t>
            </a:r>
          </a:p>
          <a:p>
            <a:r>
              <a:rPr lang="en-US" dirty="0">
                <a:solidFill>
                  <a:srgbClr val="C00000"/>
                </a:solidFill>
              </a:rPr>
              <a:t>Output:</a:t>
            </a:r>
            <a:r>
              <a:rPr lang="en-US" dirty="0"/>
              <a:t> Hello</a:t>
            </a:r>
            <a:endParaRPr lang="en-IN" dirty="0"/>
          </a:p>
        </p:txBody>
      </p:sp>
    </p:spTree>
    <p:extLst>
      <p:ext uri="{BB962C8B-B14F-4D97-AF65-F5344CB8AC3E}">
        <p14:creationId xmlns:p14="http://schemas.microsoft.com/office/powerpoint/2010/main" val="118958667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4BB236A-D239-46C4-8498-E08635971E7D}"/>
              </a:ext>
            </a:extLst>
          </p:cNvPr>
          <p:cNvSpPr>
            <a:spLocks noGrp="1"/>
          </p:cNvSpPr>
          <p:nvPr>
            <p:ph idx="1"/>
          </p:nvPr>
        </p:nvSpPr>
        <p:spPr>
          <a:xfrm>
            <a:off x="688369" y="503434"/>
            <a:ext cx="10665431" cy="5673529"/>
          </a:xfrm>
        </p:spPr>
        <p:txBody>
          <a:bodyPr>
            <a:normAutofit/>
          </a:bodyPr>
          <a:lstStyle/>
          <a:p>
            <a:pPr marL="0" indent="0">
              <a:buNone/>
            </a:pPr>
            <a:r>
              <a:rPr lang="en-US" b="1" dirty="0">
                <a:solidFill>
                  <a:srgbClr val="C00000"/>
                </a:solidFill>
              </a:rPr>
              <a:t>7. LEFT() and RIGHT(): </a:t>
            </a:r>
            <a:r>
              <a:rPr lang="en-US" dirty="0"/>
              <a:t>Extract Substring from Left or Right</a:t>
            </a:r>
          </a:p>
          <a:p>
            <a:pPr algn="just"/>
            <a:r>
              <a:rPr lang="en-US" dirty="0"/>
              <a:t>The LEFT() and RIGHT() functions allow you to extract a specified number of characters from the left or right side of a string, respectively. It is used for truncating strings for display.</a:t>
            </a:r>
          </a:p>
          <a:p>
            <a:pPr algn="just"/>
            <a:r>
              <a:rPr lang="en-US" dirty="0">
                <a:solidFill>
                  <a:srgbClr val="C00000"/>
                </a:solidFill>
              </a:rPr>
              <a:t>Query:</a:t>
            </a:r>
          </a:p>
          <a:p>
            <a:pPr algn="just"/>
            <a:r>
              <a:rPr lang="en-US" i="1" dirty="0"/>
              <a:t>SELECT LEFT('Hello World', 5) AS </a:t>
            </a:r>
            <a:r>
              <a:rPr lang="en-US" i="1" dirty="0" err="1"/>
              <a:t>LeftString</a:t>
            </a:r>
            <a:r>
              <a:rPr lang="en-US" i="1" dirty="0"/>
              <a:t>;</a:t>
            </a:r>
          </a:p>
          <a:p>
            <a:pPr algn="just"/>
            <a:r>
              <a:rPr lang="en-US" i="1" dirty="0"/>
              <a:t>SELECT RIGHT('Hello World', 5) AS </a:t>
            </a:r>
            <a:r>
              <a:rPr lang="en-US" i="1" dirty="0" err="1"/>
              <a:t>RightString</a:t>
            </a:r>
            <a:r>
              <a:rPr lang="en-US" i="1" dirty="0"/>
              <a:t>;</a:t>
            </a:r>
          </a:p>
          <a:p>
            <a:r>
              <a:rPr lang="en-US" dirty="0">
                <a:solidFill>
                  <a:srgbClr val="C00000"/>
                </a:solidFill>
              </a:rPr>
              <a:t>Output:</a:t>
            </a:r>
          </a:p>
          <a:p>
            <a:pPr marL="0" indent="0">
              <a:buNone/>
            </a:pPr>
            <a:r>
              <a:rPr lang="en-US" dirty="0"/>
              <a:t>   Hello    </a:t>
            </a:r>
          </a:p>
          <a:p>
            <a:pPr marL="0" indent="0">
              <a:buNone/>
            </a:pPr>
            <a:r>
              <a:rPr lang="en-US" dirty="0"/>
              <a:t>   World</a:t>
            </a:r>
            <a:endParaRPr lang="en-IN" dirty="0"/>
          </a:p>
        </p:txBody>
      </p:sp>
    </p:spTree>
    <p:extLst>
      <p:ext uri="{BB962C8B-B14F-4D97-AF65-F5344CB8AC3E}">
        <p14:creationId xmlns:p14="http://schemas.microsoft.com/office/powerpoint/2010/main" val="331732921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E84AE06-9096-FE4F-E5BE-2765FCC751CF}"/>
              </a:ext>
            </a:extLst>
          </p:cNvPr>
          <p:cNvSpPr>
            <a:spLocks noGrp="1"/>
          </p:cNvSpPr>
          <p:nvPr>
            <p:ph idx="1"/>
          </p:nvPr>
        </p:nvSpPr>
        <p:spPr>
          <a:xfrm>
            <a:off x="893852" y="863029"/>
            <a:ext cx="10459948" cy="5313934"/>
          </a:xfrm>
        </p:spPr>
        <p:txBody>
          <a:bodyPr>
            <a:normAutofit/>
          </a:bodyPr>
          <a:lstStyle/>
          <a:p>
            <a:pPr marL="0" indent="0">
              <a:buNone/>
            </a:pPr>
            <a:r>
              <a:rPr lang="en-US" b="1" dirty="0">
                <a:solidFill>
                  <a:srgbClr val="C00000"/>
                </a:solidFill>
              </a:rPr>
              <a:t>8. INSTR(): </a:t>
            </a:r>
            <a:r>
              <a:rPr lang="en-US" dirty="0"/>
              <a:t>Find Position of Substring</a:t>
            </a:r>
          </a:p>
          <a:p>
            <a:pPr algn="just"/>
            <a:r>
              <a:rPr lang="en-US" dirty="0"/>
              <a:t>The INSTR() function is used to find the position of the first occurrence of a substring within a string. It returns the position (1-based index) of the substring. If the substring is not found, it returns 0. This function is particularly useful for locating specific characters or substrings in text data.</a:t>
            </a:r>
          </a:p>
          <a:p>
            <a:pPr algn="just"/>
            <a:r>
              <a:rPr lang="en-US" dirty="0">
                <a:solidFill>
                  <a:srgbClr val="C00000"/>
                </a:solidFill>
              </a:rPr>
              <a:t>Query:</a:t>
            </a:r>
          </a:p>
          <a:p>
            <a:pPr algn="just"/>
            <a:r>
              <a:rPr lang="en-US" i="1" dirty="0"/>
              <a:t>SELECT INSTR('Hello World', 'World') AS </a:t>
            </a:r>
            <a:r>
              <a:rPr lang="en-US" i="1" dirty="0" err="1"/>
              <a:t>SubstringPosition</a:t>
            </a:r>
            <a:r>
              <a:rPr lang="en-US" i="1" dirty="0"/>
              <a:t>;</a:t>
            </a:r>
          </a:p>
          <a:p>
            <a:pPr algn="just"/>
            <a:r>
              <a:rPr lang="en-US" dirty="0">
                <a:solidFill>
                  <a:srgbClr val="C00000"/>
                </a:solidFill>
              </a:rPr>
              <a:t>Output:</a:t>
            </a:r>
            <a:r>
              <a:rPr lang="en-US" dirty="0"/>
              <a:t> 7</a:t>
            </a:r>
            <a:endParaRPr lang="en-IN" dirty="0"/>
          </a:p>
        </p:txBody>
      </p:sp>
    </p:spTree>
    <p:extLst>
      <p:ext uri="{BB962C8B-B14F-4D97-AF65-F5344CB8AC3E}">
        <p14:creationId xmlns:p14="http://schemas.microsoft.com/office/powerpoint/2010/main" val="212096268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ADB143B-3919-4459-486F-FE3E7036DDF9}"/>
              </a:ext>
            </a:extLst>
          </p:cNvPr>
          <p:cNvSpPr>
            <a:spLocks noGrp="1"/>
          </p:cNvSpPr>
          <p:nvPr>
            <p:ph idx="1"/>
          </p:nvPr>
        </p:nvSpPr>
        <p:spPr>
          <a:xfrm>
            <a:off x="842480" y="626724"/>
            <a:ext cx="10511319" cy="5550239"/>
          </a:xfrm>
        </p:spPr>
        <p:txBody>
          <a:bodyPr>
            <a:normAutofit/>
          </a:bodyPr>
          <a:lstStyle/>
          <a:p>
            <a:pPr marL="0" indent="0">
              <a:buNone/>
            </a:pPr>
            <a:r>
              <a:rPr lang="en-US" b="1" dirty="0">
                <a:solidFill>
                  <a:srgbClr val="C00000"/>
                </a:solidFill>
              </a:rPr>
              <a:t>10. REVERSE(): </a:t>
            </a:r>
            <a:r>
              <a:rPr lang="en-US" dirty="0"/>
              <a:t>Reverse the String</a:t>
            </a:r>
          </a:p>
          <a:p>
            <a:pPr algn="just"/>
            <a:r>
              <a:rPr lang="en-US" dirty="0"/>
              <a:t>The REVERSE() function reverses the characters in a string. It’s useful in situations where we need to process data backward, such as for password validation or certain pattern matching.</a:t>
            </a:r>
          </a:p>
          <a:p>
            <a:pPr algn="just"/>
            <a:r>
              <a:rPr lang="en-US" dirty="0">
                <a:solidFill>
                  <a:srgbClr val="C00000"/>
                </a:solidFill>
              </a:rPr>
              <a:t>Query:</a:t>
            </a:r>
          </a:p>
          <a:p>
            <a:pPr algn="just"/>
            <a:r>
              <a:rPr lang="en-US" i="1" dirty="0"/>
              <a:t>SELECT REVERSE('Hello') AS </a:t>
            </a:r>
            <a:r>
              <a:rPr lang="en-US" i="1" dirty="0" err="1"/>
              <a:t>ReversedString</a:t>
            </a:r>
            <a:r>
              <a:rPr lang="en-US" i="1" dirty="0"/>
              <a:t>;</a:t>
            </a:r>
          </a:p>
          <a:p>
            <a:pPr algn="just"/>
            <a:r>
              <a:rPr lang="en-US" dirty="0">
                <a:solidFill>
                  <a:srgbClr val="C00000"/>
                </a:solidFill>
              </a:rPr>
              <a:t>Output:</a:t>
            </a:r>
            <a:r>
              <a:rPr lang="en-US" dirty="0"/>
              <a:t> </a:t>
            </a:r>
            <a:r>
              <a:rPr lang="en-US" dirty="0" err="1"/>
              <a:t>olleH</a:t>
            </a:r>
            <a:endParaRPr lang="en-IN" dirty="0"/>
          </a:p>
        </p:txBody>
      </p:sp>
    </p:spTree>
    <p:extLst>
      <p:ext uri="{BB962C8B-B14F-4D97-AF65-F5344CB8AC3E}">
        <p14:creationId xmlns:p14="http://schemas.microsoft.com/office/powerpoint/2010/main" val="276745926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F7EFE5-D0C3-D04D-4876-2264BB512014}"/>
              </a:ext>
            </a:extLst>
          </p:cNvPr>
          <p:cNvSpPr>
            <a:spLocks noGrp="1"/>
          </p:cNvSpPr>
          <p:nvPr>
            <p:ph type="title"/>
          </p:nvPr>
        </p:nvSpPr>
        <p:spPr>
          <a:xfrm>
            <a:off x="838200" y="154113"/>
            <a:ext cx="10515600" cy="821932"/>
          </a:xfrm>
        </p:spPr>
        <p:txBody>
          <a:bodyPr/>
          <a:lstStyle/>
          <a:p>
            <a:pPr algn="ctr"/>
            <a:r>
              <a:rPr lang="en-IN" b="1" dirty="0">
                <a:solidFill>
                  <a:srgbClr val="C00000"/>
                </a:solidFill>
              </a:rPr>
              <a:t>Numeric Functions</a:t>
            </a:r>
          </a:p>
        </p:txBody>
      </p:sp>
      <p:sp>
        <p:nvSpPr>
          <p:cNvPr id="3" name="Content Placeholder 2">
            <a:extLst>
              <a:ext uri="{FF2B5EF4-FFF2-40B4-BE49-F238E27FC236}">
                <a16:creationId xmlns:a16="http://schemas.microsoft.com/office/drawing/2014/main" id="{9C41A664-1355-5A7D-98A5-65CCFA6F58F9}"/>
              </a:ext>
            </a:extLst>
          </p:cNvPr>
          <p:cNvSpPr>
            <a:spLocks noGrp="1"/>
          </p:cNvSpPr>
          <p:nvPr>
            <p:ph idx="1"/>
          </p:nvPr>
        </p:nvSpPr>
        <p:spPr>
          <a:xfrm>
            <a:off x="585627" y="1130157"/>
            <a:ext cx="10768173" cy="5363110"/>
          </a:xfrm>
        </p:spPr>
        <p:txBody>
          <a:bodyPr>
            <a:normAutofit lnSpcReduction="10000"/>
          </a:bodyPr>
          <a:lstStyle/>
          <a:p>
            <a:pPr algn="just"/>
            <a:r>
              <a:rPr lang="en-US" dirty="0"/>
              <a:t>SQL Numeric Functions are essential tools for performing mathematical and arithmetic operations on numeric data. These functions allow you to manipulate numbers, perform calculations, and aggregate data for reporting and analysis purposes.</a:t>
            </a:r>
          </a:p>
          <a:p>
            <a:pPr algn="just"/>
            <a:r>
              <a:rPr lang="en-US" dirty="0">
                <a:solidFill>
                  <a:srgbClr val="C00000"/>
                </a:solidFill>
              </a:rPr>
              <a:t>1. ABS() – Absolute Value</a:t>
            </a:r>
          </a:p>
          <a:p>
            <a:pPr algn="just"/>
            <a:r>
              <a:rPr lang="en-US" dirty="0"/>
              <a:t>The ABS() function returns the absolute value of a number, which is the number without its sign (i.e., it converts negative numbers to positive).</a:t>
            </a:r>
          </a:p>
          <a:p>
            <a:pPr algn="just"/>
            <a:r>
              <a:rPr lang="en-US" dirty="0">
                <a:solidFill>
                  <a:srgbClr val="C00000"/>
                </a:solidFill>
              </a:rPr>
              <a:t>Syntax:</a:t>
            </a:r>
          </a:p>
          <a:p>
            <a:pPr algn="just"/>
            <a:r>
              <a:rPr lang="en-US" i="1" dirty="0"/>
              <a:t>SELECT ABS(number);</a:t>
            </a:r>
          </a:p>
          <a:p>
            <a:pPr algn="just"/>
            <a:r>
              <a:rPr lang="en-US" dirty="0">
                <a:solidFill>
                  <a:srgbClr val="C00000"/>
                </a:solidFill>
              </a:rPr>
              <a:t>Example:</a:t>
            </a:r>
          </a:p>
          <a:p>
            <a:pPr algn="just"/>
            <a:r>
              <a:rPr lang="en-US" i="1" dirty="0"/>
              <a:t>SELECT ABS(-25);</a:t>
            </a:r>
          </a:p>
          <a:p>
            <a:pPr algn="just"/>
            <a:r>
              <a:rPr lang="en-US" dirty="0">
                <a:solidFill>
                  <a:srgbClr val="C00000"/>
                </a:solidFill>
              </a:rPr>
              <a:t>Output:</a:t>
            </a:r>
            <a:r>
              <a:rPr lang="en-US" dirty="0"/>
              <a:t> 25</a:t>
            </a:r>
            <a:endParaRPr lang="en-IN" dirty="0"/>
          </a:p>
        </p:txBody>
      </p:sp>
    </p:spTree>
    <p:extLst>
      <p:ext uri="{BB962C8B-B14F-4D97-AF65-F5344CB8AC3E}">
        <p14:creationId xmlns:p14="http://schemas.microsoft.com/office/powerpoint/2010/main" val="356371940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D8D4DE9-C908-BA2B-1245-3AB2B605CB53}"/>
              </a:ext>
            </a:extLst>
          </p:cNvPr>
          <p:cNvSpPr>
            <a:spLocks noGrp="1"/>
          </p:cNvSpPr>
          <p:nvPr>
            <p:ph idx="1"/>
          </p:nvPr>
        </p:nvSpPr>
        <p:spPr>
          <a:xfrm>
            <a:off x="801384" y="390418"/>
            <a:ext cx="10552416" cy="5786545"/>
          </a:xfrm>
        </p:spPr>
        <p:txBody>
          <a:bodyPr>
            <a:normAutofit/>
          </a:bodyPr>
          <a:lstStyle/>
          <a:p>
            <a:pPr marL="0" indent="0">
              <a:buNone/>
            </a:pPr>
            <a:r>
              <a:rPr lang="en-US" b="1" dirty="0">
                <a:solidFill>
                  <a:srgbClr val="C00000"/>
                </a:solidFill>
              </a:rPr>
              <a:t>2. CEIL() or CEILING() </a:t>
            </a:r>
            <a:r>
              <a:rPr lang="en-US" dirty="0"/>
              <a:t>– Round Number Up</a:t>
            </a:r>
          </a:p>
          <a:p>
            <a:r>
              <a:rPr lang="en-US" dirty="0"/>
              <a:t>The CEIL() (or CEILING()) function rounds a number up to the nearest integer, regardless of whether the decimal part is greater than or less than 0.5.</a:t>
            </a:r>
          </a:p>
          <a:p>
            <a:r>
              <a:rPr lang="en-US" dirty="0">
                <a:solidFill>
                  <a:srgbClr val="C00000"/>
                </a:solidFill>
              </a:rPr>
              <a:t>Syntax:</a:t>
            </a:r>
          </a:p>
          <a:p>
            <a:r>
              <a:rPr lang="en-US" i="1" dirty="0"/>
              <a:t>SELECT CEIL(number);</a:t>
            </a:r>
          </a:p>
          <a:p>
            <a:r>
              <a:rPr lang="en-US" dirty="0">
                <a:solidFill>
                  <a:srgbClr val="C00000"/>
                </a:solidFill>
              </a:rPr>
              <a:t>Example:</a:t>
            </a:r>
          </a:p>
          <a:p>
            <a:r>
              <a:rPr lang="en-US" i="1" dirty="0"/>
              <a:t>SELECT CEIL(12.34)</a:t>
            </a:r>
            <a:r>
              <a:rPr lang="en-US" dirty="0"/>
              <a:t>;</a:t>
            </a:r>
          </a:p>
          <a:p>
            <a:r>
              <a:rPr lang="en-US" dirty="0">
                <a:solidFill>
                  <a:srgbClr val="C00000"/>
                </a:solidFill>
              </a:rPr>
              <a:t>Output</a:t>
            </a:r>
            <a:r>
              <a:rPr lang="en-US" dirty="0"/>
              <a:t>: 13</a:t>
            </a:r>
            <a:endParaRPr lang="en-IN" dirty="0"/>
          </a:p>
        </p:txBody>
      </p:sp>
    </p:spTree>
    <p:extLst>
      <p:ext uri="{BB962C8B-B14F-4D97-AF65-F5344CB8AC3E}">
        <p14:creationId xmlns:p14="http://schemas.microsoft.com/office/powerpoint/2010/main" val="181452705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703392C-4E15-A0C4-5DB0-D1B6733081C5}"/>
              </a:ext>
            </a:extLst>
          </p:cNvPr>
          <p:cNvSpPr>
            <a:spLocks noGrp="1"/>
          </p:cNvSpPr>
          <p:nvPr>
            <p:ph idx="1"/>
          </p:nvPr>
        </p:nvSpPr>
        <p:spPr>
          <a:xfrm>
            <a:off x="708917" y="493160"/>
            <a:ext cx="10644883" cy="5683803"/>
          </a:xfrm>
        </p:spPr>
        <p:txBody>
          <a:bodyPr>
            <a:normAutofit/>
          </a:bodyPr>
          <a:lstStyle/>
          <a:p>
            <a:pPr marL="0" indent="0">
              <a:buNone/>
            </a:pPr>
            <a:r>
              <a:rPr lang="en-US" dirty="0">
                <a:solidFill>
                  <a:srgbClr val="C00000"/>
                </a:solidFill>
              </a:rPr>
              <a:t>3. FLOOR() </a:t>
            </a:r>
            <a:r>
              <a:rPr lang="en-US" dirty="0"/>
              <a:t>– Round Number Down</a:t>
            </a:r>
          </a:p>
          <a:p>
            <a:r>
              <a:rPr lang="en-US" dirty="0"/>
              <a:t>The FLOOR() function rounds a number down to the nearest integer, ignoring the decimal part.</a:t>
            </a:r>
          </a:p>
          <a:p>
            <a:r>
              <a:rPr lang="en-US" dirty="0">
                <a:solidFill>
                  <a:srgbClr val="C00000"/>
                </a:solidFill>
              </a:rPr>
              <a:t>Syntax:</a:t>
            </a:r>
          </a:p>
          <a:p>
            <a:r>
              <a:rPr lang="en-US" i="1" dirty="0"/>
              <a:t>SELECT FLOOR(number);</a:t>
            </a:r>
          </a:p>
          <a:p>
            <a:r>
              <a:rPr lang="en-US" dirty="0">
                <a:solidFill>
                  <a:srgbClr val="C00000"/>
                </a:solidFill>
              </a:rPr>
              <a:t>Example:</a:t>
            </a:r>
          </a:p>
          <a:p>
            <a:r>
              <a:rPr lang="en-US" i="1" dirty="0"/>
              <a:t>SELECT FLOOR(12.98);</a:t>
            </a:r>
          </a:p>
          <a:p>
            <a:r>
              <a:rPr lang="en-US" dirty="0">
                <a:solidFill>
                  <a:srgbClr val="C00000"/>
                </a:solidFill>
              </a:rPr>
              <a:t>Output:</a:t>
            </a:r>
            <a:r>
              <a:rPr lang="en-US" dirty="0"/>
              <a:t> 12</a:t>
            </a:r>
            <a:endParaRPr lang="en-IN" dirty="0"/>
          </a:p>
        </p:txBody>
      </p:sp>
    </p:spTree>
    <p:extLst>
      <p:ext uri="{BB962C8B-B14F-4D97-AF65-F5344CB8AC3E}">
        <p14:creationId xmlns:p14="http://schemas.microsoft.com/office/powerpoint/2010/main" val="180014677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D3B88EF-0F1B-E956-A5F2-33664A8BF9F7}"/>
              </a:ext>
            </a:extLst>
          </p:cNvPr>
          <p:cNvSpPr>
            <a:spLocks noGrp="1"/>
          </p:cNvSpPr>
          <p:nvPr>
            <p:ph idx="1"/>
          </p:nvPr>
        </p:nvSpPr>
        <p:spPr>
          <a:xfrm>
            <a:off x="852754" y="534256"/>
            <a:ext cx="10501045" cy="5642707"/>
          </a:xfrm>
        </p:spPr>
        <p:txBody>
          <a:bodyPr>
            <a:normAutofit/>
          </a:bodyPr>
          <a:lstStyle/>
          <a:p>
            <a:pPr marL="0" indent="0">
              <a:buNone/>
            </a:pPr>
            <a:r>
              <a:rPr lang="en-US" b="1" dirty="0">
                <a:solidFill>
                  <a:srgbClr val="C00000"/>
                </a:solidFill>
              </a:rPr>
              <a:t>4. ROUND() </a:t>
            </a:r>
            <a:r>
              <a:rPr lang="en-US" dirty="0"/>
              <a:t>– Round a Number to a Specified Decimal Place</a:t>
            </a:r>
          </a:p>
          <a:p>
            <a:pPr algn="just"/>
            <a:r>
              <a:rPr lang="en-US" dirty="0"/>
              <a:t>The ROUND() function rounds a number to a specified number of decimal places. It is very useful for financial calculations or whenever precise rounding is necessary.</a:t>
            </a:r>
          </a:p>
          <a:p>
            <a:pPr algn="just"/>
            <a:r>
              <a:rPr lang="en-US" dirty="0">
                <a:solidFill>
                  <a:srgbClr val="C00000"/>
                </a:solidFill>
              </a:rPr>
              <a:t>Syntax:</a:t>
            </a:r>
          </a:p>
          <a:p>
            <a:pPr algn="just"/>
            <a:r>
              <a:rPr lang="en-US" i="1" dirty="0"/>
              <a:t>SELECT ROUND(number, </a:t>
            </a:r>
            <a:r>
              <a:rPr lang="en-US" i="1" dirty="0" err="1"/>
              <a:t>decimal_places</a:t>
            </a:r>
            <a:r>
              <a:rPr lang="en-US" i="1" dirty="0"/>
              <a:t>);</a:t>
            </a:r>
          </a:p>
          <a:p>
            <a:pPr algn="just"/>
            <a:r>
              <a:rPr lang="en-US" dirty="0">
                <a:solidFill>
                  <a:srgbClr val="C00000"/>
                </a:solidFill>
              </a:rPr>
              <a:t>Example:</a:t>
            </a:r>
          </a:p>
          <a:p>
            <a:pPr algn="just"/>
            <a:r>
              <a:rPr lang="en-US" i="1" dirty="0"/>
              <a:t>SELECT ROUND(15.6789, 2);</a:t>
            </a:r>
          </a:p>
          <a:p>
            <a:pPr algn="just"/>
            <a:r>
              <a:rPr lang="en-US" dirty="0">
                <a:solidFill>
                  <a:srgbClr val="C00000"/>
                </a:solidFill>
              </a:rPr>
              <a:t>Output: </a:t>
            </a:r>
            <a:r>
              <a:rPr lang="en-US" dirty="0"/>
              <a:t>15.68</a:t>
            </a:r>
            <a:endParaRPr lang="en-IN" dirty="0"/>
          </a:p>
        </p:txBody>
      </p:sp>
    </p:spTree>
    <p:extLst>
      <p:ext uri="{BB962C8B-B14F-4D97-AF65-F5344CB8AC3E}">
        <p14:creationId xmlns:p14="http://schemas.microsoft.com/office/powerpoint/2010/main" val="310824905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103A13F-0627-FAF2-457E-0C13A8193347}"/>
              </a:ext>
            </a:extLst>
          </p:cNvPr>
          <p:cNvSpPr>
            <a:spLocks noGrp="1"/>
          </p:cNvSpPr>
          <p:nvPr>
            <p:ph idx="1"/>
          </p:nvPr>
        </p:nvSpPr>
        <p:spPr>
          <a:xfrm>
            <a:off x="667820" y="503434"/>
            <a:ext cx="10685980" cy="5673529"/>
          </a:xfrm>
        </p:spPr>
        <p:txBody>
          <a:bodyPr>
            <a:normAutofit/>
          </a:bodyPr>
          <a:lstStyle/>
          <a:p>
            <a:pPr marL="0" indent="0">
              <a:buNone/>
            </a:pPr>
            <a:r>
              <a:rPr lang="en-US" b="1" dirty="0">
                <a:solidFill>
                  <a:srgbClr val="C00000"/>
                </a:solidFill>
              </a:rPr>
              <a:t>5. TRUNCATE(</a:t>
            </a:r>
            <a:r>
              <a:rPr lang="en-US" dirty="0"/>
              <a:t>) – Remove Decimal Places</a:t>
            </a:r>
          </a:p>
          <a:p>
            <a:pPr algn="just"/>
            <a:r>
              <a:rPr lang="en-US" dirty="0"/>
              <a:t>The TRUNCATE() function is used to remove the decimal portion of a number without rounding. It truncates the number to the specified number of decimal places.</a:t>
            </a:r>
          </a:p>
          <a:p>
            <a:pPr algn="just"/>
            <a:r>
              <a:rPr lang="en-US" dirty="0">
                <a:solidFill>
                  <a:srgbClr val="C00000"/>
                </a:solidFill>
              </a:rPr>
              <a:t>Syntax:</a:t>
            </a:r>
          </a:p>
          <a:p>
            <a:pPr algn="just"/>
            <a:r>
              <a:rPr lang="en-US" i="1" dirty="0"/>
              <a:t>SELECT TRUNCATE(number, </a:t>
            </a:r>
            <a:r>
              <a:rPr lang="en-US" i="1" dirty="0" err="1"/>
              <a:t>decimal_places</a:t>
            </a:r>
            <a:r>
              <a:rPr lang="en-US" i="1" dirty="0"/>
              <a:t>);</a:t>
            </a:r>
          </a:p>
          <a:p>
            <a:pPr algn="just"/>
            <a:r>
              <a:rPr lang="en-US" dirty="0">
                <a:solidFill>
                  <a:srgbClr val="C00000"/>
                </a:solidFill>
              </a:rPr>
              <a:t>Example:</a:t>
            </a:r>
          </a:p>
          <a:p>
            <a:pPr algn="just"/>
            <a:r>
              <a:rPr lang="en-US" i="1" dirty="0"/>
              <a:t>SELECT TRUNCATE(12.98765, 2);</a:t>
            </a:r>
          </a:p>
          <a:p>
            <a:pPr algn="just"/>
            <a:r>
              <a:rPr lang="en-US" dirty="0">
                <a:solidFill>
                  <a:srgbClr val="C00000"/>
                </a:solidFill>
              </a:rPr>
              <a:t>Output: </a:t>
            </a:r>
            <a:r>
              <a:rPr lang="en-US" dirty="0"/>
              <a:t>12.98</a:t>
            </a:r>
            <a:endParaRPr lang="en-IN" dirty="0"/>
          </a:p>
        </p:txBody>
      </p:sp>
    </p:spTree>
    <p:extLst>
      <p:ext uri="{BB962C8B-B14F-4D97-AF65-F5344CB8AC3E}">
        <p14:creationId xmlns:p14="http://schemas.microsoft.com/office/powerpoint/2010/main" val="4252561239"/>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1C619F6-37F7-52A7-52B7-45D721396499}"/>
              </a:ext>
            </a:extLst>
          </p:cNvPr>
          <p:cNvSpPr>
            <a:spLocks noGrp="1"/>
          </p:cNvSpPr>
          <p:nvPr>
            <p:ph idx="1"/>
          </p:nvPr>
        </p:nvSpPr>
        <p:spPr>
          <a:xfrm>
            <a:off x="770562" y="575353"/>
            <a:ext cx="10583238" cy="5601610"/>
          </a:xfrm>
        </p:spPr>
        <p:txBody>
          <a:bodyPr>
            <a:normAutofit/>
          </a:bodyPr>
          <a:lstStyle/>
          <a:p>
            <a:pPr marL="0" indent="0">
              <a:buNone/>
            </a:pPr>
            <a:r>
              <a:rPr lang="en-US" b="1" dirty="0">
                <a:solidFill>
                  <a:srgbClr val="C00000"/>
                </a:solidFill>
              </a:rPr>
              <a:t>6. MOD() </a:t>
            </a:r>
            <a:r>
              <a:rPr lang="en-US" dirty="0"/>
              <a:t>– Modulo or Remainder</a:t>
            </a:r>
          </a:p>
          <a:p>
            <a:pPr algn="just"/>
            <a:r>
              <a:rPr lang="en-US" dirty="0"/>
              <a:t>The MOD() function returns the remainder of a division operation (i.e., it computes the modulus). This function is useful for tasks like determining even/odd numbers or finding remainders in mathematical operations.</a:t>
            </a:r>
          </a:p>
          <a:p>
            <a:pPr algn="just"/>
            <a:r>
              <a:rPr lang="en-US" dirty="0">
                <a:solidFill>
                  <a:srgbClr val="C00000"/>
                </a:solidFill>
              </a:rPr>
              <a:t>Syntax:</a:t>
            </a:r>
          </a:p>
          <a:p>
            <a:pPr algn="just"/>
            <a:r>
              <a:rPr lang="en-US" i="1" dirty="0"/>
              <a:t>SELECT MOD(dividend, divisor);</a:t>
            </a:r>
          </a:p>
          <a:p>
            <a:pPr algn="just"/>
            <a:r>
              <a:rPr lang="en-US" dirty="0">
                <a:solidFill>
                  <a:srgbClr val="C00000"/>
                </a:solidFill>
              </a:rPr>
              <a:t>Example:</a:t>
            </a:r>
          </a:p>
          <a:p>
            <a:pPr algn="just"/>
            <a:r>
              <a:rPr lang="en-US" i="1" dirty="0"/>
              <a:t>SELECT MOD(10, 3);</a:t>
            </a:r>
          </a:p>
          <a:p>
            <a:pPr algn="just"/>
            <a:r>
              <a:rPr lang="en-US" dirty="0">
                <a:solidFill>
                  <a:srgbClr val="C00000"/>
                </a:solidFill>
              </a:rPr>
              <a:t>Output:</a:t>
            </a:r>
            <a:r>
              <a:rPr lang="en-US" dirty="0"/>
              <a:t> 1</a:t>
            </a:r>
            <a:endParaRPr lang="en-IN" dirty="0"/>
          </a:p>
        </p:txBody>
      </p:sp>
    </p:spTree>
    <p:extLst>
      <p:ext uri="{BB962C8B-B14F-4D97-AF65-F5344CB8AC3E}">
        <p14:creationId xmlns:p14="http://schemas.microsoft.com/office/powerpoint/2010/main" val="257159011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8916CC0-3B49-9A32-D6BD-AB3D40B846AB}"/>
              </a:ext>
            </a:extLst>
          </p:cNvPr>
          <p:cNvSpPr>
            <a:spLocks noGrp="1"/>
          </p:cNvSpPr>
          <p:nvPr>
            <p:ph idx="1"/>
          </p:nvPr>
        </p:nvSpPr>
        <p:spPr>
          <a:xfrm>
            <a:off x="750013" y="575353"/>
            <a:ext cx="10603787" cy="5601610"/>
          </a:xfrm>
        </p:spPr>
        <p:txBody>
          <a:bodyPr>
            <a:normAutofit/>
          </a:bodyPr>
          <a:lstStyle/>
          <a:p>
            <a:pPr marL="0" indent="0" algn="just">
              <a:buNone/>
            </a:pPr>
            <a:r>
              <a:rPr lang="en-US" b="1" dirty="0">
                <a:solidFill>
                  <a:srgbClr val="C00000"/>
                </a:solidFill>
              </a:rPr>
              <a:t>7. POWER() </a:t>
            </a:r>
            <a:r>
              <a:rPr lang="en-US" dirty="0"/>
              <a:t>– Raise a Number to the Power of Another</a:t>
            </a:r>
          </a:p>
          <a:p>
            <a:pPr algn="just"/>
            <a:r>
              <a:rPr lang="en-US" dirty="0"/>
              <a:t>The POWER() function is used to raise a number to the power of another number. It is often used in mathematical calculations like compound interest or growth rate.</a:t>
            </a:r>
          </a:p>
          <a:p>
            <a:pPr algn="just"/>
            <a:endParaRPr lang="en-US" dirty="0"/>
          </a:p>
          <a:p>
            <a:pPr algn="just"/>
            <a:r>
              <a:rPr lang="en-US" dirty="0">
                <a:solidFill>
                  <a:srgbClr val="C00000"/>
                </a:solidFill>
              </a:rPr>
              <a:t>Syntax:</a:t>
            </a:r>
          </a:p>
          <a:p>
            <a:pPr algn="just"/>
            <a:r>
              <a:rPr lang="en-US" i="1" dirty="0"/>
              <a:t>SELECT POWER(base, exponent);</a:t>
            </a:r>
          </a:p>
          <a:p>
            <a:pPr algn="just"/>
            <a:r>
              <a:rPr lang="en-US" dirty="0">
                <a:solidFill>
                  <a:srgbClr val="C00000"/>
                </a:solidFill>
              </a:rPr>
              <a:t>Example:</a:t>
            </a:r>
          </a:p>
          <a:p>
            <a:pPr algn="just"/>
            <a:r>
              <a:rPr lang="en-US" i="1" dirty="0"/>
              <a:t>SELECT POWER(2, 3);</a:t>
            </a:r>
          </a:p>
          <a:p>
            <a:pPr algn="just"/>
            <a:r>
              <a:rPr lang="en-US" dirty="0">
                <a:solidFill>
                  <a:srgbClr val="C00000"/>
                </a:solidFill>
              </a:rPr>
              <a:t>Output</a:t>
            </a:r>
            <a:r>
              <a:rPr lang="en-US" dirty="0"/>
              <a:t>: 8</a:t>
            </a:r>
            <a:endParaRPr lang="en-IN" dirty="0"/>
          </a:p>
        </p:txBody>
      </p:sp>
    </p:spTree>
    <p:extLst>
      <p:ext uri="{BB962C8B-B14F-4D97-AF65-F5344CB8AC3E}">
        <p14:creationId xmlns:p14="http://schemas.microsoft.com/office/powerpoint/2010/main" val="2305572548"/>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63D2D2B-5F8A-A33D-0A00-ECB711009A27}"/>
              </a:ext>
            </a:extLst>
          </p:cNvPr>
          <p:cNvSpPr>
            <a:spLocks noGrp="1"/>
          </p:cNvSpPr>
          <p:nvPr>
            <p:ph idx="1"/>
          </p:nvPr>
        </p:nvSpPr>
        <p:spPr>
          <a:xfrm>
            <a:off x="688369" y="760288"/>
            <a:ext cx="10665431" cy="5416675"/>
          </a:xfrm>
        </p:spPr>
        <p:txBody>
          <a:bodyPr>
            <a:normAutofit/>
          </a:bodyPr>
          <a:lstStyle/>
          <a:p>
            <a:pPr marL="0" indent="0">
              <a:buNone/>
            </a:pPr>
            <a:r>
              <a:rPr lang="en-US" b="1" dirty="0">
                <a:solidFill>
                  <a:srgbClr val="C00000"/>
                </a:solidFill>
              </a:rPr>
              <a:t>8. SQRT() </a:t>
            </a:r>
            <a:r>
              <a:rPr lang="en-US" dirty="0"/>
              <a:t>– Square Root</a:t>
            </a:r>
          </a:p>
          <a:p>
            <a:pPr algn="just"/>
            <a:r>
              <a:rPr lang="en-US" dirty="0"/>
              <a:t>The SQRT() function returns the square root of a number. This is useful for mathematical calculations involving geometry or statistical analysis.</a:t>
            </a:r>
          </a:p>
          <a:p>
            <a:pPr algn="just"/>
            <a:endParaRPr lang="en-US" dirty="0"/>
          </a:p>
          <a:p>
            <a:pPr algn="just"/>
            <a:r>
              <a:rPr lang="en-US" dirty="0">
                <a:solidFill>
                  <a:srgbClr val="C00000"/>
                </a:solidFill>
              </a:rPr>
              <a:t>Syntax:</a:t>
            </a:r>
          </a:p>
          <a:p>
            <a:pPr algn="just"/>
            <a:r>
              <a:rPr lang="en-US" dirty="0"/>
              <a:t>SELECT SQRT(number);</a:t>
            </a:r>
          </a:p>
          <a:p>
            <a:pPr algn="just"/>
            <a:r>
              <a:rPr lang="en-US" dirty="0">
                <a:solidFill>
                  <a:srgbClr val="C00000"/>
                </a:solidFill>
              </a:rPr>
              <a:t>Example:</a:t>
            </a:r>
          </a:p>
          <a:p>
            <a:pPr algn="just"/>
            <a:r>
              <a:rPr lang="en-US" dirty="0"/>
              <a:t>SELECT SQRT(16);</a:t>
            </a:r>
          </a:p>
          <a:p>
            <a:pPr algn="just"/>
            <a:r>
              <a:rPr lang="en-US" dirty="0">
                <a:solidFill>
                  <a:srgbClr val="C00000"/>
                </a:solidFill>
              </a:rPr>
              <a:t>Output:</a:t>
            </a:r>
            <a:r>
              <a:rPr lang="en-US" dirty="0"/>
              <a:t> 4</a:t>
            </a:r>
            <a:endParaRPr lang="en-IN" dirty="0"/>
          </a:p>
        </p:txBody>
      </p:sp>
    </p:spTree>
    <p:extLst>
      <p:ext uri="{BB962C8B-B14F-4D97-AF65-F5344CB8AC3E}">
        <p14:creationId xmlns:p14="http://schemas.microsoft.com/office/powerpoint/2010/main" val="2240567616"/>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B36526D-F363-086A-7700-6E15ECB4EBEE}"/>
              </a:ext>
            </a:extLst>
          </p:cNvPr>
          <p:cNvSpPr>
            <a:spLocks noGrp="1"/>
          </p:cNvSpPr>
          <p:nvPr>
            <p:ph idx="1"/>
          </p:nvPr>
        </p:nvSpPr>
        <p:spPr>
          <a:xfrm>
            <a:off x="904126" y="647272"/>
            <a:ext cx="10449674" cy="5529691"/>
          </a:xfrm>
        </p:spPr>
        <p:txBody>
          <a:bodyPr>
            <a:normAutofit/>
          </a:bodyPr>
          <a:lstStyle/>
          <a:p>
            <a:pPr marL="0" indent="0">
              <a:buNone/>
            </a:pPr>
            <a:r>
              <a:rPr lang="en-US" b="1" dirty="0">
                <a:solidFill>
                  <a:srgbClr val="C00000"/>
                </a:solidFill>
              </a:rPr>
              <a:t>9. LOG() – Logarithm</a:t>
            </a:r>
          </a:p>
          <a:p>
            <a:pPr algn="just"/>
            <a:r>
              <a:rPr lang="en-US" dirty="0"/>
              <a:t>The LOG() function returns the natural logarithm (base e) of a number. You can also use LOG(base, number) to calculate the logarithm of a number with a custom base.</a:t>
            </a:r>
          </a:p>
          <a:p>
            <a:r>
              <a:rPr lang="en-US" dirty="0">
                <a:solidFill>
                  <a:srgbClr val="C00000"/>
                </a:solidFill>
              </a:rPr>
              <a:t>Syntax:</a:t>
            </a:r>
          </a:p>
          <a:p>
            <a:r>
              <a:rPr lang="en-US" i="1" dirty="0"/>
              <a:t>SELECT LOG(number);</a:t>
            </a:r>
          </a:p>
          <a:p>
            <a:r>
              <a:rPr lang="en-US" i="1" dirty="0"/>
              <a:t>SELECT LOG(base, number);</a:t>
            </a:r>
          </a:p>
          <a:p>
            <a:r>
              <a:rPr lang="en-US" dirty="0">
                <a:solidFill>
                  <a:srgbClr val="C00000"/>
                </a:solidFill>
              </a:rPr>
              <a:t>Example:</a:t>
            </a:r>
          </a:p>
          <a:p>
            <a:r>
              <a:rPr lang="en-US" i="1" dirty="0"/>
              <a:t>SELECT LOG(100);</a:t>
            </a:r>
          </a:p>
          <a:p>
            <a:r>
              <a:rPr lang="en-US" dirty="0">
                <a:solidFill>
                  <a:srgbClr val="C00000"/>
                </a:solidFill>
              </a:rPr>
              <a:t>Output:</a:t>
            </a:r>
            <a:r>
              <a:rPr lang="en-US" dirty="0"/>
              <a:t> 4.605170186</a:t>
            </a:r>
            <a:endParaRPr lang="en-IN" dirty="0"/>
          </a:p>
        </p:txBody>
      </p:sp>
    </p:spTree>
    <p:extLst>
      <p:ext uri="{BB962C8B-B14F-4D97-AF65-F5344CB8AC3E}">
        <p14:creationId xmlns:p14="http://schemas.microsoft.com/office/powerpoint/2010/main" val="651264716"/>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BFF5F9-8DE1-59FE-C91C-071E3984B1F0}"/>
              </a:ext>
            </a:extLst>
          </p:cNvPr>
          <p:cNvSpPr>
            <a:spLocks noGrp="1"/>
          </p:cNvSpPr>
          <p:nvPr>
            <p:ph type="title"/>
          </p:nvPr>
        </p:nvSpPr>
        <p:spPr>
          <a:xfrm>
            <a:off x="838200" y="123291"/>
            <a:ext cx="10515600" cy="968358"/>
          </a:xfrm>
        </p:spPr>
        <p:txBody>
          <a:bodyPr/>
          <a:lstStyle/>
          <a:p>
            <a:pPr algn="ctr"/>
            <a:r>
              <a:rPr lang="en-US" b="1" dirty="0">
                <a:solidFill>
                  <a:srgbClr val="C00000"/>
                </a:solidFill>
              </a:rPr>
              <a:t>SQL Date and Time Functions</a:t>
            </a:r>
            <a:endParaRPr lang="en-IN" b="1" dirty="0">
              <a:solidFill>
                <a:srgbClr val="C00000"/>
              </a:solidFill>
            </a:endParaRPr>
          </a:p>
        </p:txBody>
      </p:sp>
      <p:sp>
        <p:nvSpPr>
          <p:cNvPr id="3" name="Content Placeholder 2">
            <a:extLst>
              <a:ext uri="{FF2B5EF4-FFF2-40B4-BE49-F238E27FC236}">
                <a16:creationId xmlns:a16="http://schemas.microsoft.com/office/drawing/2014/main" id="{1E1A45AF-F679-C173-DD95-C24A256854F0}"/>
              </a:ext>
            </a:extLst>
          </p:cNvPr>
          <p:cNvSpPr>
            <a:spLocks noGrp="1"/>
          </p:cNvSpPr>
          <p:nvPr>
            <p:ph idx="1"/>
          </p:nvPr>
        </p:nvSpPr>
        <p:spPr>
          <a:xfrm>
            <a:off x="838200" y="1500027"/>
            <a:ext cx="10515600" cy="4676936"/>
          </a:xfrm>
        </p:spPr>
        <p:txBody>
          <a:bodyPr/>
          <a:lstStyle/>
          <a:p>
            <a:pPr algn="just"/>
            <a:r>
              <a:rPr lang="en-US" dirty="0"/>
              <a:t>Handling date and time data in SQL is essential for many database operations. SQL provides a variety of date and time functions that help users work with date values, perform calculations, and format them as needed.</a:t>
            </a:r>
          </a:p>
          <a:p>
            <a:endParaRPr lang="en-IN" dirty="0"/>
          </a:p>
        </p:txBody>
      </p:sp>
      <p:pic>
        <p:nvPicPr>
          <p:cNvPr id="5" name="Picture 4">
            <a:extLst>
              <a:ext uri="{FF2B5EF4-FFF2-40B4-BE49-F238E27FC236}">
                <a16:creationId xmlns:a16="http://schemas.microsoft.com/office/drawing/2014/main" id="{85F27314-E101-6180-7169-05C45B666AF3}"/>
              </a:ext>
            </a:extLst>
          </p:cNvPr>
          <p:cNvPicPr>
            <a:picLocks noChangeAspect="1"/>
          </p:cNvPicPr>
          <p:nvPr/>
        </p:nvPicPr>
        <p:blipFill>
          <a:blip r:embed="rId2"/>
          <a:stretch>
            <a:fillRect/>
          </a:stretch>
        </p:blipFill>
        <p:spPr>
          <a:xfrm>
            <a:off x="4011655" y="3260652"/>
            <a:ext cx="5792008" cy="3324689"/>
          </a:xfrm>
          <a:prstGeom prst="rect">
            <a:avLst/>
          </a:prstGeom>
        </p:spPr>
      </p:pic>
    </p:spTree>
    <p:extLst>
      <p:ext uri="{BB962C8B-B14F-4D97-AF65-F5344CB8AC3E}">
        <p14:creationId xmlns:p14="http://schemas.microsoft.com/office/powerpoint/2010/main" val="4118882693"/>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5B8BE1E-37AA-1CB5-8B7C-A82890E96A19}"/>
              </a:ext>
            </a:extLst>
          </p:cNvPr>
          <p:cNvSpPr>
            <a:spLocks noGrp="1"/>
          </p:cNvSpPr>
          <p:nvPr>
            <p:ph idx="1"/>
          </p:nvPr>
        </p:nvSpPr>
        <p:spPr>
          <a:xfrm>
            <a:off x="739739" y="534256"/>
            <a:ext cx="10614061" cy="5642707"/>
          </a:xfrm>
        </p:spPr>
        <p:txBody>
          <a:bodyPr>
            <a:normAutofit/>
          </a:bodyPr>
          <a:lstStyle/>
          <a:p>
            <a:pPr marL="0" indent="0">
              <a:buNone/>
            </a:pPr>
            <a:r>
              <a:rPr lang="en-US" b="1" dirty="0">
                <a:solidFill>
                  <a:srgbClr val="C00000"/>
                </a:solidFill>
              </a:rPr>
              <a:t>SQL Date Functions</a:t>
            </a:r>
          </a:p>
          <a:p>
            <a:pPr marL="0" indent="0">
              <a:buNone/>
            </a:pPr>
            <a:r>
              <a:rPr lang="en-US" dirty="0">
                <a:solidFill>
                  <a:srgbClr val="C00000"/>
                </a:solidFill>
              </a:rPr>
              <a:t>1. NOW()</a:t>
            </a:r>
          </a:p>
          <a:p>
            <a:pPr algn="just"/>
            <a:r>
              <a:rPr lang="en-US" dirty="0"/>
              <a:t>The NOW() function retrieves the current date and time in YYYY-MM-DD HH:MI:SS format.</a:t>
            </a:r>
          </a:p>
          <a:p>
            <a:pPr algn="just"/>
            <a:r>
              <a:rPr lang="en-US" dirty="0">
                <a:solidFill>
                  <a:srgbClr val="C00000"/>
                </a:solidFill>
              </a:rPr>
              <a:t>Query:</a:t>
            </a:r>
          </a:p>
          <a:p>
            <a:pPr algn="just"/>
            <a:r>
              <a:rPr lang="en-US" i="1" dirty="0"/>
              <a:t>SELECT NOW();</a:t>
            </a:r>
          </a:p>
          <a:p>
            <a:pPr marL="0" indent="0" algn="just">
              <a:buNone/>
            </a:pPr>
            <a:r>
              <a:rPr lang="en-US" dirty="0">
                <a:solidFill>
                  <a:srgbClr val="C00000"/>
                </a:solidFill>
              </a:rPr>
              <a:t>2. CURDATE()</a:t>
            </a:r>
          </a:p>
          <a:p>
            <a:pPr algn="just"/>
            <a:r>
              <a:rPr lang="en-US" dirty="0"/>
              <a:t>CURDATE() returns the current date in YYYY-MM-DD format, without the time part.</a:t>
            </a:r>
          </a:p>
          <a:p>
            <a:pPr algn="just"/>
            <a:r>
              <a:rPr lang="en-US" dirty="0">
                <a:solidFill>
                  <a:srgbClr val="C00000"/>
                </a:solidFill>
              </a:rPr>
              <a:t>Query:</a:t>
            </a:r>
          </a:p>
          <a:p>
            <a:pPr algn="just"/>
            <a:r>
              <a:rPr lang="en-US" i="1" dirty="0"/>
              <a:t>SELECT CURDATE();</a:t>
            </a:r>
            <a:endParaRPr lang="en-IN" i="1" dirty="0"/>
          </a:p>
        </p:txBody>
      </p:sp>
    </p:spTree>
    <p:extLst>
      <p:ext uri="{BB962C8B-B14F-4D97-AF65-F5344CB8AC3E}">
        <p14:creationId xmlns:p14="http://schemas.microsoft.com/office/powerpoint/2010/main" val="373423682"/>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8FEE2A5-225E-FF36-BA89-07BB3390ADE2}"/>
              </a:ext>
            </a:extLst>
          </p:cNvPr>
          <p:cNvSpPr>
            <a:spLocks noGrp="1"/>
          </p:cNvSpPr>
          <p:nvPr>
            <p:ph idx="1"/>
          </p:nvPr>
        </p:nvSpPr>
        <p:spPr>
          <a:xfrm>
            <a:off x="616449" y="626724"/>
            <a:ext cx="10737351" cy="5550239"/>
          </a:xfrm>
        </p:spPr>
        <p:txBody>
          <a:bodyPr/>
          <a:lstStyle/>
          <a:p>
            <a:pPr marL="0" indent="0">
              <a:buNone/>
            </a:pPr>
            <a:r>
              <a:rPr lang="en-US" dirty="0">
                <a:solidFill>
                  <a:srgbClr val="C00000"/>
                </a:solidFill>
              </a:rPr>
              <a:t>3. CURTIME()</a:t>
            </a:r>
          </a:p>
          <a:p>
            <a:pPr algn="just"/>
            <a:r>
              <a:rPr lang="en-US" dirty="0"/>
              <a:t>The CURTIME() function returns the current time in HH:MI:SS format, excluding the date.</a:t>
            </a:r>
          </a:p>
          <a:p>
            <a:pPr algn="just"/>
            <a:r>
              <a:rPr lang="en-US" dirty="0">
                <a:solidFill>
                  <a:srgbClr val="C00000"/>
                </a:solidFill>
              </a:rPr>
              <a:t>Query:</a:t>
            </a:r>
          </a:p>
          <a:p>
            <a:pPr algn="just"/>
            <a:r>
              <a:rPr lang="en-US" dirty="0"/>
              <a:t>SELECT CURTIME();</a:t>
            </a:r>
          </a:p>
          <a:p>
            <a:pPr marL="0" indent="0" algn="just">
              <a:buNone/>
            </a:pPr>
            <a:r>
              <a:rPr lang="en-US" dirty="0">
                <a:solidFill>
                  <a:srgbClr val="C00000"/>
                </a:solidFill>
              </a:rPr>
              <a:t>4. DATE()</a:t>
            </a:r>
          </a:p>
          <a:p>
            <a:pPr algn="just"/>
            <a:r>
              <a:rPr lang="en-US" dirty="0"/>
              <a:t>Extracts the date part of a date or date/time expression. Example: For the below table named ‘Test’</a:t>
            </a:r>
          </a:p>
          <a:p>
            <a:endParaRPr lang="en-IN" dirty="0"/>
          </a:p>
        </p:txBody>
      </p:sp>
      <p:pic>
        <p:nvPicPr>
          <p:cNvPr id="5" name="Picture 4">
            <a:extLst>
              <a:ext uri="{FF2B5EF4-FFF2-40B4-BE49-F238E27FC236}">
                <a16:creationId xmlns:a16="http://schemas.microsoft.com/office/drawing/2014/main" id="{C508DA93-E3F1-7F0D-C48D-A231E0DB987A}"/>
              </a:ext>
            </a:extLst>
          </p:cNvPr>
          <p:cNvPicPr>
            <a:picLocks noChangeAspect="1"/>
          </p:cNvPicPr>
          <p:nvPr/>
        </p:nvPicPr>
        <p:blipFill>
          <a:blip r:embed="rId2"/>
          <a:stretch>
            <a:fillRect/>
          </a:stretch>
        </p:blipFill>
        <p:spPr>
          <a:xfrm>
            <a:off x="3495312" y="4490803"/>
            <a:ext cx="5201376" cy="1686160"/>
          </a:xfrm>
          <a:prstGeom prst="rect">
            <a:avLst/>
          </a:prstGeom>
        </p:spPr>
      </p:pic>
    </p:spTree>
    <p:extLst>
      <p:ext uri="{BB962C8B-B14F-4D97-AF65-F5344CB8AC3E}">
        <p14:creationId xmlns:p14="http://schemas.microsoft.com/office/powerpoint/2010/main" val="2031898221"/>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E202A83-012B-95DC-2700-56CABB6CD665}"/>
              </a:ext>
            </a:extLst>
          </p:cNvPr>
          <p:cNvSpPr>
            <a:spLocks noGrp="1"/>
          </p:cNvSpPr>
          <p:nvPr>
            <p:ph idx="1"/>
          </p:nvPr>
        </p:nvSpPr>
        <p:spPr>
          <a:xfrm>
            <a:off x="632112" y="592726"/>
            <a:ext cx="10515600" cy="4351338"/>
          </a:xfrm>
        </p:spPr>
        <p:txBody>
          <a:bodyPr/>
          <a:lstStyle/>
          <a:p>
            <a:r>
              <a:rPr lang="en-US" dirty="0">
                <a:solidFill>
                  <a:srgbClr val="C00000"/>
                </a:solidFill>
              </a:rPr>
              <a:t>Query:</a:t>
            </a:r>
            <a:endParaRPr lang="en-US" dirty="0"/>
          </a:p>
          <a:p>
            <a:r>
              <a:rPr lang="en-US" i="1" dirty="0"/>
              <a:t>SELECT Name, DATE(</a:t>
            </a:r>
            <a:r>
              <a:rPr lang="en-US" i="1" dirty="0" err="1"/>
              <a:t>BirthTime</a:t>
            </a:r>
            <a:r>
              <a:rPr lang="en-US" i="1" dirty="0"/>
              <a:t>) </a:t>
            </a:r>
          </a:p>
          <a:p>
            <a:pPr marL="0" indent="0">
              <a:buNone/>
            </a:pPr>
            <a:r>
              <a:rPr lang="en-US" i="1" dirty="0"/>
              <a:t>   AS </a:t>
            </a:r>
            <a:r>
              <a:rPr lang="en-US" i="1" dirty="0" err="1"/>
              <a:t>BirthDate</a:t>
            </a:r>
            <a:r>
              <a:rPr lang="en-US" i="1" dirty="0"/>
              <a:t> FROM Test;</a:t>
            </a:r>
          </a:p>
          <a:p>
            <a:r>
              <a:rPr lang="en-US" dirty="0">
                <a:solidFill>
                  <a:srgbClr val="C00000"/>
                </a:solidFill>
              </a:rPr>
              <a:t>Output:</a:t>
            </a:r>
            <a:endParaRPr lang="en-IN" dirty="0">
              <a:solidFill>
                <a:srgbClr val="C00000"/>
              </a:solidFill>
            </a:endParaRPr>
          </a:p>
        </p:txBody>
      </p:sp>
      <p:pic>
        <p:nvPicPr>
          <p:cNvPr id="4" name="Picture 3">
            <a:extLst>
              <a:ext uri="{FF2B5EF4-FFF2-40B4-BE49-F238E27FC236}">
                <a16:creationId xmlns:a16="http://schemas.microsoft.com/office/drawing/2014/main" id="{B69F729F-C9E0-9E97-C9B0-4DEBC4D5255C}"/>
              </a:ext>
            </a:extLst>
          </p:cNvPr>
          <p:cNvPicPr>
            <a:picLocks noChangeAspect="1"/>
          </p:cNvPicPr>
          <p:nvPr/>
        </p:nvPicPr>
        <p:blipFill>
          <a:blip r:embed="rId2"/>
          <a:stretch>
            <a:fillRect/>
          </a:stretch>
        </p:blipFill>
        <p:spPr>
          <a:xfrm>
            <a:off x="972369" y="2694171"/>
            <a:ext cx="2829320" cy="1695687"/>
          </a:xfrm>
          <a:prstGeom prst="rect">
            <a:avLst/>
          </a:prstGeom>
        </p:spPr>
      </p:pic>
    </p:spTree>
    <p:extLst>
      <p:ext uri="{BB962C8B-B14F-4D97-AF65-F5344CB8AC3E}">
        <p14:creationId xmlns:p14="http://schemas.microsoft.com/office/powerpoint/2010/main" val="145712471"/>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F075BAA-A4E4-2535-5A01-F6EFC8BAD037}"/>
              </a:ext>
            </a:extLst>
          </p:cNvPr>
          <p:cNvSpPr>
            <a:spLocks noGrp="1"/>
          </p:cNvSpPr>
          <p:nvPr>
            <p:ph idx="1"/>
          </p:nvPr>
        </p:nvSpPr>
        <p:spPr>
          <a:xfrm>
            <a:off x="698643" y="616449"/>
            <a:ext cx="10655157" cy="5560514"/>
          </a:xfrm>
        </p:spPr>
        <p:txBody>
          <a:bodyPr>
            <a:normAutofit/>
          </a:bodyPr>
          <a:lstStyle/>
          <a:p>
            <a:pPr marL="0" indent="0">
              <a:buNone/>
            </a:pPr>
            <a:r>
              <a:rPr lang="en-US" dirty="0">
                <a:solidFill>
                  <a:srgbClr val="C00000"/>
                </a:solidFill>
              </a:rPr>
              <a:t>5. EXTRACT()</a:t>
            </a:r>
          </a:p>
          <a:p>
            <a:pPr algn="just"/>
            <a:r>
              <a:rPr lang="en-US" dirty="0"/>
              <a:t>The EXTRACT() function retrieves a specific part of a DATE, DATETIME, or TIMESTAMP value, such as the day, year, or second.</a:t>
            </a:r>
          </a:p>
          <a:p>
            <a:pPr algn="just"/>
            <a:r>
              <a:rPr lang="en-US" dirty="0">
                <a:solidFill>
                  <a:srgbClr val="C00000"/>
                </a:solidFill>
              </a:rPr>
              <a:t>Syntax:</a:t>
            </a:r>
          </a:p>
          <a:p>
            <a:pPr algn="just"/>
            <a:r>
              <a:rPr lang="en-US" i="1" dirty="0"/>
              <a:t>EXTRACT(unit FROM date);</a:t>
            </a:r>
          </a:p>
          <a:p>
            <a:pPr algn="just"/>
            <a:r>
              <a:rPr lang="en-US" dirty="0"/>
              <a:t>Several units can be considered but only some are used such as MICROSECOND, SECOND, MINUTE, HOUR, DAY, WEEK, MONTH, QUARTER, YEAR, etc. And ‘date’ is a valid date expression. Example: For the below table named ‘Test’.</a:t>
            </a:r>
          </a:p>
          <a:p>
            <a:endParaRPr lang="en-IN" dirty="0"/>
          </a:p>
        </p:txBody>
      </p:sp>
      <p:pic>
        <p:nvPicPr>
          <p:cNvPr id="5" name="Picture 4">
            <a:extLst>
              <a:ext uri="{FF2B5EF4-FFF2-40B4-BE49-F238E27FC236}">
                <a16:creationId xmlns:a16="http://schemas.microsoft.com/office/drawing/2014/main" id="{4167A829-AD6D-4A8D-90EA-0452F940A8B9}"/>
              </a:ext>
            </a:extLst>
          </p:cNvPr>
          <p:cNvPicPr>
            <a:picLocks noChangeAspect="1"/>
          </p:cNvPicPr>
          <p:nvPr/>
        </p:nvPicPr>
        <p:blipFill>
          <a:blip r:embed="rId2"/>
          <a:stretch>
            <a:fillRect/>
          </a:stretch>
        </p:blipFill>
        <p:spPr>
          <a:xfrm>
            <a:off x="885098" y="4768056"/>
            <a:ext cx="5210902" cy="1657581"/>
          </a:xfrm>
          <a:prstGeom prst="rect">
            <a:avLst/>
          </a:prstGeom>
        </p:spPr>
      </p:pic>
    </p:spTree>
    <p:extLst>
      <p:ext uri="{BB962C8B-B14F-4D97-AF65-F5344CB8AC3E}">
        <p14:creationId xmlns:p14="http://schemas.microsoft.com/office/powerpoint/2010/main" val="1509400634"/>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52A136B-4B91-214A-B693-172E9380527E}"/>
              </a:ext>
            </a:extLst>
          </p:cNvPr>
          <p:cNvSpPr>
            <a:spLocks noGrp="1"/>
          </p:cNvSpPr>
          <p:nvPr>
            <p:ph idx="1"/>
          </p:nvPr>
        </p:nvSpPr>
        <p:spPr>
          <a:xfrm>
            <a:off x="750013" y="955497"/>
            <a:ext cx="10603787" cy="5221466"/>
          </a:xfrm>
        </p:spPr>
        <p:txBody>
          <a:bodyPr/>
          <a:lstStyle/>
          <a:p>
            <a:r>
              <a:rPr lang="en-US" dirty="0">
                <a:solidFill>
                  <a:srgbClr val="C00000"/>
                </a:solidFill>
              </a:rPr>
              <a:t>Query:</a:t>
            </a:r>
          </a:p>
          <a:p>
            <a:r>
              <a:rPr lang="en-US" i="1" dirty="0"/>
              <a:t>SELECT Name, Extract(DAY FROM </a:t>
            </a:r>
            <a:r>
              <a:rPr lang="en-US" i="1" dirty="0" err="1"/>
              <a:t>BirthTime</a:t>
            </a:r>
            <a:r>
              <a:rPr lang="en-US" i="1" dirty="0"/>
              <a:t>) AS </a:t>
            </a:r>
            <a:r>
              <a:rPr lang="en-US" i="1" dirty="0" err="1"/>
              <a:t>BirthDay</a:t>
            </a:r>
            <a:r>
              <a:rPr lang="en-US" i="1" dirty="0"/>
              <a:t> FROM Test;</a:t>
            </a:r>
          </a:p>
          <a:p>
            <a:r>
              <a:rPr lang="en-US" dirty="0">
                <a:solidFill>
                  <a:srgbClr val="C00000"/>
                </a:solidFill>
              </a:rPr>
              <a:t>Output:</a:t>
            </a:r>
            <a:r>
              <a:rPr lang="en-US" dirty="0"/>
              <a:t> </a:t>
            </a:r>
            <a:endParaRPr lang="en-IN" dirty="0"/>
          </a:p>
        </p:txBody>
      </p:sp>
      <p:pic>
        <p:nvPicPr>
          <p:cNvPr id="5" name="Picture 4">
            <a:extLst>
              <a:ext uri="{FF2B5EF4-FFF2-40B4-BE49-F238E27FC236}">
                <a16:creationId xmlns:a16="http://schemas.microsoft.com/office/drawing/2014/main" id="{E086EDFF-24A9-CD0D-4E75-8BA5F48019F4}"/>
              </a:ext>
            </a:extLst>
          </p:cNvPr>
          <p:cNvPicPr>
            <a:picLocks noChangeAspect="1"/>
          </p:cNvPicPr>
          <p:nvPr/>
        </p:nvPicPr>
        <p:blipFill>
          <a:blip r:embed="rId2"/>
          <a:stretch>
            <a:fillRect/>
          </a:stretch>
        </p:blipFill>
        <p:spPr>
          <a:xfrm>
            <a:off x="1177932" y="2504326"/>
            <a:ext cx="2438740" cy="1629002"/>
          </a:xfrm>
          <a:prstGeom prst="rect">
            <a:avLst/>
          </a:prstGeom>
        </p:spPr>
      </p:pic>
    </p:spTree>
    <p:extLst>
      <p:ext uri="{BB962C8B-B14F-4D97-AF65-F5344CB8AC3E}">
        <p14:creationId xmlns:p14="http://schemas.microsoft.com/office/powerpoint/2010/main" val="82309989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899</TotalTime>
  <Words>5532</Words>
  <Application>Microsoft Office PowerPoint</Application>
  <PresentationFormat>Widescreen</PresentationFormat>
  <Paragraphs>622</Paragraphs>
  <Slides>87</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87</vt:i4>
      </vt:variant>
    </vt:vector>
  </HeadingPairs>
  <TitlesOfParts>
    <vt:vector size="93" baseType="lpstr">
      <vt:lpstr>Aptos</vt:lpstr>
      <vt:lpstr>Arial</vt:lpstr>
      <vt:lpstr>Calibri</vt:lpstr>
      <vt:lpstr>Calibri Light</vt:lpstr>
      <vt:lpstr>Source Sans 3</vt:lpstr>
      <vt:lpstr>Office Theme</vt:lpstr>
      <vt:lpstr>SQL Operators </vt:lpstr>
      <vt:lpstr>SQL Arithmetic Operators </vt:lpstr>
      <vt:lpstr>SQL Comparison Operators</vt:lpstr>
      <vt:lpstr>SQL Logical Operators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DISTINCT Statement</vt:lpstr>
      <vt:lpstr>ORDER BY</vt:lpstr>
      <vt:lpstr>PowerPoint Presentation</vt:lpstr>
      <vt:lpstr>PowerPoint Presentation</vt:lpstr>
      <vt:lpstr>PowerPoint Presentation</vt:lpstr>
      <vt:lpstr>PowerPoint Presentation</vt:lpstr>
      <vt:lpstr>DDL (Data Definition Language)</vt:lpstr>
      <vt:lpstr>ALTER command in SQL</vt:lpstr>
      <vt:lpstr>PowerPoint Presentation</vt:lpstr>
      <vt:lpstr>PowerPoint Presentation</vt:lpstr>
      <vt:lpstr>PowerPoint Presentation</vt:lpstr>
      <vt:lpstr>DROP and TRUNCATE in SQL</vt:lpstr>
      <vt:lpstr>PowerPoint Presentation</vt:lpstr>
      <vt:lpstr>Data Manipulation Language (DML) commands</vt:lpstr>
      <vt:lpstr>SQL INSERT INTO Statement </vt:lpstr>
      <vt:lpstr>PowerPoint Presentation</vt:lpstr>
      <vt:lpstr>UPDATE Statement</vt:lpstr>
      <vt:lpstr>PowerPoint Presentation</vt:lpstr>
      <vt:lpstr>PowerPoint Presentation</vt:lpstr>
      <vt:lpstr>DELETE Statement</vt:lpstr>
      <vt:lpstr>Aggregate functions</vt:lpstr>
      <vt:lpstr>PowerPoint Presentation</vt:lpstr>
      <vt:lpstr>PowerPoint Presentation</vt:lpstr>
      <vt:lpstr>PowerPoint Presentation</vt:lpstr>
      <vt:lpstr>PowerPoint Presentation</vt:lpstr>
      <vt:lpstr>PowerPoint Presentation</vt:lpstr>
      <vt:lpstr>GROUP BY Clause</vt:lpstr>
      <vt:lpstr>PowerPoint Presentation</vt:lpstr>
      <vt:lpstr>PowerPoint Presentation</vt:lpstr>
      <vt:lpstr>SQL HAVING Clause</vt:lpstr>
      <vt:lpstr>PowerPoint Presentation</vt:lpstr>
      <vt:lpstr>PowerPoint Presentation</vt:lpstr>
      <vt:lpstr>PowerPoint Presentation</vt:lpstr>
      <vt:lpstr>PowerPoint Presentation</vt:lpstr>
      <vt:lpstr>Scalar Functions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String functions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Numeric Functions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SQL Date and Time Functions</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pratyashi create powerposatapathyint</dc:creator>
  <cp:lastModifiedBy>pratyashi create powerposatapathyint</cp:lastModifiedBy>
  <cp:revision>88</cp:revision>
  <dcterms:created xsi:type="dcterms:W3CDTF">2025-02-03T17:53:15Z</dcterms:created>
  <dcterms:modified xsi:type="dcterms:W3CDTF">2025-03-18T08:05:48Z</dcterms:modified>
</cp:coreProperties>
</file>