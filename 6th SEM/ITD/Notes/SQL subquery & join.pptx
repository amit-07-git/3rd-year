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0C5F-41BE-E346-152A-37F795115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8012-E1A1-5C0E-8E16-95C6918AD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C4A6-E46D-1C33-B719-316BED44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50483-305E-005F-945E-277F741C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C74-B027-C8AE-2A28-0A8CA350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78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043F-4E97-5AA5-D68C-828220BC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14FC-0A4B-009B-50CC-9F60193A5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BC18-C93F-35DD-6872-C360E2DB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D114E-A064-62D7-5F86-51DA5C74E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D1D2B-C444-1DE2-6FB4-0C9BAFD5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49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87FA-B36A-E54E-086C-FF38A490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4C300-4E06-989D-D8F0-FC7D9130E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B2619-6779-3D17-567F-8D65AC1D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444A6-CE9D-A745-383A-55037A12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2B2E3-F328-A3F2-3575-61134980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57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807F-C7FB-165F-C124-F9A6915C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7BCA-3378-08DC-EF90-0AD11534B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478C2-2EB5-BD2A-B03E-3102A0130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D3D74-CA57-7CEB-AE36-9E055DF9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5EC9C-8889-5398-3D6B-21154A29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38AF8-BD1C-965C-EFF9-71FFBE9B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34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9DE8-4703-022A-C159-57391C33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D6B91-BDBD-9898-D9A0-066EC0DB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610A6-FA98-80C8-7AC4-7D7913D75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94FFA-B12C-87BA-EC92-6D2AE90EB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B8C28-3DF0-13D8-9FD4-CF63B57B1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115ED-9827-955C-9548-571C6A88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70A54-B934-9FEF-7E37-A8F3A3FB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4E7F5-D7C4-3A4E-A655-955C0D01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03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AC07-1A66-9B59-871F-5F3FADDE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930FC-72BB-E5A4-BD65-C64A8957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6A27D-60F9-91F1-6DDE-A042CF56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882C8-4B27-E9D0-E3F0-2210D649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23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9B9ED-6C0F-262E-8C01-26506CE8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89F16-098E-325C-270B-6A1C34AA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65DA-EE4D-0C23-2521-41F50E1B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0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E857-B838-14DC-A59A-9B3CD82B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4000-E893-A4BD-0549-504F0827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75D60-51AC-7AC3-E24F-104EB6481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B917C-42B2-E072-A5F0-6937BE99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526B1-0159-2088-EBD6-680866E6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AB34B-C6B2-0720-036F-23424F74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21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3CB2-F873-FCF0-F2EF-B37536D8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5A5B1-344B-0EE9-0B7A-371A244FA4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2C670-C619-1AB3-D703-8E636B511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CB145-077F-F577-E8AD-30A3A183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5ACD4-EBB9-D9D3-6CC3-132BC483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858FB-168B-BB31-9F0E-9C26F3C7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95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6658-6120-E033-4A97-1F21A157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E1408-F189-137A-1D8D-2A6CBCF28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4638D-FD91-8ECC-0C9C-29E76EEA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C165F-129A-330C-7E87-35E59AF1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F164-78E5-3D1D-670C-B5172843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2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03817-0B15-24A0-94EF-BF4158AA0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8B4AB-7233-B2B4-69D4-0811CA2EA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A647B-C063-D9E3-1F69-EC0AF89D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D4766-0700-F24E-70CC-77FC92F7F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40F6B-C0EF-B2DA-EE10-597324E8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0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8F3E7-7E29-CC5B-D24B-A8AC91C1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42128-0EFD-EDF4-FFAF-145C82EA1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E1E6D-0054-7A1E-679C-C52D8526A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A3727-01E3-48BF-9445-ABF038143245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43A3-504D-9DB3-06FB-BF9331400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BAFF6-42C2-7D60-E50F-DF7E211A9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F0673-3925-4ABC-A714-F255DF33B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56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4785-0B87-96E5-D5EE-98E699D63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101111"/>
                </a:solidFill>
                <a:effectLst/>
                <a:latin typeface="Inter"/>
              </a:rPr>
              <a:t>SQL Subqueries</a:t>
            </a:r>
            <a:br>
              <a:rPr lang="en-IN" b="1" i="0" dirty="0">
                <a:solidFill>
                  <a:srgbClr val="101111"/>
                </a:solidFill>
                <a:effectLst/>
                <a:latin typeface="Inter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59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07CC-4372-9D55-CCB5-641F7A6EC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SQL subquery, also known as a </a:t>
            </a:r>
            <a:r>
              <a:rPr lang="en-US" dirty="0">
                <a:solidFill>
                  <a:srgbClr val="0070C0"/>
                </a:solidFill>
              </a:rPr>
              <a:t>nested query or inner query, is a query within another SQL statement. </a:t>
            </a:r>
          </a:p>
          <a:p>
            <a:pPr algn="just"/>
            <a:r>
              <a:rPr lang="en-US" dirty="0"/>
              <a:t>It allows you to use the result of one query as input in another query. Subqueries are enclosed in parentheses and can be used in various parts of a SQL statement, including SELECT, FROM, and WHERE clauses. </a:t>
            </a:r>
          </a:p>
          <a:p>
            <a:pPr algn="just"/>
            <a:r>
              <a:rPr lang="en-US" dirty="0"/>
              <a:t>They are a powerful tool for retrieving and manipulating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74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77B3-6EF7-E21C-064A-EE14AA66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would use 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D1792-1857-5577-AFB3-DD84D4DD3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Retrieve data based on the result of another query: Use the output of one query as a filter or criteria for another query.</a:t>
            </a:r>
          </a:p>
          <a:p>
            <a:endParaRPr lang="en-US" dirty="0"/>
          </a:p>
          <a:p>
            <a:r>
              <a:rPr lang="en-US" dirty="0"/>
              <a:t>Simplify complex queries: Break down complex problems into smaller, more manageable subqueries to improve query readability and maintainability.</a:t>
            </a:r>
          </a:p>
          <a:p>
            <a:endParaRPr lang="en-US" dirty="0"/>
          </a:p>
          <a:p>
            <a:r>
              <a:rPr lang="en-US" dirty="0"/>
              <a:t>Perform aggregation within a query: Calculate aggregate functions on a subset of data, such as finding the average, sum, or maximum value.</a:t>
            </a:r>
          </a:p>
          <a:p>
            <a:endParaRPr lang="en-US" dirty="0"/>
          </a:p>
          <a:p>
            <a:r>
              <a:rPr lang="en-US" dirty="0"/>
              <a:t>Make comparisons: Compare values between tables or within the same table to find matching or non-matching records.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22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E9C09B-7854-9147-3A3A-F30734A6E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667" y="383192"/>
            <a:ext cx="10746768" cy="15388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Nunito" pitchFamily="2" charset="0"/>
              </a:rPr>
              <a:t>Syntax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column_name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table_name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expression operator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(SELECT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…);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9ED9E-86CB-84D2-0893-3CD190D41DFB}"/>
              </a:ext>
            </a:extLst>
          </p:cNvPr>
          <p:cNvSpPr txBox="1"/>
          <p:nvPr/>
        </p:nvSpPr>
        <p:spPr>
          <a:xfrm>
            <a:off x="930667" y="2355067"/>
            <a:ext cx="1005240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2400" dirty="0"/>
              <a:t>Use a subquery to select the first name of the customer with the highest age</a:t>
            </a:r>
          </a:p>
          <a:p>
            <a:endParaRPr lang="en-US" sz="2400" dirty="0"/>
          </a:p>
          <a:p>
            <a:r>
              <a:rPr lang="en-US" sz="2400" dirty="0"/>
              <a:t>SELECT </a:t>
            </a:r>
            <a:r>
              <a:rPr lang="en-US" sz="2400" dirty="0" err="1"/>
              <a:t>first_name</a:t>
            </a:r>
            <a:endParaRPr lang="en-US" sz="2400" dirty="0"/>
          </a:p>
          <a:p>
            <a:r>
              <a:rPr lang="en-US" sz="2400" dirty="0"/>
              <a:t>FROM Customers</a:t>
            </a:r>
          </a:p>
          <a:p>
            <a:r>
              <a:rPr lang="en-US" sz="2400" dirty="0"/>
              <a:t>WHERE age= (</a:t>
            </a:r>
          </a:p>
          <a:p>
            <a:r>
              <a:rPr lang="en-US" sz="2400" dirty="0"/>
              <a:t>    </a:t>
            </a:r>
            <a:r>
              <a:rPr lang="en-US" sz="2400" dirty="0">
                <a:solidFill>
                  <a:srgbClr val="C00000"/>
                </a:solidFill>
              </a:rPr>
              <a:t>//subquery</a:t>
            </a:r>
          </a:p>
          <a:p>
            <a:r>
              <a:rPr lang="en-US" sz="2400" dirty="0"/>
              <a:t>    SELECT MAX(age)</a:t>
            </a:r>
          </a:p>
          <a:p>
            <a:r>
              <a:rPr lang="en-US" sz="2400" dirty="0"/>
              <a:t>    FROM CUSTOMERS</a:t>
            </a:r>
          </a:p>
          <a:p>
            <a:r>
              <a:rPr lang="en-US" sz="2400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805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460E-7960-C5EE-629B-DCE87616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33" y="688369"/>
            <a:ext cx="10531867" cy="548859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Example: </a:t>
            </a:r>
            <a:r>
              <a:rPr lang="en-US" dirty="0"/>
              <a:t>Select Customers with Minimum Age Using Subquery</a:t>
            </a:r>
          </a:p>
          <a:p>
            <a:r>
              <a:rPr lang="en-US" dirty="0"/>
              <a:t> Select all the rows from the Customers table with the minimum age</a:t>
            </a:r>
          </a:p>
          <a:p>
            <a:endParaRPr lang="en-US" dirty="0"/>
          </a:p>
          <a:p>
            <a:r>
              <a:rPr lang="en-US" i="1" dirty="0"/>
              <a:t>SELECT * FROM Customers</a:t>
            </a:r>
          </a:p>
          <a:p>
            <a:pPr marL="0" indent="0">
              <a:buNone/>
            </a:pPr>
            <a:r>
              <a:rPr lang="en-US" i="1" dirty="0"/>
              <a:t>   WHERE age = (</a:t>
            </a:r>
          </a:p>
          <a:p>
            <a:pPr marL="0" indent="0">
              <a:buNone/>
            </a:pPr>
            <a:r>
              <a:rPr lang="en-US" i="1" dirty="0"/>
              <a:t>     SELECT MIN(age)</a:t>
            </a:r>
          </a:p>
          <a:p>
            <a:pPr marL="0" indent="0">
              <a:buNone/>
            </a:pPr>
            <a:r>
              <a:rPr lang="en-US" i="1" dirty="0"/>
              <a:t>     FROM Customers</a:t>
            </a:r>
          </a:p>
          <a:p>
            <a:pPr marL="0" indent="0">
              <a:buNone/>
            </a:pPr>
            <a:r>
              <a:rPr lang="en-US" i="1" dirty="0"/>
              <a:t>  );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04985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C3332A-3B66-7B2E-FCFD-C2231CF39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8135" y="1"/>
            <a:ext cx="621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9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D1350-FDFC-3C68-8222-FF7F9812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08" y="349321"/>
            <a:ext cx="10840092" cy="582764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Example:</a:t>
            </a:r>
            <a:r>
              <a:rPr lang="en-US" dirty="0"/>
              <a:t> Suppose we want the details </a:t>
            </a:r>
          </a:p>
          <a:p>
            <a:pPr marL="0" indent="0">
              <a:buNone/>
            </a:pPr>
            <a:r>
              <a:rPr lang="en-US" dirty="0"/>
              <a:t>  of customers who have placed an order. </a:t>
            </a:r>
          </a:p>
          <a:p>
            <a:endParaRPr lang="en-US" dirty="0"/>
          </a:p>
          <a:p>
            <a:r>
              <a:rPr lang="en-US" i="1" dirty="0"/>
              <a:t>SELECT </a:t>
            </a:r>
            <a:r>
              <a:rPr lang="en-US" i="1" dirty="0" err="1"/>
              <a:t>customer_id</a:t>
            </a:r>
            <a:r>
              <a:rPr lang="en-US" i="1" dirty="0"/>
              <a:t>, </a:t>
            </a:r>
            <a:r>
              <a:rPr lang="en-US" i="1" dirty="0" err="1"/>
              <a:t>first_name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  FROM Customers </a:t>
            </a:r>
          </a:p>
          <a:p>
            <a:pPr marL="0" indent="0">
              <a:buNone/>
            </a:pPr>
            <a:r>
              <a:rPr lang="en-US" i="1" dirty="0"/>
              <a:t> WHERE </a:t>
            </a:r>
            <a:r>
              <a:rPr lang="en-US" i="1" dirty="0" err="1"/>
              <a:t>customer_id</a:t>
            </a:r>
            <a:r>
              <a:rPr lang="en-US" i="1" dirty="0"/>
              <a:t> IN (</a:t>
            </a:r>
          </a:p>
          <a:p>
            <a:pPr marL="0" indent="0">
              <a:buNone/>
            </a:pPr>
            <a:r>
              <a:rPr lang="en-US" i="1" dirty="0"/>
              <a:t>     SELECT </a:t>
            </a:r>
            <a:r>
              <a:rPr lang="en-US" i="1" dirty="0" err="1"/>
              <a:t>customer_id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     FROM Orders</a:t>
            </a:r>
          </a:p>
          <a:p>
            <a:pPr marL="0" indent="0">
              <a:buNone/>
            </a:pPr>
            <a:r>
              <a:rPr lang="en-US" i="1" dirty="0"/>
              <a:t>   );</a:t>
            </a:r>
            <a:endParaRPr lang="en-IN" i="1" dirty="0"/>
          </a:p>
        </p:txBody>
      </p:sp>
      <p:pic>
        <p:nvPicPr>
          <p:cNvPr id="2050" name="Picture 2" descr="How to use subquery in SQL">
            <a:extLst>
              <a:ext uri="{FF2B5EF4-FFF2-40B4-BE49-F238E27FC236}">
                <a16:creationId xmlns:a16="http://schemas.microsoft.com/office/drawing/2014/main" id="{D1BA8290-31A4-A9F9-46DD-573E2889B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86" y="147921"/>
            <a:ext cx="5496673" cy="671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53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2256-8FBE-944B-DE8C-3EC637A5E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91" y="565079"/>
            <a:ext cx="10634609" cy="5611884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Example</a:t>
            </a:r>
          </a:p>
          <a:p>
            <a:pPr algn="just"/>
            <a:r>
              <a:rPr lang="en-US" dirty="0"/>
              <a:t>Suppose you have a database with two tables, "employees" and "departments," and you want to retrieve the names of employees in the "Sales" department. </a:t>
            </a:r>
          </a:p>
          <a:p>
            <a:pPr algn="just"/>
            <a:r>
              <a:rPr lang="en-US" dirty="0"/>
              <a:t>You can use a subquery like this:</a:t>
            </a:r>
          </a:p>
          <a:p>
            <a:pPr algn="just"/>
            <a:endParaRPr lang="en-US" dirty="0"/>
          </a:p>
          <a:p>
            <a:pPr algn="just"/>
            <a:r>
              <a:rPr lang="en-US" i="1" dirty="0"/>
              <a:t>SELECT </a:t>
            </a:r>
            <a:r>
              <a:rPr lang="en-US" i="1" dirty="0" err="1"/>
              <a:t>employee_name</a:t>
            </a:r>
            <a:endParaRPr lang="en-US" i="1" dirty="0"/>
          </a:p>
          <a:p>
            <a:pPr marL="0" indent="0" algn="just">
              <a:buNone/>
            </a:pPr>
            <a:r>
              <a:rPr lang="en-US" i="1" dirty="0"/>
              <a:t>   FROM employees</a:t>
            </a:r>
          </a:p>
          <a:p>
            <a:pPr marL="0" indent="0" algn="just">
              <a:buNone/>
            </a:pPr>
            <a:r>
              <a:rPr lang="en-US" i="1" dirty="0"/>
              <a:t>   WHERE </a:t>
            </a:r>
            <a:r>
              <a:rPr lang="en-US" i="1" dirty="0" err="1"/>
              <a:t>department_id</a:t>
            </a:r>
            <a:r>
              <a:rPr lang="en-US" i="1" dirty="0"/>
              <a:t> = (SELECT </a:t>
            </a:r>
            <a:r>
              <a:rPr lang="en-US" i="1" dirty="0" err="1"/>
              <a:t>department_id</a:t>
            </a:r>
            <a:r>
              <a:rPr lang="en-US" i="1" dirty="0"/>
              <a:t> FROM departments     WHERE </a:t>
            </a:r>
            <a:r>
              <a:rPr lang="en-US" i="1" dirty="0" err="1"/>
              <a:t>department_name</a:t>
            </a:r>
            <a:r>
              <a:rPr lang="en-US" i="1" dirty="0"/>
              <a:t> = 'Sales');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89882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604A-2AB9-263E-DA48-C54AB6EA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838"/>
            <a:ext cx="10515600" cy="1058238"/>
          </a:xfrm>
        </p:spPr>
        <p:txBody>
          <a:bodyPr/>
          <a:lstStyle/>
          <a:p>
            <a:pPr algn="ctr">
              <a:lnSpc>
                <a:spcPts val="4500"/>
              </a:lnSpc>
              <a:spcAft>
                <a:spcPts val="1500"/>
              </a:spcAft>
            </a:pPr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SQL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E913-14BD-8777-2F37-CBD0EF34D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076"/>
            <a:ext cx="10515600" cy="49748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SQL JOIN statement is used to combine rows from two tables based on a common column and selects records that have matching values in these columns.</a:t>
            </a:r>
          </a:p>
          <a:p>
            <a:r>
              <a:rPr lang="en-US" b="1" dirty="0">
                <a:solidFill>
                  <a:srgbClr val="C00000"/>
                </a:solidFill>
              </a:rPr>
              <a:t>Syntax:</a:t>
            </a:r>
          </a:p>
          <a:p>
            <a:r>
              <a:rPr lang="en-US" i="1" dirty="0"/>
              <a:t>SELECT </a:t>
            </a:r>
            <a:r>
              <a:rPr lang="en-US" i="1" dirty="0" err="1"/>
              <a:t>columns_from_both_tables</a:t>
            </a:r>
            <a:endParaRPr lang="en-US" i="1" dirty="0"/>
          </a:p>
          <a:p>
            <a:r>
              <a:rPr lang="en-US" i="1" dirty="0"/>
              <a:t>FROM table1</a:t>
            </a:r>
          </a:p>
          <a:p>
            <a:r>
              <a:rPr lang="en-US" i="1" dirty="0"/>
              <a:t>JOIN table2</a:t>
            </a:r>
          </a:p>
          <a:p>
            <a:r>
              <a:rPr lang="en-US" i="1" dirty="0"/>
              <a:t>ON table1.column1 = table2.column2</a:t>
            </a:r>
          </a:p>
          <a:p>
            <a:endParaRPr lang="en-US" dirty="0"/>
          </a:p>
          <a:p>
            <a:r>
              <a:rPr lang="en-US" dirty="0"/>
              <a:t>Here, table1 and table2 are the two tables that are to be joined, column1 is the column in table1 that is related to column2 in table2.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290390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7317-82D0-4C77-550A-E9F5FF5C8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390418"/>
            <a:ext cx="10603787" cy="578654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 : </a:t>
            </a:r>
            <a:r>
              <a:rPr lang="en-US" dirty="0"/>
              <a:t>join the Customers and Orders tables based on the common values of their </a:t>
            </a:r>
            <a:r>
              <a:rPr lang="en-US" dirty="0" err="1"/>
              <a:t>customer_id</a:t>
            </a:r>
            <a:r>
              <a:rPr lang="en-US" dirty="0"/>
              <a:t> columns</a:t>
            </a:r>
          </a:p>
          <a:p>
            <a:endParaRPr lang="en-US" dirty="0"/>
          </a:p>
          <a:p>
            <a:r>
              <a:rPr lang="en-US" i="1" dirty="0"/>
              <a:t>SELECT </a:t>
            </a:r>
            <a:r>
              <a:rPr lang="en-US" i="1" dirty="0" err="1"/>
              <a:t>Customers.customer_id</a:t>
            </a:r>
            <a:r>
              <a:rPr lang="en-US" i="1" dirty="0"/>
              <a:t>, </a:t>
            </a:r>
            <a:r>
              <a:rPr lang="en-US" i="1" dirty="0" err="1"/>
              <a:t>Customers.first_name</a:t>
            </a:r>
            <a:r>
              <a:rPr lang="en-US" i="1" dirty="0"/>
              <a:t>, </a:t>
            </a:r>
            <a:r>
              <a:rPr lang="en-US" i="1" dirty="0" err="1"/>
              <a:t>Orders.amount</a:t>
            </a:r>
            <a:endParaRPr lang="en-US" i="1" dirty="0"/>
          </a:p>
          <a:p>
            <a:r>
              <a:rPr lang="en-US" i="1" dirty="0"/>
              <a:t>FROM Customers</a:t>
            </a:r>
          </a:p>
          <a:p>
            <a:r>
              <a:rPr lang="en-US" i="1" dirty="0"/>
              <a:t>INNER JOIN Orders</a:t>
            </a:r>
          </a:p>
          <a:p>
            <a:r>
              <a:rPr lang="en-US" i="1" dirty="0"/>
              <a:t>ON </a:t>
            </a:r>
            <a:r>
              <a:rPr lang="en-US" i="1" dirty="0" err="1"/>
              <a:t>Customers.customer_id</a:t>
            </a:r>
            <a:r>
              <a:rPr lang="en-US" i="1" dirty="0"/>
              <a:t> = </a:t>
            </a:r>
            <a:r>
              <a:rPr lang="en-US" i="1" dirty="0" err="1"/>
              <a:t>Orders.customer</a:t>
            </a:r>
            <a:r>
              <a:rPr lang="en-US" i="1" dirty="0"/>
              <a:t>;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5275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oin Two Table Based on Common Column">
            <a:extLst>
              <a:ext uri="{FF2B5EF4-FFF2-40B4-BE49-F238E27FC236}">
                <a16:creationId xmlns:a16="http://schemas.microsoft.com/office/drawing/2014/main" id="{009270F1-211D-0911-3458-D8436245C9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902" y="142956"/>
            <a:ext cx="7298981" cy="662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1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C35B-3F56-835E-A5C7-A51DD06E1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288" y="616449"/>
            <a:ext cx="10593512" cy="556051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Here's an example of INNER JOIN with the WHERE clause:</a:t>
            </a:r>
          </a:p>
          <a:p>
            <a:pPr algn="just"/>
            <a:r>
              <a:rPr lang="en-US" dirty="0"/>
              <a:t>Join Customers and Orders table with </a:t>
            </a:r>
            <a:r>
              <a:rPr lang="en-US" dirty="0" err="1"/>
              <a:t>customer_id</a:t>
            </a:r>
            <a:r>
              <a:rPr lang="en-US" dirty="0"/>
              <a:t> and customer fields. H</a:t>
            </a:r>
            <a:r>
              <a:rPr lang="en-US" b="0" i="0" dirty="0">
                <a:effectLst/>
                <a:latin typeface="euclid_circular_a"/>
              </a:rPr>
              <a:t>ere, the SQL command joins two tables and selects rows where the </a:t>
            </a:r>
            <a:r>
              <a:rPr lang="en-US" b="0" i="0" dirty="0">
                <a:effectLst/>
                <a:latin typeface="Droid Sans Mono"/>
              </a:rPr>
              <a:t>amount</a:t>
            </a:r>
            <a:r>
              <a:rPr lang="en-US" b="0" i="0" dirty="0">
                <a:effectLst/>
                <a:latin typeface="euclid_circular_a"/>
              </a:rPr>
              <a:t> is greater than or equal to </a:t>
            </a:r>
            <a:r>
              <a:rPr lang="en-US" b="1" i="0" dirty="0">
                <a:effectLst/>
                <a:latin typeface="euclid_circular_a"/>
              </a:rPr>
              <a:t>500</a:t>
            </a:r>
            <a:r>
              <a:rPr lang="en-US" b="0" i="0" dirty="0">
                <a:effectLst/>
                <a:latin typeface="euclid_circular_a"/>
              </a:rPr>
              <a:t>.</a:t>
            </a:r>
            <a:endParaRPr lang="en-US" dirty="0"/>
          </a:p>
          <a:p>
            <a:endParaRPr lang="en-US" dirty="0"/>
          </a:p>
          <a:p>
            <a:r>
              <a:rPr lang="en-US" i="1" dirty="0"/>
              <a:t>SELECT </a:t>
            </a:r>
            <a:r>
              <a:rPr lang="en-US" i="1" dirty="0" err="1"/>
              <a:t>Customers.customer_id</a:t>
            </a:r>
            <a:r>
              <a:rPr lang="en-US" i="1" dirty="0"/>
              <a:t>, </a:t>
            </a:r>
            <a:r>
              <a:rPr lang="en-US" i="1" dirty="0" err="1"/>
              <a:t>Customers.first_name</a:t>
            </a:r>
            <a:r>
              <a:rPr lang="en-US" i="1" dirty="0"/>
              <a:t>, </a:t>
            </a:r>
            <a:r>
              <a:rPr lang="en-US" i="1" dirty="0" err="1"/>
              <a:t>Orders.amount</a:t>
            </a:r>
            <a:endParaRPr lang="en-US" i="1" dirty="0"/>
          </a:p>
          <a:p>
            <a:r>
              <a:rPr lang="en-US" i="1" dirty="0"/>
              <a:t>FROM Customers</a:t>
            </a:r>
          </a:p>
          <a:p>
            <a:r>
              <a:rPr lang="en-US" i="1" dirty="0"/>
              <a:t>INNER JOIN Orders</a:t>
            </a:r>
          </a:p>
          <a:p>
            <a:r>
              <a:rPr lang="en-US" i="1" dirty="0"/>
              <a:t>ON </a:t>
            </a:r>
            <a:r>
              <a:rPr lang="en-US" i="1" dirty="0" err="1"/>
              <a:t>Customers.customer_id</a:t>
            </a:r>
            <a:r>
              <a:rPr lang="en-US" i="1" dirty="0"/>
              <a:t> = </a:t>
            </a:r>
            <a:r>
              <a:rPr lang="en-US" i="1" dirty="0" err="1"/>
              <a:t>Orders.customer</a:t>
            </a:r>
            <a:endParaRPr lang="en-US" i="1" dirty="0"/>
          </a:p>
          <a:p>
            <a:r>
              <a:rPr lang="en-US" i="1" dirty="0"/>
              <a:t>WHERE </a:t>
            </a:r>
            <a:r>
              <a:rPr lang="en-US" i="1" dirty="0" err="1"/>
              <a:t>Orders.amount</a:t>
            </a:r>
            <a:r>
              <a:rPr lang="en-US" i="1" dirty="0"/>
              <a:t> &gt;= 500;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38002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7CB4-9653-0A97-F7D0-6D7215E9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839"/>
            <a:ext cx="10515600" cy="832206"/>
          </a:xfrm>
        </p:spPr>
        <p:txBody>
          <a:bodyPr/>
          <a:lstStyle/>
          <a:p>
            <a:pPr algn="ctr"/>
            <a:r>
              <a:rPr lang="en-IN" b="1" dirty="0"/>
              <a:t>SQL 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AD93-78DD-E210-9690-3B7D5A9CC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463"/>
            <a:ext cx="10515600" cy="48105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Example:</a:t>
            </a:r>
            <a:r>
              <a:rPr lang="en-US" dirty="0"/>
              <a:t> Left join the Customers and Orders tables</a:t>
            </a:r>
          </a:p>
          <a:p>
            <a:endParaRPr lang="en-US" dirty="0"/>
          </a:p>
          <a:p>
            <a:r>
              <a:rPr lang="en-US" i="1" dirty="0"/>
              <a:t>SELECT </a:t>
            </a:r>
            <a:r>
              <a:rPr lang="en-US" i="1" dirty="0" err="1"/>
              <a:t>Customers.customer_id</a:t>
            </a:r>
            <a:r>
              <a:rPr lang="en-US" i="1" dirty="0"/>
              <a:t>, </a:t>
            </a:r>
            <a:r>
              <a:rPr lang="en-US" i="1" dirty="0" err="1"/>
              <a:t>Customers.first_name</a:t>
            </a:r>
            <a:r>
              <a:rPr lang="en-US" i="1" dirty="0"/>
              <a:t>, </a:t>
            </a:r>
            <a:r>
              <a:rPr lang="en-US" i="1" dirty="0" err="1"/>
              <a:t>Orders.amount</a:t>
            </a:r>
            <a:endParaRPr lang="en-US" i="1" dirty="0"/>
          </a:p>
          <a:p>
            <a:r>
              <a:rPr lang="en-US" i="1" dirty="0"/>
              <a:t>FROM Customers</a:t>
            </a:r>
          </a:p>
          <a:p>
            <a:r>
              <a:rPr lang="en-US" i="1" dirty="0"/>
              <a:t>LEFT JOIN Orders</a:t>
            </a:r>
          </a:p>
          <a:p>
            <a:r>
              <a:rPr lang="en-US" i="1" dirty="0"/>
              <a:t>ON </a:t>
            </a:r>
            <a:r>
              <a:rPr lang="en-US" i="1" dirty="0" err="1"/>
              <a:t>Customers.customer_id</a:t>
            </a:r>
            <a:r>
              <a:rPr lang="en-US" i="1" dirty="0"/>
              <a:t> = </a:t>
            </a:r>
            <a:r>
              <a:rPr lang="en-US" i="1" dirty="0" err="1"/>
              <a:t>Orders.customer</a:t>
            </a:r>
            <a:r>
              <a:rPr lang="en-US" i="1" dirty="0"/>
              <a:t>;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800042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685179-27B8-7020-A769-DC8768C4E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844" y="-1"/>
            <a:ext cx="6507025" cy="698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0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92A8-80DD-33EE-D514-25DB1E7C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839"/>
            <a:ext cx="10515600" cy="801383"/>
          </a:xfrm>
        </p:spPr>
        <p:txBody>
          <a:bodyPr/>
          <a:lstStyle/>
          <a:p>
            <a:pPr algn="ctr"/>
            <a:r>
              <a:rPr lang="en-IN" b="1" dirty="0"/>
              <a:t>SQL RIGHT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3D9D2-B158-2837-A720-DA16B297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1254"/>
            <a:ext cx="10977081" cy="5005709"/>
          </a:xfrm>
        </p:spPr>
        <p:txBody>
          <a:bodyPr>
            <a:normAutofit/>
          </a:bodyPr>
          <a:lstStyle/>
          <a:p>
            <a:r>
              <a:rPr lang="en-US" dirty="0"/>
              <a:t>Example: Join Customers and Orders tables based on </a:t>
            </a:r>
            <a:r>
              <a:rPr lang="en-US" dirty="0" err="1"/>
              <a:t>customer_id</a:t>
            </a:r>
            <a:r>
              <a:rPr lang="en-US" dirty="0"/>
              <a:t> of Customers and customer of Orders.</a:t>
            </a:r>
          </a:p>
          <a:p>
            <a:endParaRPr lang="en-US" dirty="0"/>
          </a:p>
          <a:p>
            <a:r>
              <a:rPr lang="en-US" i="1" dirty="0"/>
              <a:t>SELECT </a:t>
            </a:r>
            <a:r>
              <a:rPr lang="en-US" i="1" dirty="0" err="1"/>
              <a:t>Customers.customer_id</a:t>
            </a:r>
            <a:r>
              <a:rPr lang="en-US" i="1" dirty="0"/>
              <a:t>, </a:t>
            </a:r>
            <a:r>
              <a:rPr lang="en-US" i="1" dirty="0" err="1"/>
              <a:t>Customers.first_name</a:t>
            </a:r>
            <a:r>
              <a:rPr lang="en-US" i="1" dirty="0"/>
              <a:t>, </a:t>
            </a:r>
            <a:r>
              <a:rPr lang="en-US" i="1" dirty="0" err="1"/>
              <a:t>Orders.amount</a:t>
            </a:r>
            <a:endParaRPr lang="en-US" i="1" dirty="0"/>
          </a:p>
          <a:p>
            <a:r>
              <a:rPr lang="en-US" i="1" dirty="0"/>
              <a:t>FROM Customers</a:t>
            </a:r>
          </a:p>
          <a:p>
            <a:r>
              <a:rPr lang="en-US" i="1" dirty="0"/>
              <a:t>RIGHT JOIN Orders</a:t>
            </a:r>
          </a:p>
          <a:p>
            <a:r>
              <a:rPr lang="en-US" i="1" dirty="0"/>
              <a:t>ON </a:t>
            </a:r>
            <a:r>
              <a:rPr lang="en-US" i="1" dirty="0" err="1"/>
              <a:t>Customers.customer_id</a:t>
            </a:r>
            <a:r>
              <a:rPr lang="en-US" i="1" dirty="0"/>
              <a:t> = </a:t>
            </a:r>
            <a:r>
              <a:rPr lang="en-US" i="1" dirty="0" err="1"/>
              <a:t>Orders.customer</a:t>
            </a:r>
            <a:r>
              <a:rPr lang="en-US" i="1" dirty="0"/>
              <a:t>;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199411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1A84F7-859A-D5F0-9C07-640C23646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4060" y="0"/>
            <a:ext cx="6389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7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711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Droid Sans Mono</vt:lpstr>
      <vt:lpstr>euclid_circular_a</vt:lpstr>
      <vt:lpstr>Inter</vt:lpstr>
      <vt:lpstr>Nunito</vt:lpstr>
      <vt:lpstr>Office Theme</vt:lpstr>
      <vt:lpstr>SQL Subqueries </vt:lpstr>
      <vt:lpstr>PowerPoint Presentation</vt:lpstr>
      <vt:lpstr>When you would use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JOINS</vt:lpstr>
      <vt:lpstr>PowerPoint Presentation</vt:lpstr>
      <vt:lpstr>PowerPoint Presentation</vt:lpstr>
      <vt:lpstr>PowerPoint Presentation</vt:lpstr>
      <vt:lpstr>SQL LEFT JOIN</vt:lpstr>
      <vt:lpstr>PowerPoint Presentation</vt:lpstr>
      <vt:lpstr>SQL RIGHT JOIN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pratyashi create powerposatapathyint</dc:creator>
  <cp:lastModifiedBy>pratyashi create powerposatapathyint</cp:lastModifiedBy>
  <cp:revision>12</cp:revision>
  <dcterms:created xsi:type="dcterms:W3CDTF">2025-05-06T09:33:35Z</dcterms:created>
  <dcterms:modified xsi:type="dcterms:W3CDTF">2025-05-06T10:27:56Z</dcterms:modified>
</cp:coreProperties>
</file>