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3"/>
    <p:sldId id="300" r:id="rId4"/>
    <p:sldId id="298" r:id="rId5"/>
    <p:sldId id="299" r:id="rId6"/>
    <p:sldId id="268" r:id="rId7"/>
    <p:sldId id="269" r:id="rId8"/>
    <p:sldId id="294" r:id="rId9"/>
    <p:sldId id="270" r:id="rId10"/>
    <p:sldId id="272" r:id="rId11"/>
    <p:sldId id="287" r:id="rId12"/>
    <p:sldId id="288" r:id="rId13"/>
    <p:sldId id="293" r:id="rId14"/>
    <p:sldId id="289" r:id="rId15"/>
    <p:sldId id="290" r:id="rId16"/>
    <p:sldId id="291" r:id="rId17"/>
    <p:sldId id="296" r:id="rId18"/>
    <p:sldId id="306" r:id="rId19"/>
    <p:sldId id="307" r:id="rId20"/>
    <p:sldId id="308" r:id="rId21"/>
    <p:sldId id="279" r:id="rId22"/>
    <p:sldId id="280" r:id="rId23"/>
    <p:sldId id="292" r:id="rId24"/>
    <p:sldId id="281" r:id="rId26"/>
    <p:sldId id="282" r:id="rId27"/>
    <p:sldId id="283" r:id="rId28"/>
    <p:sldId id="284" r:id="rId29"/>
    <p:sldId id="285" r:id="rId30"/>
    <p:sldId id="286" r:id="rId31"/>
    <p:sldId id="297" r:id="rId32"/>
    <p:sldId id="301" r:id="rId33"/>
    <p:sldId id="305" r:id="rId34"/>
    <p:sldId id="302" r:id="rId35"/>
    <p:sldId id="304" r:id="rId36"/>
    <p:sldId id="303" r:id="rId37"/>
    <p:sldId id="278" r:id="rId38"/>
    <p:sldId id="257" r:id="rId39"/>
    <p:sldId id="274" r:id="rId40"/>
    <p:sldId id="258" r:id="rId41"/>
    <p:sldId id="265" r:id="rId42"/>
    <p:sldId id="275" r:id="rId43"/>
    <p:sldId id="259" r:id="rId44"/>
    <p:sldId id="260" r:id="rId45"/>
    <p:sldId id="276" r:id="rId46"/>
    <p:sldId id="261" r:id="rId47"/>
    <p:sldId id="273" r:id="rId48"/>
    <p:sldId id="277" r:id="rId49"/>
    <p:sldId id="262" r:id="rId50"/>
    <p:sldId id="26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5BD15F6-211D-4A26-AC26-0CAAC7ABC44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D5BD15F6-211D-4A26-AC26-0CAAC7ABC44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D5BD15F6-211D-4A26-AC26-0CAAC7ABC44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D5BD15F6-211D-4A26-AC26-0CAAC7ABC44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D5BD15F6-211D-4A26-AC26-0CAAC7ABC44E}"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5BD15F6-211D-4A26-AC26-0CAAC7ABC44E}"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BD15F6-211D-4A26-AC26-0CAAC7ABC44E}"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5BD15F6-211D-4A26-AC26-0CAAC7ABC44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5BD15F6-211D-4A26-AC26-0CAAC7ABC44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D5BD15F6-211D-4A26-AC26-0CAAC7ABC44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D5BD15F6-211D-4A26-AC26-0CAAC7ABC44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042B19-9883-4D2D-AA58-E7CEF14DDEED}"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BD15F6-211D-4A26-AC26-0CAAC7ABC44E}"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042B19-9883-4D2D-AA58-E7CEF14DDEED}"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solidFill>
                  <a:srgbClr val="C00000"/>
                </a:solidFill>
              </a:rPr>
              <a:t>Introduction to DBMS</a:t>
            </a:r>
            <a:endParaRPr lang="en-IN"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8385"/>
            <a:ext cx="10515600" cy="4351338"/>
          </a:xfrm>
        </p:spPr>
        <p:txBody>
          <a:bodyPr/>
          <a:lstStyle/>
          <a:p>
            <a:pPr algn="just"/>
            <a:r>
              <a:rPr lang="en-US" b="1" dirty="0"/>
              <a:t>Data </a:t>
            </a:r>
            <a:r>
              <a:rPr lang="en-US" dirty="0"/>
              <a:t>refers to raw, unorganized facts and figures, such as numbers, text, images, or symbols, that can be processed and analyzed to extract meaningful information</a:t>
            </a:r>
            <a:endParaRPr lang="en-US" dirty="0"/>
          </a:p>
          <a:p>
            <a:pPr algn="just"/>
            <a:r>
              <a:rPr lang="en-US" dirty="0"/>
              <a:t>Data can exist in a raw form (unorganized) or processed form (organized and meaningful).</a:t>
            </a:r>
            <a:endParaRPr lang="en-US" dirty="0"/>
          </a:p>
          <a:p>
            <a:pPr algn="just"/>
            <a:r>
              <a:rPr lang="en-US" dirty="0"/>
              <a:t>A </a:t>
            </a:r>
            <a:r>
              <a:rPr lang="en-US" b="1" dirty="0"/>
              <a:t>database</a:t>
            </a:r>
            <a:r>
              <a:rPr lang="en-US" dirty="0"/>
              <a:t> is a structured collection of data designed for efficient storage, retrieval and manipulation.</a:t>
            </a:r>
            <a:endParaRPr lang="en-US" dirty="0"/>
          </a:p>
          <a:p>
            <a:pPr lvl="1" algn="just"/>
            <a:r>
              <a:rPr lang="en-US" dirty="0"/>
              <a:t>It serves as a centralized repository, allowing data to be accessed, managed, and updated by multiple users or applications</a:t>
            </a:r>
            <a:endParaRPr lang="en-US" dirty="0"/>
          </a:p>
          <a:p>
            <a:pPr lvl="1"/>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1384" y="513708"/>
            <a:ext cx="10941978" cy="5663255"/>
          </a:xfrm>
        </p:spPr>
        <p:txBody>
          <a:bodyPr>
            <a:normAutofit/>
          </a:bodyPr>
          <a:lstStyle/>
          <a:p>
            <a:pPr algn="just"/>
            <a:r>
              <a:rPr lang="en-US" dirty="0"/>
              <a:t>A </a:t>
            </a:r>
            <a:r>
              <a:rPr lang="en-US" b="1" dirty="0"/>
              <a:t>database-management system (DBMS) </a:t>
            </a:r>
            <a:r>
              <a:rPr lang="en-US" dirty="0"/>
              <a:t>is a collection of interrelated data and a set of programs to access those data. The collection of data, usually referred to as the database, contains information relevant to an enterprise.</a:t>
            </a:r>
            <a:endParaRPr lang="en-US" dirty="0"/>
          </a:p>
          <a:p>
            <a:pPr marL="0" indent="0" algn="just">
              <a:buNone/>
            </a:pPr>
            <a:r>
              <a:rPr lang="en-US" dirty="0">
                <a:solidFill>
                  <a:srgbClr val="C00000"/>
                </a:solidFill>
              </a:rPr>
              <a:t>Database-System Applications</a:t>
            </a:r>
            <a:endParaRPr lang="en-US" dirty="0">
              <a:solidFill>
                <a:srgbClr val="C00000"/>
              </a:solidFill>
            </a:endParaRPr>
          </a:p>
          <a:p>
            <a:pPr marL="0" indent="0" algn="just">
              <a:buNone/>
            </a:pPr>
            <a:r>
              <a:rPr lang="en-US" dirty="0"/>
              <a:t>Databases are widely used. Here are some representative applications:</a:t>
            </a:r>
            <a:endParaRPr lang="en-US" dirty="0"/>
          </a:p>
          <a:p>
            <a:pPr lvl="1" algn="just"/>
            <a:r>
              <a:rPr lang="en-US" dirty="0"/>
              <a:t>Enterprise Information</a:t>
            </a:r>
            <a:endParaRPr lang="en-US" dirty="0"/>
          </a:p>
          <a:p>
            <a:pPr lvl="1" algn="just"/>
            <a:r>
              <a:rPr lang="en-US" dirty="0"/>
              <a:t>Sales: For customer, product, and purchase information.</a:t>
            </a:r>
            <a:endParaRPr lang="en-US" dirty="0"/>
          </a:p>
          <a:p>
            <a:pPr lvl="1" algn="just"/>
            <a:r>
              <a:rPr lang="en-US" dirty="0"/>
              <a:t>Banking and Finance</a:t>
            </a:r>
            <a:endParaRPr lang="en-US" dirty="0"/>
          </a:p>
          <a:p>
            <a:pPr lvl="1" algn="just"/>
            <a:r>
              <a:rPr lang="en-US" dirty="0"/>
              <a:t>Universities</a:t>
            </a:r>
            <a:endParaRPr lang="en-US" dirty="0"/>
          </a:p>
          <a:p>
            <a:pPr lvl="1" algn="just"/>
            <a:r>
              <a:rPr lang="en-US" dirty="0"/>
              <a:t>Airlines: </a:t>
            </a:r>
            <a:endParaRPr lang="en-US" dirty="0"/>
          </a:p>
          <a:p>
            <a:pPr lvl="1" algn="just"/>
            <a:r>
              <a:rPr lang="en-US" dirty="0"/>
              <a:t>Telecommunication:</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4387"/>
            <a:ext cx="10515600" cy="832207"/>
          </a:xfrm>
        </p:spPr>
        <p:txBody>
          <a:bodyPr>
            <a:normAutofit/>
          </a:bodyPr>
          <a:lstStyle/>
          <a:p>
            <a:pPr algn="ctr"/>
            <a:r>
              <a:rPr lang="en-IN" b="1" dirty="0">
                <a:solidFill>
                  <a:srgbClr val="C00000"/>
                </a:solidFill>
              </a:rPr>
              <a:t>File-processing system </a:t>
            </a:r>
            <a:endParaRPr lang="en-IN" b="1" dirty="0">
              <a:solidFill>
                <a:srgbClr val="C00000"/>
              </a:solidFill>
            </a:endParaRPr>
          </a:p>
        </p:txBody>
      </p:sp>
      <p:sp>
        <p:nvSpPr>
          <p:cNvPr id="3" name="Content Placeholder 2"/>
          <p:cNvSpPr>
            <a:spLocks noGrp="1"/>
          </p:cNvSpPr>
          <p:nvPr>
            <p:ph idx="1"/>
          </p:nvPr>
        </p:nvSpPr>
        <p:spPr>
          <a:xfrm>
            <a:off x="698642" y="996594"/>
            <a:ext cx="10655157" cy="5697019"/>
          </a:xfrm>
        </p:spPr>
        <p:txBody>
          <a:bodyPr>
            <a:normAutofit lnSpcReduction="10000"/>
          </a:bodyPr>
          <a:lstStyle/>
          <a:p>
            <a:pPr algn="just"/>
            <a:r>
              <a:rPr lang="en-US" dirty="0"/>
              <a:t>This typical file-processing system is supported by a conventional operating system. The system stores permanent records in various files, and it needs different application programs to extract records from, and add records to, the appropriate files. </a:t>
            </a:r>
            <a:endParaRPr lang="en-US" dirty="0"/>
          </a:p>
          <a:p>
            <a:pPr algn="just"/>
            <a:r>
              <a:rPr lang="en-US" dirty="0"/>
              <a:t>Before database management systems (DBMSs) were introduced, organizations usually stored information in such systems. </a:t>
            </a:r>
            <a:endParaRPr lang="en-US" dirty="0"/>
          </a:p>
          <a:p>
            <a:pPr algn="just"/>
            <a:r>
              <a:rPr lang="en-US" dirty="0"/>
              <a:t>Keeping organizational information in a file-processing system has a number of major disadvantages:</a:t>
            </a:r>
            <a:endParaRPr lang="en-US" dirty="0"/>
          </a:p>
          <a:p>
            <a:pPr lvl="1" algn="just"/>
            <a:r>
              <a:rPr lang="en-US" dirty="0"/>
              <a:t>Data redundancy and inconsistency</a:t>
            </a:r>
            <a:endParaRPr lang="en-US" dirty="0"/>
          </a:p>
          <a:p>
            <a:pPr lvl="1" algn="just"/>
            <a:r>
              <a:rPr lang="en-IN" dirty="0"/>
              <a:t>Difficulty in accessing data.</a:t>
            </a:r>
            <a:endParaRPr lang="en-IN" dirty="0"/>
          </a:p>
          <a:p>
            <a:pPr lvl="1" algn="just"/>
            <a:r>
              <a:rPr lang="en-IN" dirty="0"/>
              <a:t>Data isolation</a:t>
            </a:r>
            <a:endParaRPr lang="en-IN" dirty="0"/>
          </a:p>
          <a:p>
            <a:pPr lvl="1" algn="just"/>
            <a:r>
              <a:rPr lang="en-IN" dirty="0"/>
              <a:t>Integrity problems</a:t>
            </a:r>
            <a:endParaRPr lang="en-IN" dirty="0"/>
          </a:p>
          <a:p>
            <a:pPr lvl="1" algn="just"/>
            <a:r>
              <a:rPr lang="en-IN" dirty="0"/>
              <a:t>Atomicity problems</a:t>
            </a:r>
            <a:endParaRPr lang="en-IN" dirty="0"/>
          </a:p>
          <a:p>
            <a:pPr lvl="1" algn="just"/>
            <a:r>
              <a:rPr lang="en-IN" dirty="0"/>
              <a:t>Security problems</a:t>
            </a:r>
            <a:endParaRPr lang="en-IN" dirty="0"/>
          </a:p>
          <a:p>
            <a:pPr lvl="1" algn="just"/>
            <a:r>
              <a:rPr lang="en-IN" dirty="0"/>
              <a:t>No Backup/Recovery</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998" y="1"/>
            <a:ext cx="10515600" cy="991518"/>
          </a:xfrm>
        </p:spPr>
        <p:txBody>
          <a:bodyPr/>
          <a:lstStyle/>
          <a:p>
            <a:pPr algn="ctr"/>
            <a:r>
              <a:rPr lang="en-IN" b="1" dirty="0">
                <a:solidFill>
                  <a:srgbClr val="C00000"/>
                </a:solidFill>
              </a:rPr>
              <a:t>Two-Tier Database Architecture</a:t>
            </a:r>
            <a:endParaRPr lang="en-IN" b="1" dirty="0">
              <a:solidFill>
                <a:srgbClr val="C00000"/>
              </a:solidFill>
            </a:endParaRPr>
          </a:p>
        </p:txBody>
      </p:sp>
      <p:sp>
        <p:nvSpPr>
          <p:cNvPr id="3" name="Content Placeholder 2"/>
          <p:cNvSpPr>
            <a:spLocks noGrp="1"/>
          </p:cNvSpPr>
          <p:nvPr>
            <p:ph idx="1"/>
          </p:nvPr>
        </p:nvSpPr>
        <p:spPr>
          <a:xfrm>
            <a:off x="705998" y="991519"/>
            <a:ext cx="10647802" cy="5185444"/>
          </a:xfrm>
        </p:spPr>
        <p:txBody>
          <a:bodyPr>
            <a:normAutofit fontScale="92500" lnSpcReduction="20000"/>
          </a:bodyPr>
          <a:lstStyle/>
          <a:p>
            <a:pPr algn="just"/>
            <a:r>
              <a:rPr lang="en-US" dirty="0"/>
              <a:t>The two-tier DB architecture is a client-server architecture.</a:t>
            </a:r>
            <a:endParaRPr lang="en-US" dirty="0"/>
          </a:p>
          <a:p>
            <a:pPr algn="just"/>
            <a:r>
              <a:rPr lang="en-US" dirty="0"/>
              <a:t>It contains mainly two layers- the Data Tier (Database Tier), and the Client Tier.</a:t>
            </a:r>
            <a:endParaRPr lang="en-US" dirty="0"/>
          </a:p>
          <a:p>
            <a:pPr algn="just"/>
            <a:r>
              <a:rPr lang="en-US" dirty="0"/>
              <a:t>In a two-tier architecture, the application resides at the client machine, where it invokes database system functionality at the server machine through query language statements.</a:t>
            </a:r>
            <a:endParaRPr lang="en-US" dirty="0"/>
          </a:p>
          <a:p>
            <a:pPr algn="just"/>
            <a:r>
              <a:rPr lang="en-US" dirty="0"/>
              <a:t>The two-tier DB architecture allows the client to communicate directly with the database- thus making it less secure.</a:t>
            </a:r>
            <a:endParaRPr lang="en-US" dirty="0"/>
          </a:p>
          <a:p>
            <a:pPr algn="just"/>
            <a:r>
              <a:rPr lang="en-US" dirty="0"/>
              <a:t>The client sends a request to the server where it then processes the request and sends back the data. Meaning the client handles both the presentation layer (application interface) and application layer (logical operations), while the server system handles the database.</a:t>
            </a:r>
            <a:endParaRPr lang="en-US" dirty="0"/>
          </a:p>
          <a:p>
            <a:pPr algn="just"/>
            <a:r>
              <a:rPr lang="en-US" dirty="0"/>
              <a:t>Examples	A few examples of the two-tier database architecture are the Railway Reservation System, Contact Management System that one can create with the MS-Access, etc.</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wo Tier Architecture"/>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505102" y="756989"/>
            <a:ext cx="4351338" cy="4351338"/>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p:cNvPicPr>
            <a:picLocks noChangeAspect="1"/>
          </p:cNvPicPr>
          <p:nvPr/>
        </p:nvPicPr>
        <p:blipFill>
          <a:blip r:embed="rId2"/>
          <a:stretch>
            <a:fillRect/>
          </a:stretch>
        </p:blipFill>
        <p:spPr>
          <a:xfrm>
            <a:off x="5429641" y="955293"/>
            <a:ext cx="4351338" cy="43513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195589" y="438123"/>
            <a:ext cx="8374455" cy="5981754"/>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pPr algn="ctr"/>
            <a:r>
              <a:rPr lang="en-IN" b="1" dirty="0">
                <a:solidFill>
                  <a:srgbClr val="C00000"/>
                </a:solidFill>
              </a:rPr>
              <a:t>Three-Tier Database Architecture</a:t>
            </a:r>
            <a:endParaRPr lang="en-IN" b="1" dirty="0">
              <a:solidFill>
                <a:srgbClr val="C00000"/>
              </a:solidFill>
            </a:endParaRPr>
          </a:p>
        </p:txBody>
      </p:sp>
      <p:sp>
        <p:nvSpPr>
          <p:cNvPr id="3" name="Content Placeholder 2"/>
          <p:cNvSpPr>
            <a:spLocks noGrp="1"/>
          </p:cNvSpPr>
          <p:nvPr>
            <p:ph idx="1"/>
          </p:nvPr>
        </p:nvSpPr>
        <p:spPr>
          <a:xfrm>
            <a:off x="838200" y="1343818"/>
            <a:ext cx="10515600" cy="4833145"/>
          </a:xfrm>
        </p:spPr>
        <p:txBody>
          <a:bodyPr/>
          <a:lstStyle/>
          <a:p>
            <a:pPr algn="just"/>
            <a:r>
              <a:rPr lang="en-US" dirty="0"/>
              <a:t>The three-tier DB architecture is a type of web-based application.</a:t>
            </a:r>
            <a:endParaRPr lang="en-US" dirty="0"/>
          </a:p>
          <a:p>
            <a:pPr algn="just"/>
            <a:r>
              <a:rPr lang="en-US" dirty="0"/>
              <a:t>A three-tier DB architecture buries the process or application logic in the middle-tier. Thus, it acts as a separate entity from the Client/ User Interface and the data Interface.</a:t>
            </a:r>
            <a:endParaRPr lang="en-US" dirty="0"/>
          </a:p>
          <a:p>
            <a:pPr algn="just"/>
            <a:r>
              <a:rPr lang="en-US" dirty="0"/>
              <a:t>The three-tier DB architecture does not allow its clients and database to communicate directly- thus making it comparatively more secure in the long run.</a:t>
            </a:r>
            <a:endParaRPr lang="en-US" dirty="0"/>
          </a:p>
          <a:p>
            <a:pPr algn="just"/>
            <a:r>
              <a:rPr lang="en-US" dirty="0"/>
              <a:t>A few examples of the three-tier database architecture are a website on the Internet, the process of designing registration forms with buttons, labels, text boxes, and many more.</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0843" y="616945"/>
            <a:ext cx="10802957" cy="5560018"/>
          </a:xfrm>
        </p:spPr>
        <p:txBody>
          <a:bodyPr>
            <a:normAutofit lnSpcReduction="10000"/>
          </a:bodyPr>
          <a:lstStyle/>
          <a:p>
            <a:pPr algn="just"/>
            <a:r>
              <a:rPr lang="en-US" dirty="0"/>
              <a:t>Three-tier architecture is generally divided into three:</a:t>
            </a:r>
            <a:endParaRPr lang="en-US" dirty="0"/>
          </a:p>
          <a:p>
            <a:pPr algn="just"/>
            <a:endParaRPr lang="en-US" dirty="0"/>
          </a:p>
          <a:p>
            <a:pPr algn="just"/>
            <a:r>
              <a:rPr lang="en-US" dirty="0">
                <a:solidFill>
                  <a:srgbClr val="C00000"/>
                </a:solidFill>
              </a:rPr>
              <a:t>Presentation Layer (Client tier)</a:t>
            </a:r>
            <a:r>
              <a:rPr lang="en-US" dirty="0"/>
              <a:t>: This is the topmost layer of an application whose main function is to communicate with the application layer.  This layer passes information which is given by the user in terms of keyboard actions and mouse clicks to the application layer.</a:t>
            </a:r>
            <a:endParaRPr lang="en-US" dirty="0"/>
          </a:p>
          <a:p>
            <a:pPr algn="just"/>
            <a:r>
              <a:rPr lang="en-US" dirty="0">
                <a:solidFill>
                  <a:srgbClr val="C00000"/>
                </a:solidFill>
              </a:rPr>
              <a:t>Application Layer (Business tier):  </a:t>
            </a:r>
            <a:r>
              <a:rPr lang="en-US" dirty="0"/>
              <a:t>This layer consists of logic controls and functionality that processes data received from the presentation layer and database layer. It acts as an intermediary between the presentation and database layer.</a:t>
            </a:r>
            <a:endParaRPr lang="en-US" dirty="0"/>
          </a:p>
          <a:p>
            <a:pPr algn="just"/>
            <a:r>
              <a:rPr lang="en-US" dirty="0">
                <a:solidFill>
                  <a:srgbClr val="C00000"/>
                </a:solidFill>
              </a:rPr>
              <a:t>Database Layer (Data tier):  </a:t>
            </a:r>
            <a:r>
              <a:rPr lang="en-US" dirty="0"/>
              <a:t>This layer stores data and contains methods that connect to the database and performs the required actions, which include: UPDATE, DELETE or INSERT.</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1355"/>
            <a:ext cx="10515600" cy="672028"/>
          </a:xfrm>
        </p:spPr>
        <p:txBody>
          <a:bodyPr>
            <a:normAutofit fontScale="90000"/>
          </a:bodyPr>
          <a:lstStyle/>
          <a:p>
            <a:r>
              <a:rPr lang="en-IN" b="1" dirty="0">
                <a:solidFill>
                  <a:srgbClr val="C00000"/>
                </a:solidFill>
              </a:rPr>
              <a:t>Three schema Architecture</a:t>
            </a:r>
            <a:endParaRPr lang="en-IN" b="1" dirty="0">
              <a:solidFill>
                <a:srgbClr val="C00000"/>
              </a:solidFill>
            </a:endParaRPr>
          </a:p>
        </p:txBody>
      </p:sp>
      <p:sp>
        <p:nvSpPr>
          <p:cNvPr id="3" name="Content Placeholder 2"/>
          <p:cNvSpPr>
            <a:spLocks noGrp="1"/>
          </p:cNvSpPr>
          <p:nvPr>
            <p:ph idx="1"/>
          </p:nvPr>
        </p:nvSpPr>
        <p:spPr>
          <a:xfrm>
            <a:off x="727113" y="1478816"/>
            <a:ext cx="10626687" cy="5141377"/>
          </a:xfrm>
        </p:spPr>
        <p:txBody>
          <a:bodyPr>
            <a:normAutofit lnSpcReduction="20000"/>
          </a:bodyPr>
          <a:lstStyle/>
          <a:p>
            <a:pPr algn="just"/>
            <a:r>
              <a:rPr lang="en-US" dirty="0"/>
              <a:t>The three schema architecture separates the logical and physical aspects of the DBMS. This allows changing one layer of the database without affecting the other layers. It also helps to maintain data integrity and consistency.</a:t>
            </a:r>
            <a:endParaRPr lang="en-US" dirty="0"/>
          </a:p>
          <a:p>
            <a:pPr algn="just"/>
            <a:r>
              <a:rPr lang="en-US" dirty="0"/>
              <a:t>The overall design of the database is called the database </a:t>
            </a:r>
            <a:r>
              <a:rPr lang="en-US" b="1" dirty="0"/>
              <a:t>schema.</a:t>
            </a:r>
            <a:endParaRPr lang="en-US" b="1" dirty="0"/>
          </a:p>
          <a:p>
            <a:pPr algn="just"/>
            <a:r>
              <a:rPr lang="en-US" altLang="en-US" dirty="0"/>
              <a:t>The collection</a:t>
            </a:r>
            <a:r>
              <a:rPr lang="en-IN" altLang="en-US" dirty="0"/>
              <a:t>m </a:t>
            </a:r>
            <a:r>
              <a:rPr lang="en-US" altLang="en-US" dirty="0"/>
              <a:t>of information stored in the database at a particular moment is called an</a:t>
            </a:r>
            <a:r>
              <a:rPr lang="en-US" altLang="en-US" b="1" dirty="0"/>
              <a:t> instance</a:t>
            </a:r>
            <a:r>
              <a:rPr lang="en-IN" altLang="en-US" dirty="0"/>
              <a:t> </a:t>
            </a:r>
            <a:r>
              <a:rPr lang="en-US" altLang="en-US" dirty="0"/>
              <a:t>of the database.</a:t>
            </a:r>
            <a:endParaRPr lang="en-US" altLang="en-US" dirty="0"/>
          </a:p>
          <a:p>
            <a:pPr algn="just"/>
            <a:r>
              <a:rPr lang="en-US" dirty="0"/>
              <a:t>It divides the database into three different levels:</a:t>
            </a:r>
            <a:endParaRPr lang="en-US" dirty="0"/>
          </a:p>
          <a:p>
            <a:pPr lvl="1" algn="just"/>
            <a:r>
              <a:rPr lang="en-US" dirty="0"/>
              <a:t>Internal Schema (Physical Level)</a:t>
            </a:r>
            <a:endParaRPr lang="en-US" dirty="0"/>
          </a:p>
          <a:p>
            <a:pPr lvl="1" algn="just"/>
            <a:r>
              <a:rPr lang="en-US" dirty="0"/>
              <a:t>Conceptual Schema (Logical Level)</a:t>
            </a:r>
            <a:endParaRPr lang="en-US" dirty="0"/>
          </a:p>
          <a:p>
            <a:pPr lvl="1" algn="just"/>
            <a:r>
              <a:rPr lang="en-US" dirty="0"/>
              <a:t>External Schema (View Level)</a:t>
            </a:r>
            <a:endParaRPr lang="en-US" dirty="0"/>
          </a:p>
          <a:p>
            <a:pPr algn="just"/>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980684" y="683046"/>
            <a:ext cx="7544501" cy="57913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521057" y="623357"/>
            <a:ext cx="7383232" cy="5132365"/>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2029" y="649995"/>
            <a:ext cx="10681771" cy="5526968"/>
          </a:xfrm>
        </p:spPr>
        <p:txBody>
          <a:bodyPr>
            <a:normAutofit fontScale="92500" lnSpcReduction="20000"/>
          </a:bodyPr>
          <a:lstStyle/>
          <a:p>
            <a:pPr marL="0" indent="0" algn="just">
              <a:buNone/>
            </a:pPr>
            <a:r>
              <a:rPr lang="en-US" dirty="0">
                <a:solidFill>
                  <a:srgbClr val="C00000"/>
                </a:solidFill>
              </a:rPr>
              <a:t>1. Internal Schema (Physical Level)</a:t>
            </a:r>
            <a:endParaRPr lang="en-US" dirty="0">
              <a:solidFill>
                <a:srgbClr val="C00000"/>
              </a:solidFill>
            </a:endParaRPr>
          </a:p>
          <a:p>
            <a:pPr algn="just"/>
            <a:r>
              <a:rPr lang="en-US" dirty="0"/>
              <a:t>The Internal Schema is the lowest level in the Three Schema Architecture. It describes how the data is stored in the physical computer the database system. This schema defines the file structures, indexing methods, and the actual storage mechanisms used by the DBMS. </a:t>
            </a:r>
            <a:endParaRPr lang="en-US" dirty="0"/>
          </a:p>
          <a:p>
            <a:pPr marL="0" indent="0" algn="just">
              <a:buNone/>
            </a:pPr>
            <a:r>
              <a:rPr lang="en-US" dirty="0">
                <a:solidFill>
                  <a:srgbClr val="C00000"/>
                </a:solidFill>
              </a:rPr>
              <a:t>2. Conceptual Schema (Logical Level)</a:t>
            </a:r>
            <a:endParaRPr lang="en-US" dirty="0">
              <a:solidFill>
                <a:srgbClr val="C00000"/>
              </a:solidFill>
            </a:endParaRPr>
          </a:p>
          <a:p>
            <a:pPr algn="just"/>
            <a:r>
              <a:rPr lang="en-US" dirty="0"/>
              <a:t>The conceptual schema layer defines how data is structured within a database. It provides the tools for database administrators to create the logical layer of the database.</a:t>
            </a:r>
            <a:endParaRPr lang="en-US" dirty="0"/>
          </a:p>
          <a:p>
            <a:pPr algn="just"/>
            <a:r>
              <a:rPr lang="en-US" dirty="0"/>
              <a:t>The Conceptual Schema sits between the Internal Schema and the External Schema and represents the logical view of the entire database while hiding the details of physical storage structures. </a:t>
            </a:r>
            <a:endParaRPr lang="en-US" dirty="0"/>
          </a:p>
          <a:p>
            <a:pPr algn="just"/>
            <a:r>
              <a:rPr lang="en-US" dirty="0"/>
              <a:t>It only defines the structure of the data, including relationships, constraints, and entities, And what kind of data is to be stored in the database. Database administrators and programmers often use this schema to define the database's core structure.</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547" y="1003526"/>
            <a:ext cx="10880075" cy="5769339"/>
          </a:xfrm>
        </p:spPr>
        <p:txBody>
          <a:bodyPr/>
          <a:lstStyle/>
          <a:p>
            <a:pPr marL="0" indent="0" algn="just">
              <a:buNone/>
            </a:pPr>
            <a:r>
              <a:rPr lang="en-US" dirty="0">
                <a:solidFill>
                  <a:srgbClr val="C00000"/>
                </a:solidFill>
              </a:rPr>
              <a:t>3. External Schema (View Level)</a:t>
            </a:r>
            <a:endParaRPr lang="en-US" dirty="0">
              <a:solidFill>
                <a:srgbClr val="C00000"/>
              </a:solidFill>
            </a:endParaRPr>
          </a:p>
          <a:p>
            <a:pPr algn="just"/>
            <a:r>
              <a:rPr lang="en-US" dirty="0"/>
              <a:t>The External Schema defines how individual users or user groups view the data. </a:t>
            </a:r>
            <a:endParaRPr lang="en-US" dirty="0"/>
          </a:p>
          <a:p>
            <a:pPr algn="just"/>
            <a:r>
              <a:rPr lang="en-US" dirty="0"/>
              <a:t>It represents the user perspective and focuses on the specific requirements of users while hiding the rest of the database from that user group. Depending on their access needs, users may have different views of the same data. The view schema describes the end-user interaction with database systems.</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5828" y="563430"/>
            <a:ext cx="10515600" cy="593342"/>
          </a:xfrm>
        </p:spPr>
        <p:txBody>
          <a:bodyPr>
            <a:normAutofit fontScale="90000"/>
          </a:bodyPr>
          <a:lstStyle/>
          <a:p>
            <a:r>
              <a:rPr lang="en-IN" sz="4900" b="1" dirty="0">
                <a:solidFill>
                  <a:srgbClr val="C00000"/>
                </a:solidFill>
              </a:rPr>
              <a:t>Data Independence</a:t>
            </a:r>
            <a:br>
              <a:rPr lang="en-IN" dirty="0"/>
            </a:br>
            <a:endParaRPr lang="en-IN" dirty="0"/>
          </a:p>
        </p:txBody>
      </p:sp>
      <p:sp>
        <p:nvSpPr>
          <p:cNvPr id="3" name="Content Placeholder 2"/>
          <p:cNvSpPr>
            <a:spLocks noGrp="1"/>
          </p:cNvSpPr>
          <p:nvPr>
            <p:ph idx="1"/>
          </p:nvPr>
        </p:nvSpPr>
        <p:spPr>
          <a:xfrm>
            <a:off x="517793" y="1322023"/>
            <a:ext cx="10836007" cy="5295614"/>
          </a:xfrm>
        </p:spPr>
        <p:txBody>
          <a:bodyPr>
            <a:normAutofit/>
          </a:bodyPr>
          <a:lstStyle/>
          <a:p>
            <a:pPr algn="just"/>
            <a:r>
              <a:rPr lang="en-US" dirty="0"/>
              <a:t>Data independence means a change of data at one level should not affect another level. Two types of data independence are present in this architecture:</a:t>
            </a:r>
            <a:endParaRPr lang="en-US" dirty="0"/>
          </a:p>
          <a:p>
            <a:pPr algn="just"/>
            <a:r>
              <a:rPr lang="en-US" b="1" dirty="0">
                <a:solidFill>
                  <a:srgbClr val="C00000"/>
                </a:solidFill>
              </a:rPr>
              <a:t>Physical Data Independence:</a:t>
            </a:r>
            <a:r>
              <a:rPr lang="en-US" dirty="0"/>
              <a:t> Any change in the physical location of tables and indexes should not affect the conceptual level or external view of data. </a:t>
            </a:r>
            <a:endParaRPr lang="en-US" dirty="0"/>
          </a:p>
          <a:p>
            <a:pPr algn="just"/>
            <a:r>
              <a:rPr lang="en-US" b="1" dirty="0">
                <a:solidFill>
                  <a:srgbClr val="C00000"/>
                </a:solidFill>
              </a:rPr>
              <a:t>Conceptual Data Independence:</a:t>
            </a:r>
            <a:r>
              <a:rPr lang="en-US" dirty="0"/>
              <a:t> This means a change in conceptual schema should not affect external schema. e.g.; Adding or deleting attributes of a table should not affect the user’s view of the table. But this type of independence is difficult to achieve as compared to physical data independence.</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3462391" y="125403"/>
            <a:ext cx="4799729" cy="66071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74675" y="579755"/>
            <a:ext cx="10779125" cy="5597525"/>
          </a:xfrm>
        </p:spPr>
        <p:txBody>
          <a:bodyPr>
            <a:normAutofit/>
          </a:bodyPr>
          <a:p>
            <a:pPr algn="just"/>
            <a:r>
              <a:rPr lang="en-US" altLang="en-US"/>
              <a:t>The </a:t>
            </a:r>
            <a:r>
              <a:rPr lang="en-US" altLang="en-US">
                <a:solidFill>
                  <a:srgbClr val="FF0000"/>
                </a:solidFill>
              </a:rPr>
              <a:t>storage manager</a:t>
            </a:r>
            <a:r>
              <a:rPr lang="en-US" altLang="en-US"/>
              <a:t> is the component of a database system that provides the</a:t>
            </a:r>
            <a:r>
              <a:rPr lang="en-IN" altLang="en-US"/>
              <a:t> </a:t>
            </a:r>
            <a:r>
              <a:rPr lang="en-US" altLang="en-US"/>
              <a:t>interface between the low-level data stored in the database and the application</a:t>
            </a:r>
            <a:r>
              <a:rPr lang="en-IN" altLang="en-US"/>
              <a:t> </a:t>
            </a:r>
            <a:r>
              <a:rPr lang="en-US" altLang="en-US"/>
              <a:t>programs and queries submitted to the system.</a:t>
            </a:r>
            <a:endParaRPr lang="en-US" altLang="en-US"/>
          </a:p>
          <a:p>
            <a:pPr lvl="1" algn="just"/>
            <a:r>
              <a:rPr lang="en-US" altLang="en-US" b="1"/>
              <a:t>Authorization and integrity manager,</a:t>
            </a:r>
            <a:r>
              <a:rPr lang="en-US" altLang="en-US"/>
              <a:t> which tests for the satisfaction of</a:t>
            </a:r>
            <a:r>
              <a:rPr lang="en-IN" altLang="en-US"/>
              <a:t> </a:t>
            </a:r>
            <a:r>
              <a:rPr lang="en-US" altLang="en-US"/>
              <a:t>integrity constraints and checks the authority of users to access data.</a:t>
            </a:r>
            <a:endParaRPr lang="en-US" altLang="en-US"/>
          </a:p>
          <a:p>
            <a:pPr lvl="1" algn="just"/>
            <a:r>
              <a:rPr lang="en-US" altLang="en-US" b="1"/>
              <a:t>Transaction manager</a:t>
            </a:r>
            <a:r>
              <a:rPr lang="en-US" altLang="en-US"/>
              <a:t>, which ensures that the database remains in a consistent</a:t>
            </a:r>
            <a:r>
              <a:rPr lang="en-IN" altLang="en-US"/>
              <a:t> </a:t>
            </a:r>
            <a:r>
              <a:rPr lang="en-US" altLang="en-US"/>
              <a:t>(correct) state despite system failures, and that concurrent transaction</a:t>
            </a:r>
            <a:r>
              <a:rPr lang="en-IN" altLang="en-US"/>
              <a:t> </a:t>
            </a:r>
            <a:r>
              <a:rPr lang="en-US" altLang="en-US"/>
              <a:t>executions proceed without conflicting.</a:t>
            </a:r>
            <a:endParaRPr lang="en-US" altLang="en-US"/>
          </a:p>
          <a:p>
            <a:pPr lvl="1" algn="just"/>
            <a:r>
              <a:rPr lang="en-US" altLang="en-US" b="1"/>
              <a:t>File manager,</a:t>
            </a:r>
            <a:r>
              <a:rPr lang="en-US" altLang="en-US"/>
              <a:t> which manages the allocation of space on disk storage and the</a:t>
            </a:r>
            <a:r>
              <a:rPr lang="en-IN" altLang="en-US"/>
              <a:t> </a:t>
            </a:r>
            <a:r>
              <a:rPr lang="en-US" altLang="en-US"/>
              <a:t>data structures used to represent information stored on disk.</a:t>
            </a:r>
            <a:endParaRPr lang="en-US" altLang="en-US"/>
          </a:p>
          <a:p>
            <a:pPr lvl="1" algn="just"/>
            <a:r>
              <a:rPr lang="en-US" altLang="en-US" b="1"/>
              <a:t>Buffer manager</a:t>
            </a:r>
            <a:r>
              <a:rPr lang="en-US" altLang="en-US"/>
              <a:t>,which is responsible for fetching data from disk storage into</a:t>
            </a:r>
            <a:r>
              <a:rPr lang="en-IN" altLang="en-US"/>
              <a:t> </a:t>
            </a:r>
            <a:r>
              <a:rPr lang="en-US" altLang="en-US"/>
              <a:t>main memory, and deciding what data to cache in main memory.</a:t>
            </a: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54380" y="795020"/>
            <a:ext cx="10599420" cy="5382260"/>
          </a:xfrm>
        </p:spPr>
        <p:txBody>
          <a:bodyPr>
            <a:normAutofit/>
          </a:bodyPr>
          <a:p>
            <a:pPr algn="just"/>
            <a:r>
              <a:rPr lang="en-US" altLang="en-US" b="1"/>
              <a:t>Data files,</a:t>
            </a:r>
            <a:r>
              <a:rPr lang="en-US" altLang="en-US"/>
              <a:t> which store the database itself.</a:t>
            </a:r>
            <a:endParaRPr lang="en-US" altLang="en-US"/>
          </a:p>
          <a:p>
            <a:pPr algn="just"/>
            <a:r>
              <a:rPr lang="en-US" altLang="en-US" b="1"/>
              <a:t>Data dictionary,</a:t>
            </a:r>
            <a:r>
              <a:rPr lang="en-US" altLang="en-US"/>
              <a:t> which stores metadata about the structure of the database,</a:t>
            </a:r>
            <a:r>
              <a:rPr lang="en-IN" altLang="en-US"/>
              <a:t> </a:t>
            </a:r>
            <a:r>
              <a:rPr lang="en-US" altLang="en-US"/>
              <a:t>in particular the schema of the database.</a:t>
            </a:r>
            <a:endParaRPr lang="en-US" altLang="en-US"/>
          </a:p>
          <a:p>
            <a:pPr algn="just"/>
            <a:r>
              <a:rPr lang="en-US" altLang="en-US" b="1"/>
              <a:t>Indices</a:t>
            </a:r>
            <a:r>
              <a:rPr lang="en-US" altLang="en-US"/>
              <a:t>, which can provide fast access to data items. Like the index in</a:t>
            </a:r>
            <a:r>
              <a:rPr lang="en-IN" altLang="en-US"/>
              <a:t> a </a:t>
            </a:r>
            <a:r>
              <a:rPr lang="en-US" altLang="en-US"/>
              <a:t>textbook</a:t>
            </a:r>
            <a:r>
              <a:rPr lang="en-IN" altLang="en-US"/>
              <a:t>.</a:t>
            </a:r>
            <a:endParaRPr lang="en-IN" altLang="en-US"/>
          </a:p>
          <a:p>
            <a:pPr algn="just"/>
            <a:r>
              <a:rPr lang="en-US" altLang="en-US"/>
              <a:t>The </a:t>
            </a:r>
            <a:r>
              <a:rPr lang="en-US" altLang="en-US">
                <a:solidFill>
                  <a:srgbClr val="FF0000"/>
                </a:solidFill>
              </a:rPr>
              <a:t>query processor </a:t>
            </a:r>
            <a:r>
              <a:rPr lang="en-US" altLang="en-US"/>
              <a:t>components include:</a:t>
            </a:r>
            <a:endParaRPr lang="en-US" altLang="en-US"/>
          </a:p>
          <a:p>
            <a:pPr lvl="1" algn="just"/>
            <a:r>
              <a:rPr lang="en-US" altLang="en-US" b="1"/>
              <a:t>DDL interpreter,</a:t>
            </a:r>
            <a:r>
              <a:rPr lang="en-US" altLang="en-US"/>
              <a:t>which interprets DDL statements and records the definitions</a:t>
            </a:r>
            <a:r>
              <a:rPr lang="en-IN" altLang="en-US"/>
              <a:t> </a:t>
            </a:r>
            <a:r>
              <a:rPr lang="en-US" altLang="en-US"/>
              <a:t>in the data dictionary.</a:t>
            </a:r>
            <a:endParaRPr lang="en-US" altLang="en-US"/>
          </a:p>
          <a:p>
            <a:pPr lvl="1" algn="just"/>
            <a:r>
              <a:rPr lang="en-US" altLang="en-US" b="1"/>
              <a:t>DML compiler</a:t>
            </a:r>
            <a:r>
              <a:rPr lang="en-US" altLang="en-US"/>
              <a:t>,which translates DML statements in a query language into an</a:t>
            </a:r>
            <a:r>
              <a:rPr lang="en-IN" altLang="en-US"/>
              <a:t> </a:t>
            </a:r>
            <a:r>
              <a:rPr lang="en-US" altLang="en-US"/>
              <a:t>evaluation plan consisting of low-level instructions that the query evaluation</a:t>
            </a:r>
            <a:r>
              <a:rPr lang="en-IN" altLang="en-US"/>
              <a:t> </a:t>
            </a:r>
            <a:r>
              <a:rPr lang="en-US" altLang="en-US"/>
              <a:t>engine understands.</a:t>
            </a:r>
            <a:endParaRPr lang="en-US" altLang="en-US"/>
          </a:p>
          <a:p>
            <a:pPr lvl="1" algn="just"/>
            <a:r>
              <a:rPr lang="en-US" altLang="en-US"/>
              <a:t>Query evaluation engine, which executes low-level instructions generated</a:t>
            </a:r>
            <a:r>
              <a:rPr lang="en-IN" altLang="en-US"/>
              <a:t> </a:t>
            </a:r>
            <a:r>
              <a:rPr lang="en-US" altLang="en-US"/>
              <a:t>by the DML compiler.</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algn="just"/>
            <a:r>
              <a:rPr lang="en-US" altLang="en-US"/>
              <a:t>A </a:t>
            </a:r>
            <a:r>
              <a:rPr lang="en-US" altLang="en-US" b="1"/>
              <a:t>transaction</a:t>
            </a:r>
            <a:r>
              <a:rPr lang="en-US" altLang="en-US"/>
              <a:t> is a collection of operations that performs a single logical</a:t>
            </a:r>
            <a:r>
              <a:rPr lang="en-IN" altLang="en-US"/>
              <a:t> </a:t>
            </a:r>
            <a:r>
              <a:rPr lang="en-US" altLang="en-US"/>
              <a:t>function in a database application. Each transaction is a unit of both atomicity</a:t>
            </a:r>
            <a:r>
              <a:rPr lang="en-IN" altLang="en-US"/>
              <a:t> </a:t>
            </a:r>
            <a:r>
              <a:rPr lang="en-US" altLang="en-US"/>
              <a:t>and consistency.</a:t>
            </a:r>
            <a:endParaRPr lang="en-US" altLang="en-US"/>
          </a:p>
          <a:p>
            <a:pPr algn="just"/>
            <a:r>
              <a:rPr lang="en-US" altLang="en-US"/>
              <a:t>The transaction manager consists of the concurrency-control</a:t>
            </a:r>
            <a:r>
              <a:rPr lang="en-IN" altLang="en-US"/>
              <a:t> </a:t>
            </a:r>
            <a:r>
              <a:rPr lang="en-US" altLang="en-US"/>
              <a:t>manager and the recovery manager.</a:t>
            </a: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1227"/>
            <a:ext cx="10515600" cy="670461"/>
          </a:xfrm>
        </p:spPr>
        <p:txBody>
          <a:bodyPr>
            <a:noAutofit/>
          </a:bodyPr>
          <a:lstStyle/>
          <a:p>
            <a:pPr algn="ctr"/>
            <a:r>
              <a:rPr lang="en-US" b="1" dirty="0">
                <a:solidFill>
                  <a:srgbClr val="C00000"/>
                </a:solidFill>
              </a:rPr>
              <a:t>Different Types of Database Users</a:t>
            </a:r>
            <a:br>
              <a:rPr lang="en-US" b="1" dirty="0"/>
            </a:br>
            <a:endParaRPr lang="en-IN" b="1" dirty="0"/>
          </a:p>
        </p:txBody>
      </p:sp>
      <p:sp>
        <p:nvSpPr>
          <p:cNvPr id="3" name="Content Placeholder 2"/>
          <p:cNvSpPr>
            <a:spLocks noGrp="1"/>
          </p:cNvSpPr>
          <p:nvPr>
            <p:ph idx="1"/>
          </p:nvPr>
        </p:nvSpPr>
        <p:spPr>
          <a:xfrm>
            <a:off x="727113" y="1013552"/>
            <a:ext cx="10626687" cy="5163411"/>
          </a:xfrm>
        </p:spPr>
        <p:txBody>
          <a:bodyPr>
            <a:normAutofit/>
          </a:bodyPr>
          <a:lstStyle/>
          <a:p>
            <a:pPr algn="just"/>
            <a:r>
              <a:rPr lang="en-US" sz="3200" dirty="0"/>
              <a:t>Database users are categorized based on their interaction with the database. There are seven types of database users in DBMS. Below mentioned are the types of database users:</a:t>
            </a:r>
            <a:endParaRPr lang="en-US" sz="3200" dirty="0"/>
          </a:p>
          <a:p>
            <a:pPr algn="just"/>
            <a:endParaRPr lang="en-US" sz="3200" dirty="0"/>
          </a:p>
          <a:p>
            <a:pPr marL="971550" lvl="1" indent="-514350" algn="just">
              <a:buFont typeface="+mj-lt"/>
              <a:buAutoNum type="arabicPeriod"/>
            </a:pPr>
            <a:r>
              <a:rPr lang="en-IN" sz="2800" dirty="0"/>
              <a:t>Database Administrators (DBA)</a:t>
            </a:r>
            <a:endParaRPr lang="en-IN" sz="2800" dirty="0"/>
          </a:p>
          <a:p>
            <a:pPr marL="971550" lvl="1" indent="-514350" algn="just">
              <a:buFont typeface="+mj-lt"/>
              <a:buAutoNum type="arabicPeriod"/>
            </a:pPr>
            <a:r>
              <a:rPr lang="en-IN" sz="2800" dirty="0"/>
              <a:t>Database Designers</a:t>
            </a:r>
            <a:endParaRPr lang="en-IN" sz="2800" dirty="0"/>
          </a:p>
          <a:p>
            <a:pPr marL="971550" lvl="1" indent="-514350" algn="just">
              <a:buFont typeface="+mj-lt"/>
              <a:buAutoNum type="arabicPeriod"/>
            </a:pPr>
            <a:r>
              <a:rPr lang="en-IN" sz="2800" dirty="0"/>
              <a:t>System Analysts</a:t>
            </a:r>
            <a:endParaRPr lang="en-IN" sz="2800" dirty="0"/>
          </a:p>
          <a:p>
            <a:pPr marL="971550" lvl="1" indent="-514350" algn="just">
              <a:buFont typeface="+mj-lt"/>
              <a:buAutoNum type="arabicPeriod"/>
            </a:pPr>
            <a:r>
              <a:rPr lang="en-IN" sz="2800" dirty="0"/>
              <a:t>Application Programmers</a:t>
            </a:r>
            <a:endParaRPr lang="en-IN" sz="2800" dirty="0"/>
          </a:p>
          <a:p>
            <a:pPr marL="971550" lvl="1" indent="-514350" algn="just">
              <a:buFont typeface="+mj-lt"/>
              <a:buAutoNum type="arabicPeriod"/>
            </a:pPr>
            <a:r>
              <a:rPr lang="en-IN" sz="2800" dirty="0"/>
              <a:t>Naive Users / End Users</a:t>
            </a:r>
            <a:endParaRPr lang="en-IN" sz="2800" dirty="0"/>
          </a:p>
          <a:p>
            <a:pPr marL="971550" lvl="1" indent="-514350" algn="just">
              <a:buFont typeface="+mj-lt"/>
              <a:buAutoNum type="arabicPeriod"/>
            </a:pPr>
            <a:r>
              <a:rPr lang="en-IN" sz="2800" dirty="0"/>
              <a:t>Sophisticated Users</a:t>
            </a:r>
            <a:endParaRPr lang="en-IN" sz="2800" dirty="0"/>
          </a:p>
          <a:p>
            <a:pPr marL="971550" lvl="1" indent="-514350" algn="just">
              <a:buFont typeface="+mj-lt"/>
              <a:buAutoNum type="arabicPeriod"/>
            </a:pPr>
            <a:r>
              <a:rPr lang="en-IN" sz="2800" dirty="0"/>
              <a:t>Casual Users / Temporary Users</a:t>
            </a:r>
            <a:endParaRPr lang="en-IN"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928" y="232922"/>
            <a:ext cx="10747872" cy="604359"/>
          </a:xfrm>
        </p:spPr>
        <p:txBody>
          <a:bodyPr>
            <a:normAutofit fontScale="90000"/>
          </a:bodyPr>
          <a:lstStyle/>
          <a:p>
            <a:r>
              <a:rPr lang="en-IN" sz="4000" b="1" dirty="0">
                <a:solidFill>
                  <a:srgbClr val="C00000"/>
                </a:solidFill>
              </a:rPr>
              <a:t>Database Administrators (DBA)</a:t>
            </a:r>
            <a:endParaRPr lang="en-IN" sz="4000" b="1" dirty="0">
              <a:solidFill>
                <a:srgbClr val="C00000"/>
              </a:solidFill>
            </a:endParaRPr>
          </a:p>
        </p:txBody>
      </p:sp>
      <p:sp>
        <p:nvSpPr>
          <p:cNvPr id="3" name="Content Placeholder 2"/>
          <p:cNvSpPr>
            <a:spLocks noGrp="1"/>
          </p:cNvSpPr>
          <p:nvPr>
            <p:ph idx="1"/>
          </p:nvPr>
        </p:nvSpPr>
        <p:spPr>
          <a:xfrm>
            <a:off x="605928" y="1489876"/>
            <a:ext cx="10747872" cy="5453350"/>
          </a:xfrm>
        </p:spPr>
        <p:txBody>
          <a:bodyPr>
            <a:normAutofit/>
          </a:bodyPr>
          <a:lstStyle/>
          <a:p>
            <a:pPr algn="just"/>
            <a:r>
              <a:rPr lang="en-US" dirty="0"/>
              <a:t>Database Administrator is an individual or a team of users who defines the database schema and takes charge of controlling various levels of the database within the organization.</a:t>
            </a:r>
            <a:endParaRPr lang="en-US" dirty="0"/>
          </a:p>
          <a:p>
            <a:pPr algn="just"/>
            <a:r>
              <a:rPr lang="en-US" dirty="0"/>
              <a:t>They have full control of the database and they are sometimes known as the super-users of the database. They work alongside developers in order to discuss and design the overall structure of the database including layouts, functionalities, workflow, etc.</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9100" y="513715"/>
            <a:ext cx="10934700" cy="6047105"/>
          </a:xfrm>
        </p:spPr>
        <p:txBody>
          <a:bodyPr>
            <a:normAutofit fontScale="90000" lnSpcReduction="10000"/>
          </a:bodyPr>
          <a:lstStyle/>
          <a:p>
            <a:pPr marL="0" indent="0">
              <a:buNone/>
            </a:pPr>
            <a:r>
              <a:rPr lang="en-US" b="1" dirty="0">
                <a:solidFill>
                  <a:srgbClr val="C00000"/>
                </a:solidFill>
              </a:rPr>
              <a:t>Key Responsibilities of DBA:</a:t>
            </a:r>
            <a:endParaRPr lang="en-US" b="1" dirty="0">
              <a:solidFill>
                <a:srgbClr val="C00000"/>
              </a:solidFill>
            </a:endParaRPr>
          </a:p>
          <a:p>
            <a:pPr algn="just"/>
            <a:r>
              <a:rPr lang="en-US" dirty="0"/>
              <a:t>Schema Definition: DBAs define the structure of the database, including tables, indexes, and relationships.</a:t>
            </a:r>
            <a:endParaRPr lang="en-US" dirty="0"/>
          </a:p>
          <a:p>
            <a:pPr algn="just"/>
            <a:r>
              <a:rPr lang="en-US" altLang="en-US" dirty="0"/>
              <a:t>Storage structure and access-method definition.</a:t>
            </a:r>
            <a:endParaRPr lang="en-US" altLang="en-US" dirty="0"/>
          </a:p>
          <a:p>
            <a:pPr algn="just"/>
            <a:r>
              <a:rPr lang="en-US" altLang="en-US" dirty="0"/>
              <a:t>Schema and physical-organization modification.</a:t>
            </a:r>
            <a:endParaRPr lang="en-US" altLang="en-US" dirty="0"/>
          </a:p>
          <a:p>
            <a:pPr algn="just"/>
            <a:r>
              <a:rPr lang="en-US" altLang="en-US" dirty="0"/>
              <a:t>Granting of authorization for data access.</a:t>
            </a:r>
            <a:endParaRPr lang="en-US" altLang="en-US" dirty="0"/>
          </a:p>
          <a:p>
            <a:pPr algn="just"/>
            <a:r>
              <a:rPr lang="en-US" altLang="en-US" dirty="0"/>
              <a:t>Routine maintenance.</a:t>
            </a:r>
            <a:endParaRPr lang="en-US" altLang="en-US" dirty="0"/>
          </a:p>
          <a:p>
            <a:pPr algn="just"/>
            <a:r>
              <a:rPr lang="en-US" dirty="0"/>
              <a:t>Security Management: They set up user accounts, manage access permissions, and ensure that data is protected from </a:t>
            </a:r>
            <a:r>
              <a:rPr lang="en-US" dirty="0" err="1"/>
              <a:t>unauthorised</a:t>
            </a:r>
            <a:r>
              <a:rPr lang="en-US" dirty="0"/>
              <a:t> access.</a:t>
            </a:r>
            <a:endParaRPr lang="en-US" dirty="0"/>
          </a:p>
          <a:p>
            <a:pPr algn="just"/>
            <a:r>
              <a:rPr lang="en-US" dirty="0"/>
              <a:t>Performance Monitoring: DBAs continuously monitor the database’s performance and </a:t>
            </a:r>
            <a:r>
              <a:rPr lang="en-US" dirty="0" err="1"/>
              <a:t>optimise</a:t>
            </a:r>
            <a:r>
              <a:rPr lang="en-US" dirty="0"/>
              <a:t> it for speed and efficiency.</a:t>
            </a:r>
            <a:endParaRPr lang="en-US" dirty="0"/>
          </a:p>
          <a:p>
            <a:pPr algn="just"/>
            <a:r>
              <a:rPr lang="en-US" dirty="0"/>
              <a:t>Backup and Recovery</a:t>
            </a:r>
            <a:endParaRPr lang="en-US" dirty="0"/>
          </a:p>
          <a:p>
            <a:pPr algn="just"/>
            <a:r>
              <a:rPr lang="en-US" dirty="0"/>
              <a:t>Data Integrity: They make sure that the data remains accurate and consistent over its lifecycle.</a:t>
            </a:r>
            <a:endParaRPr lang="en-US" dirty="0"/>
          </a:p>
          <a:p>
            <a:pPr algn="just"/>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271"/>
            <a:ext cx="10515600" cy="815247"/>
          </a:xfrm>
        </p:spPr>
        <p:txBody>
          <a:bodyPr/>
          <a:lstStyle/>
          <a:p>
            <a:r>
              <a:rPr lang="en-IN" b="1" dirty="0">
                <a:solidFill>
                  <a:srgbClr val="C00000"/>
                </a:solidFill>
              </a:rPr>
              <a:t>Naive / End Users:</a:t>
            </a:r>
            <a:endParaRPr lang="en-IN" b="1" dirty="0">
              <a:solidFill>
                <a:srgbClr val="C00000"/>
              </a:solidFill>
            </a:endParaRPr>
          </a:p>
        </p:txBody>
      </p:sp>
      <p:sp>
        <p:nvSpPr>
          <p:cNvPr id="3" name="Content Placeholder 2"/>
          <p:cNvSpPr>
            <a:spLocks noGrp="1"/>
          </p:cNvSpPr>
          <p:nvPr>
            <p:ph idx="1"/>
          </p:nvPr>
        </p:nvSpPr>
        <p:spPr>
          <a:xfrm>
            <a:off x="672029" y="1123720"/>
            <a:ext cx="10681771" cy="5053243"/>
          </a:xfrm>
        </p:spPr>
        <p:txBody>
          <a:bodyPr>
            <a:normAutofit/>
          </a:bodyPr>
          <a:lstStyle/>
          <a:p>
            <a:pPr algn="just"/>
            <a:r>
              <a:rPr lang="en-US" dirty="0"/>
              <a:t>Naive or Parametric End Users are those who interact with the database without having any deep knowledge of its inner workings. They rely on pre-developed applications to perform their tasks. These database users in DBMS are typically focused on completing specific, often repetitive tasks.</a:t>
            </a:r>
            <a:endParaRPr lang="en-US" dirty="0"/>
          </a:p>
          <a:p>
            <a:pPr algn="just"/>
            <a:r>
              <a:rPr lang="en-US" dirty="0">
                <a:solidFill>
                  <a:srgbClr val="C00000"/>
                </a:solidFill>
              </a:rPr>
              <a:t>Characteristics:</a:t>
            </a:r>
            <a:endParaRPr lang="en-US" dirty="0">
              <a:solidFill>
                <a:srgbClr val="C00000"/>
              </a:solidFill>
            </a:endParaRPr>
          </a:p>
          <a:p>
            <a:pPr lvl="1" algn="just"/>
            <a:r>
              <a:rPr lang="en-US" dirty="0"/>
              <a:t>No DBMS Knowledge: They do not need to understand how the database works.</a:t>
            </a:r>
            <a:endParaRPr lang="en-US" dirty="0"/>
          </a:p>
          <a:p>
            <a:pPr lvl="1" algn="just"/>
            <a:r>
              <a:rPr lang="en-US" dirty="0"/>
              <a:t>Use Pre-Developed Applications: Interaction with the database is through applications with user-friendly interfaces.</a:t>
            </a:r>
            <a:endParaRPr lang="en-US" dirty="0"/>
          </a:p>
          <a:p>
            <a:pPr lvl="1" algn="just"/>
            <a:r>
              <a:rPr lang="en-US" dirty="0"/>
              <a:t>Task-Oriented: Their primary focus is on performing specific tasks, like data entry or retrieval.</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203"/>
            <a:ext cx="10515600" cy="980501"/>
          </a:xfrm>
        </p:spPr>
        <p:txBody>
          <a:bodyPr/>
          <a:lstStyle/>
          <a:p>
            <a:r>
              <a:rPr lang="en-IN" b="1" dirty="0">
                <a:solidFill>
                  <a:srgbClr val="C00000"/>
                </a:solidFill>
              </a:rPr>
              <a:t>System Analysts</a:t>
            </a:r>
            <a:endParaRPr lang="en-IN" b="1" dirty="0">
              <a:solidFill>
                <a:srgbClr val="C00000"/>
              </a:solidFill>
            </a:endParaRPr>
          </a:p>
        </p:txBody>
      </p:sp>
      <p:sp>
        <p:nvSpPr>
          <p:cNvPr id="3" name="Content Placeholder 2"/>
          <p:cNvSpPr>
            <a:spLocks noGrp="1"/>
          </p:cNvSpPr>
          <p:nvPr>
            <p:ph idx="1"/>
          </p:nvPr>
        </p:nvSpPr>
        <p:spPr>
          <a:xfrm>
            <a:off x="738130" y="1112704"/>
            <a:ext cx="10615670" cy="5064259"/>
          </a:xfrm>
        </p:spPr>
        <p:txBody>
          <a:bodyPr>
            <a:normAutofit/>
          </a:bodyPr>
          <a:lstStyle/>
          <a:p>
            <a:pPr algn="just"/>
            <a:r>
              <a:rPr lang="en-US" dirty="0"/>
              <a:t>System Analysts come in the middle of end users and the technical support staff. They understand the requirements of the users and translate them into technical needs for the database designers and programmers.</a:t>
            </a:r>
            <a:endParaRPr lang="en-US" dirty="0"/>
          </a:p>
          <a:p>
            <a:pPr algn="just"/>
            <a:r>
              <a:rPr lang="en-US" dirty="0">
                <a:solidFill>
                  <a:srgbClr val="C00000"/>
                </a:solidFill>
              </a:rPr>
              <a:t>Key Responsibilities:</a:t>
            </a:r>
            <a:endParaRPr lang="en-US" dirty="0">
              <a:solidFill>
                <a:srgbClr val="C00000"/>
              </a:solidFill>
            </a:endParaRPr>
          </a:p>
          <a:p>
            <a:pPr lvl="1" algn="just"/>
            <a:r>
              <a:rPr lang="en-US" dirty="0"/>
              <a:t>Requirements Analysis: Understanding and documenting what the users need from the database.</a:t>
            </a:r>
            <a:endParaRPr lang="en-US" dirty="0"/>
          </a:p>
          <a:p>
            <a:pPr lvl="1" algn="just"/>
            <a:r>
              <a:rPr lang="en-US" dirty="0"/>
              <a:t>Feasibility Studies: Assessing whether the requirements can be met within the constraints of time, budget, and technology.</a:t>
            </a:r>
            <a:endParaRPr lang="en-US" dirty="0"/>
          </a:p>
          <a:p>
            <a:pPr lvl="1" algn="just"/>
            <a:r>
              <a:rPr lang="en-US" dirty="0"/>
              <a:t>Design Oversight: Ensuring that the database design meets the specified requirements.</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170"/>
            <a:ext cx="10515600" cy="848298"/>
          </a:xfrm>
        </p:spPr>
        <p:txBody>
          <a:bodyPr/>
          <a:lstStyle/>
          <a:p>
            <a:r>
              <a:rPr lang="en-IN" b="1" dirty="0">
                <a:solidFill>
                  <a:srgbClr val="C00000"/>
                </a:solidFill>
              </a:rPr>
              <a:t>Sophisticated Users</a:t>
            </a:r>
            <a:endParaRPr lang="en-IN" b="1" dirty="0">
              <a:solidFill>
                <a:srgbClr val="C00000"/>
              </a:solidFill>
            </a:endParaRPr>
          </a:p>
        </p:txBody>
      </p:sp>
      <p:sp>
        <p:nvSpPr>
          <p:cNvPr id="3" name="Content Placeholder 2"/>
          <p:cNvSpPr>
            <a:spLocks noGrp="1"/>
          </p:cNvSpPr>
          <p:nvPr>
            <p:ph idx="1"/>
          </p:nvPr>
        </p:nvSpPr>
        <p:spPr>
          <a:xfrm>
            <a:off x="760164" y="1057619"/>
            <a:ext cx="10593636" cy="5119344"/>
          </a:xfrm>
        </p:spPr>
        <p:txBody>
          <a:bodyPr>
            <a:normAutofit/>
          </a:bodyPr>
          <a:lstStyle/>
          <a:p>
            <a:pPr algn="just"/>
            <a:r>
              <a:rPr lang="en-US" dirty="0"/>
              <a:t>Sophisticated Users are those who have a deeper understanding of the DBMS. They can directly interact with the database using complex queries and tools. These database users in DBMS often include data analysts, scientists, and engineers who need detailed and flexible access to the data.</a:t>
            </a:r>
            <a:endParaRPr lang="en-US" dirty="0"/>
          </a:p>
          <a:p>
            <a:pPr algn="just"/>
            <a:r>
              <a:rPr lang="en-US" dirty="0">
                <a:solidFill>
                  <a:srgbClr val="C00000"/>
                </a:solidFill>
              </a:rPr>
              <a:t>Characteristics:</a:t>
            </a:r>
            <a:endParaRPr lang="en-US" dirty="0">
              <a:solidFill>
                <a:srgbClr val="C00000"/>
              </a:solidFill>
            </a:endParaRPr>
          </a:p>
          <a:p>
            <a:pPr lvl="1" algn="just"/>
            <a:r>
              <a:rPr lang="en-US" dirty="0"/>
              <a:t>Advanced Knowledge: They understand SQL and other query languages.</a:t>
            </a:r>
            <a:endParaRPr lang="en-US" dirty="0"/>
          </a:p>
          <a:p>
            <a:pPr lvl="1" algn="just"/>
            <a:r>
              <a:rPr lang="en-US" dirty="0"/>
              <a:t>Direct Interaction: They use tools and interfaces to run queries, generate reports, and perform complex data analysis.</a:t>
            </a:r>
            <a:endParaRPr lang="en-US" dirty="0"/>
          </a:p>
          <a:p>
            <a:pPr lvl="1" algn="just"/>
            <a:r>
              <a:rPr lang="en-US" dirty="0"/>
              <a:t>Flexible Data Access: They need the ability to manipulate and retrieve data in various ways to suit their needs.</a:t>
            </a:r>
            <a:endParaRPr lang="en-US" dirty="0"/>
          </a:p>
          <a:p>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287"/>
            <a:ext cx="10515600" cy="848299"/>
          </a:xfrm>
        </p:spPr>
        <p:txBody>
          <a:bodyPr/>
          <a:lstStyle/>
          <a:p>
            <a:r>
              <a:rPr lang="en-IN" b="1" dirty="0">
                <a:solidFill>
                  <a:srgbClr val="C00000"/>
                </a:solidFill>
              </a:rPr>
              <a:t>Database Designers</a:t>
            </a:r>
            <a:endParaRPr lang="en-IN" b="1" dirty="0">
              <a:solidFill>
                <a:srgbClr val="C00000"/>
              </a:solidFill>
            </a:endParaRPr>
          </a:p>
        </p:txBody>
      </p:sp>
      <p:sp>
        <p:nvSpPr>
          <p:cNvPr id="3" name="Content Placeholder 2"/>
          <p:cNvSpPr>
            <a:spLocks noGrp="1"/>
          </p:cNvSpPr>
          <p:nvPr>
            <p:ph idx="1"/>
          </p:nvPr>
        </p:nvSpPr>
        <p:spPr>
          <a:xfrm>
            <a:off x="838200" y="1112704"/>
            <a:ext cx="10515600" cy="5064259"/>
          </a:xfrm>
        </p:spPr>
        <p:txBody>
          <a:bodyPr/>
          <a:lstStyle/>
          <a:p>
            <a:pPr algn="just"/>
            <a:r>
              <a:rPr lang="en-US" dirty="0"/>
              <a:t>Data Base Designers are the users who design the structure of database which includes tables, indexes, views, triggers, stored procedures and constraints which are usually enforced before the database is created or populated with data. </a:t>
            </a:r>
            <a:endParaRPr lang="en-US" dirty="0"/>
          </a:p>
          <a:p>
            <a:pPr algn="just"/>
            <a:r>
              <a:rPr lang="en-US" dirty="0"/>
              <a:t>They are responsible for implementing the overall design of the database. They decide which form of data needs to be stored, what kind of relations exist among different entities of the database, what will be the type of attributes, etc.</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288"/>
            <a:ext cx="10515600" cy="1024568"/>
          </a:xfrm>
        </p:spPr>
        <p:txBody>
          <a:bodyPr>
            <a:normAutofit/>
          </a:bodyPr>
          <a:lstStyle/>
          <a:p>
            <a:r>
              <a:rPr lang="en-IN" b="1" dirty="0">
                <a:solidFill>
                  <a:srgbClr val="C00000"/>
                </a:solidFill>
              </a:rPr>
              <a:t>Application Programmers</a:t>
            </a:r>
            <a:endParaRPr lang="en-IN" b="1" dirty="0">
              <a:solidFill>
                <a:srgbClr val="C00000"/>
              </a:solidFill>
            </a:endParaRPr>
          </a:p>
        </p:txBody>
      </p:sp>
      <p:sp>
        <p:nvSpPr>
          <p:cNvPr id="3" name="Content Placeholder 2"/>
          <p:cNvSpPr>
            <a:spLocks noGrp="1"/>
          </p:cNvSpPr>
          <p:nvPr>
            <p:ph idx="1"/>
          </p:nvPr>
        </p:nvSpPr>
        <p:spPr>
          <a:xfrm>
            <a:off x="838200" y="1211856"/>
            <a:ext cx="10515600" cy="4965107"/>
          </a:xfrm>
        </p:spPr>
        <p:txBody>
          <a:bodyPr>
            <a:normAutofit lnSpcReduction="10000"/>
          </a:bodyPr>
          <a:lstStyle/>
          <a:p>
            <a:pPr algn="just"/>
            <a:r>
              <a:rPr lang="en-US" dirty="0"/>
              <a:t>Application programmers are the people who write the actual code that interacts with the database. They develop applications that enable the user to carry out different operations on the data and guarantee that they are intuitive and effective.</a:t>
            </a:r>
            <a:endParaRPr lang="en-US" dirty="0"/>
          </a:p>
          <a:p>
            <a:pPr algn="just"/>
            <a:r>
              <a:rPr lang="en-US" dirty="0">
                <a:solidFill>
                  <a:srgbClr val="C00000"/>
                </a:solidFill>
              </a:rPr>
              <a:t>Key Responsibilities:</a:t>
            </a:r>
            <a:endParaRPr lang="en-US" dirty="0">
              <a:solidFill>
                <a:srgbClr val="C00000"/>
              </a:solidFill>
            </a:endParaRPr>
          </a:p>
          <a:p>
            <a:pPr lvl="1" algn="just"/>
            <a:r>
              <a:rPr lang="en-US" dirty="0"/>
              <a:t>Developing Applications: Writing code to build applications that interact with the database.</a:t>
            </a:r>
            <a:endParaRPr lang="en-US" dirty="0"/>
          </a:p>
          <a:p>
            <a:pPr lvl="1" algn="just"/>
            <a:r>
              <a:rPr lang="en-US" dirty="0"/>
              <a:t>Maintaining Code: Regularly updating and debugging applications to ensure they run smoothly.</a:t>
            </a:r>
            <a:endParaRPr lang="en-US" dirty="0"/>
          </a:p>
          <a:p>
            <a:pPr lvl="1" algn="just"/>
            <a:r>
              <a:rPr lang="en-US" dirty="0" err="1"/>
              <a:t>Optimising</a:t>
            </a:r>
            <a:r>
              <a:rPr lang="en-US" dirty="0"/>
              <a:t> Performance: Ensuring that the applications are </a:t>
            </a:r>
            <a:r>
              <a:rPr lang="en-US" dirty="0" err="1"/>
              <a:t>optimised</a:t>
            </a:r>
            <a:r>
              <a:rPr lang="en-US" dirty="0"/>
              <a:t> for speed and efficiency.</a:t>
            </a:r>
            <a:endParaRPr lang="en-US" dirty="0"/>
          </a:p>
          <a:p>
            <a:pPr lvl="1" algn="just"/>
            <a:r>
              <a:rPr lang="en-US" dirty="0"/>
              <a:t>User Support: Providing support and updates to ensure that user needs are met effectively.</a:t>
            </a: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8764"/>
          </a:xfrm>
        </p:spPr>
        <p:txBody>
          <a:bodyPr>
            <a:normAutofit fontScale="90000"/>
          </a:bodyPr>
          <a:lstStyle/>
          <a:p>
            <a:r>
              <a:rPr lang="en-IN" b="1" dirty="0">
                <a:solidFill>
                  <a:srgbClr val="C00000"/>
                </a:solidFill>
              </a:rPr>
              <a:t>Casual Users / Temporary Users</a:t>
            </a:r>
            <a:br>
              <a:rPr lang="en-IN" dirty="0"/>
            </a:br>
            <a:endParaRPr lang="en-IN" dirty="0"/>
          </a:p>
        </p:txBody>
      </p:sp>
      <p:sp>
        <p:nvSpPr>
          <p:cNvPr id="3" name="Content Placeholder 2"/>
          <p:cNvSpPr>
            <a:spLocks noGrp="1"/>
          </p:cNvSpPr>
          <p:nvPr>
            <p:ph idx="1"/>
          </p:nvPr>
        </p:nvSpPr>
        <p:spPr>
          <a:xfrm>
            <a:off x="584812" y="1153595"/>
            <a:ext cx="10971882" cy="5203138"/>
          </a:xfrm>
        </p:spPr>
        <p:txBody>
          <a:bodyPr>
            <a:normAutofit/>
          </a:bodyPr>
          <a:lstStyle/>
          <a:p>
            <a:pPr algn="just"/>
            <a:r>
              <a:rPr lang="en-US" dirty="0"/>
              <a:t>Casual Users, also known as Temporary Users, interact with the database occasionally and for specific purposes. They usually require the database for tasks that do not occur on a daily basis but are crucial when needed.</a:t>
            </a:r>
            <a:endParaRPr lang="en-US" dirty="0"/>
          </a:p>
          <a:p>
            <a:pPr algn="just"/>
            <a:r>
              <a:rPr lang="en-US" dirty="0">
                <a:solidFill>
                  <a:srgbClr val="C00000"/>
                </a:solidFill>
              </a:rPr>
              <a:t>Characteristics:</a:t>
            </a:r>
            <a:endParaRPr lang="en-US" dirty="0">
              <a:solidFill>
                <a:srgbClr val="C00000"/>
              </a:solidFill>
            </a:endParaRPr>
          </a:p>
          <a:p>
            <a:pPr lvl="1" algn="just"/>
            <a:r>
              <a:rPr lang="en-US" dirty="0"/>
              <a:t>Occasional Access: They access the database intermittently, often to gather specific information.</a:t>
            </a:r>
            <a:endParaRPr lang="en-US" dirty="0"/>
          </a:p>
          <a:p>
            <a:pPr lvl="1" algn="just"/>
            <a:r>
              <a:rPr lang="en-US" dirty="0"/>
              <a:t>User-Friendly Interfaces: They rely on interfaces that are easy to use and understand without needing in-depth knowledge of the DBMS.</a:t>
            </a:r>
            <a:endParaRPr lang="en-US" dirty="0"/>
          </a:p>
          <a:p>
            <a:pPr lvl="1" algn="just"/>
            <a:r>
              <a:rPr lang="en-US" dirty="0"/>
              <a:t>Specific Tasks: Their interaction is task-oriented, such as generating reports or retrieving specific data.</a:t>
            </a: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661"/>
            <a:ext cx="10515600" cy="976045"/>
          </a:xfrm>
        </p:spPr>
        <p:txBody>
          <a:bodyPr/>
          <a:lstStyle/>
          <a:p>
            <a:pPr algn="ctr"/>
            <a:r>
              <a:rPr lang="en-IN" b="1" dirty="0">
                <a:solidFill>
                  <a:srgbClr val="C00000"/>
                </a:solidFill>
              </a:rPr>
              <a:t>Database Languages</a:t>
            </a:r>
            <a:endParaRPr lang="en-IN" b="1" dirty="0">
              <a:solidFill>
                <a:srgbClr val="C00000"/>
              </a:solidFill>
            </a:endParaRPr>
          </a:p>
        </p:txBody>
      </p:sp>
      <p:sp>
        <p:nvSpPr>
          <p:cNvPr id="3" name="Content Placeholder 2"/>
          <p:cNvSpPr>
            <a:spLocks noGrp="1"/>
          </p:cNvSpPr>
          <p:nvPr>
            <p:ph idx="1"/>
          </p:nvPr>
        </p:nvSpPr>
        <p:spPr/>
        <p:txBody>
          <a:bodyPr/>
          <a:lstStyle/>
          <a:p>
            <a:pPr algn="just"/>
            <a:r>
              <a:rPr lang="en-US" dirty="0"/>
              <a:t>Database languages are specialized languages used to interact with a database. They allow users to perform different tasks such as defining, controlling and manipulating the data.</a:t>
            </a:r>
            <a:endParaRPr lang="en-US" dirty="0"/>
          </a:p>
          <a:p>
            <a:pPr algn="just"/>
            <a:endParaRPr lang="en-US" dirty="0"/>
          </a:p>
          <a:p>
            <a:pPr lvl="1" algn="just"/>
            <a:r>
              <a:rPr lang="en-IN" dirty="0"/>
              <a:t>DDL (Data Definition Language)</a:t>
            </a:r>
            <a:endParaRPr lang="en-IN" dirty="0"/>
          </a:p>
          <a:p>
            <a:pPr lvl="1" algn="just"/>
            <a:r>
              <a:rPr lang="en-IN" dirty="0"/>
              <a:t>DML (Data Manipulation Language)</a:t>
            </a:r>
            <a:endParaRPr lang="en-IN" dirty="0"/>
          </a:p>
          <a:p>
            <a:pPr lvl="1" algn="just"/>
            <a:r>
              <a:rPr lang="en-IN" dirty="0"/>
              <a:t>TCL (Transaction Control Language)</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2376" y="640080"/>
            <a:ext cx="10631424" cy="5536883"/>
          </a:xfrm>
        </p:spPr>
        <p:txBody>
          <a:bodyPr>
            <a:normAutofit fontScale="92500"/>
          </a:bodyPr>
          <a:lstStyle/>
          <a:p>
            <a:pPr marL="0" indent="0" algn="just">
              <a:buNone/>
            </a:pPr>
            <a:r>
              <a:rPr lang="en-US" dirty="0">
                <a:solidFill>
                  <a:srgbClr val="FF0000"/>
                </a:solidFill>
              </a:rPr>
              <a:t>1. DDL (Data Definition Language)</a:t>
            </a:r>
            <a:endParaRPr lang="en-US" dirty="0">
              <a:solidFill>
                <a:srgbClr val="FF0000"/>
              </a:solidFill>
            </a:endParaRPr>
          </a:p>
          <a:p>
            <a:pPr algn="just"/>
            <a:r>
              <a:rPr lang="en-US" dirty="0"/>
              <a:t>The DDL stands for Data Definition Language, Which is used to define the database's internal structure and Pattern of the Database. </a:t>
            </a:r>
            <a:endParaRPr lang="en-US" dirty="0"/>
          </a:p>
          <a:p>
            <a:pPr algn="just"/>
            <a:r>
              <a:rPr lang="en-US" dirty="0"/>
              <a:t>It is used to define and modify the structure of the database itself, including the tables, views, indexes and other schema-related objects. </a:t>
            </a:r>
            <a:endParaRPr lang="en-US" dirty="0"/>
          </a:p>
          <a:p>
            <a:pPr algn="just"/>
            <a:r>
              <a:rPr lang="en-US" dirty="0"/>
              <a:t>It deals with the creation and modification of database schema, but it doesn't deal with the data itself. Following are the five DDL commands in SQL:</a:t>
            </a:r>
            <a:endParaRPr lang="en-US" dirty="0"/>
          </a:p>
          <a:p>
            <a:pPr lvl="1" algn="just"/>
            <a:r>
              <a:rPr lang="en-US" dirty="0"/>
              <a:t>CREATE: Used to create database objects like tables, indexes or views.</a:t>
            </a:r>
            <a:endParaRPr lang="en-US" dirty="0"/>
          </a:p>
          <a:p>
            <a:pPr lvl="1" algn="just"/>
            <a:r>
              <a:rPr lang="en-US" dirty="0"/>
              <a:t>ALTER: Used to modify the structure of an existing database object, such as adding a new column to a table.</a:t>
            </a:r>
            <a:endParaRPr lang="en-US" dirty="0"/>
          </a:p>
          <a:p>
            <a:pPr lvl="1" algn="just"/>
            <a:r>
              <a:rPr lang="en-US" dirty="0"/>
              <a:t>DROP: Used to delete database objects.</a:t>
            </a:r>
            <a:endParaRPr lang="en-US" dirty="0"/>
          </a:p>
          <a:p>
            <a:pPr lvl="1" algn="just"/>
            <a:r>
              <a:rPr lang="en-US" dirty="0"/>
              <a:t>TRUNCATE: Used to remove all rows from a table, without affecting the structure.</a:t>
            </a:r>
            <a:endParaRPr lang="en-US" dirty="0"/>
          </a:p>
          <a:p>
            <a:pPr lvl="1" algn="just"/>
            <a:r>
              <a:rPr lang="en-US" dirty="0"/>
              <a:t>RENAME: Used to change the name of a database object.</a:t>
            </a:r>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99440" y="626110"/>
            <a:ext cx="10754360" cy="5551170"/>
          </a:xfrm>
        </p:spPr>
        <p:txBody>
          <a:bodyPr>
            <a:normAutofit/>
          </a:bodyPr>
          <a:p>
            <a:pPr algn="just"/>
            <a:r>
              <a:rPr lang="en-US" altLang="en-US"/>
              <a:t>The output of the DDL is</a:t>
            </a:r>
            <a:r>
              <a:rPr lang="en-IN" altLang="en-US"/>
              <a:t> </a:t>
            </a:r>
            <a:r>
              <a:rPr lang="en-US" altLang="en-US"/>
              <a:t>placed in the </a:t>
            </a:r>
            <a:r>
              <a:rPr lang="en-US" altLang="en-US">
                <a:solidFill>
                  <a:srgbClr val="FF0000"/>
                </a:solidFill>
              </a:rPr>
              <a:t>data dictionary</a:t>
            </a:r>
            <a:r>
              <a:rPr lang="en-US" altLang="en-US"/>
              <a:t>,which contains </a:t>
            </a:r>
            <a:r>
              <a:rPr lang="en-US" altLang="en-US">
                <a:solidFill>
                  <a:srgbClr val="FF0000"/>
                </a:solidFill>
              </a:rPr>
              <a:t>metadata</a:t>
            </a:r>
            <a:r>
              <a:rPr lang="en-US" altLang="en-US"/>
              <a:t>—that is, data about data.</a:t>
            </a:r>
            <a:endParaRPr lang="en-US" altLang="en-US"/>
          </a:p>
          <a:p>
            <a:pPr algn="just"/>
            <a:r>
              <a:rPr lang="en-US" altLang="en-US"/>
              <a:t>The data dictionary is considered to be a special type of table that can only be</a:t>
            </a:r>
            <a:r>
              <a:rPr lang="en-IN" altLang="en-US"/>
              <a:t> </a:t>
            </a:r>
            <a:r>
              <a:rPr lang="en-US" altLang="en-US"/>
              <a:t>accessed and updated by the database system itself (not a regular user). </a:t>
            </a:r>
            <a:endParaRPr lang="en-US" altLang="en-US"/>
          </a:p>
          <a:p>
            <a:pPr algn="just"/>
            <a:r>
              <a:rPr lang="en-US" altLang="en-US"/>
              <a:t>The</a:t>
            </a:r>
            <a:r>
              <a:rPr lang="en-IN" altLang="en-US"/>
              <a:t> </a:t>
            </a:r>
            <a:r>
              <a:rPr lang="en-US" altLang="en-US"/>
              <a:t>database system consults the data dictionary before reading or modifying actual</a:t>
            </a:r>
            <a:r>
              <a:rPr lang="en-IN" altLang="en-US"/>
              <a:t> </a:t>
            </a:r>
            <a:r>
              <a:rPr lang="en-US" altLang="en-US"/>
              <a:t>data.</a:t>
            </a:r>
            <a:endParaRPr lang="en-US" altLang="en-US"/>
          </a:p>
          <a:p>
            <a:pPr algn="just"/>
            <a:r>
              <a:rPr lang="en-US" altLang="en-US"/>
              <a:t>The data values stored in the database must satisfy certain </a:t>
            </a:r>
            <a:r>
              <a:rPr lang="en-US" altLang="en-US">
                <a:solidFill>
                  <a:srgbClr val="FF0000"/>
                </a:solidFill>
              </a:rPr>
              <a:t>consistency constraints.</a:t>
            </a:r>
            <a:endParaRPr lang="en-US" altLang="en-US">
              <a:solidFill>
                <a:srgbClr val="FF0000"/>
              </a:solidFill>
            </a:endParaRPr>
          </a:p>
          <a:p>
            <a:pPr algn="just"/>
            <a:r>
              <a:rPr lang="en-US" altLang="en-US"/>
              <a:t>The DDL provides facilities to specify</a:t>
            </a:r>
            <a:r>
              <a:rPr lang="en-IN" altLang="en-US"/>
              <a:t> </a:t>
            </a:r>
            <a:r>
              <a:rPr lang="en-US" altLang="en-US"/>
              <a:t>such constraints. The database system checks these constraints every time the</a:t>
            </a:r>
            <a:r>
              <a:rPr lang="en-IN" altLang="en-US"/>
              <a:t> </a:t>
            </a:r>
            <a:r>
              <a:rPr lang="en-US" altLang="en-US"/>
              <a:t>database is updated.</a:t>
            </a: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1040" y="588010"/>
            <a:ext cx="11158855" cy="5885815"/>
          </a:xfrm>
        </p:spPr>
        <p:txBody>
          <a:bodyPr>
            <a:normAutofit fontScale="90000"/>
          </a:bodyPr>
          <a:lstStyle/>
          <a:p>
            <a:pPr marL="0" indent="0" algn="just">
              <a:buNone/>
            </a:pPr>
            <a:r>
              <a:rPr lang="en-US" dirty="0">
                <a:solidFill>
                  <a:srgbClr val="FF0000"/>
                </a:solidFill>
              </a:rPr>
              <a:t>2. DML (Data Manipulation Language)</a:t>
            </a:r>
            <a:endParaRPr lang="en-US" dirty="0">
              <a:solidFill>
                <a:srgbClr val="FF0000"/>
              </a:solidFill>
            </a:endParaRPr>
          </a:p>
          <a:p>
            <a:pPr algn="just"/>
            <a:r>
              <a:rPr lang="en-US" dirty="0"/>
              <a:t>The DML (Data Manipulation Language) is used to manage and manipulate data within a database. </a:t>
            </a:r>
            <a:endParaRPr lang="en-US" dirty="0"/>
          </a:p>
          <a:p>
            <a:pPr algn="just"/>
            <a:r>
              <a:rPr lang="en-US" dirty="0"/>
              <a:t>With DML, you can perform various operations such as inserting, updating, selecting and deleting data. </a:t>
            </a:r>
            <a:endParaRPr lang="en-US" dirty="0"/>
          </a:p>
          <a:p>
            <a:pPr algn="just"/>
            <a:r>
              <a:rPr lang="en-US" altLang="en-US" dirty="0"/>
              <a:t>There are basically two types:</a:t>
            </a:r>
            <a:endParaRPr lang="en-US" altLang="en-US" dirty="0"/>
          </a:p>
          <a:p>
            <a:pPr lvl="1" algn="just"/>
            <a:r>
              <a:rPr lang="en-US" altLang="en-US" dirty="0">
                <a:solidFill>
                  <a:srgbClr val="FF0000"/>
                </a:solidFill>
              </a:rPr>
              <a:t>Procedural DMLs</a:t>
            </a:r>
            <a:r>
              <a:rPr lang="en-US" altLang="en-US" dirty="0"/>
              <a:t> require a user to specify what data are needed and how to</a:t>
            </a:r>
            <a:r>
              <a:rPr lang="en-IN" altLang="en-US" dirty="0"/>
              <a:t> </a:t>
            </a:r>
            <a:r>
              <a:rPr lang="en-US" altLang="en-US" dirty="0"/>
              <a:t>get those data.</a:t>
            </a:r>
            <a:endParaRPr lang="en-US" altLang="en-US" dirty="0"/>
          </a:p>
          <a:p>
            <a:pPr lvl="1" algn="just"/>
            <a:r>
              <a:rPr lang="en-US" altLang="en-US" dirty="0">
                <a:solidFill>
                  <a:srgbClr val="FF0000"/>
                </a:solidFill>
              </a:rPr>
              <a:t>Declarative DMLs</a:t>
            </a:r>
            <a:r>
              <a:rPr lang="en-US" altLang="en-US" dirty="0"/>
              <a:t> (also referred to as nonprocedural DMLs) require a user to</a:t>
            </a:r>
            <a:r>
              <a:rPr lang="en-IN" altLang="en-US" dirty="0"/>
              <a:t> </a:t>
            </a:r>
            <a:r>
              <a:rPr lang="en-US" altLang="en-US" dirty="0"/>
              <a:t>specify what data are needed without specifying how to get those data.</a:t>
            </a:r>
            <a:r>
              <a:rPr lang="en-IN" altLang="en-US" dirty="0"/>
              <a:t> </a:t>
            </a:r>
            <a:r>
              <a:rPr lang="en-US" altLang="en-US" dirty="0"/>
              <a:t>Declarative DMLs are usually easier to learn and use than are procedural</a:t>
            </a:r>
            <a:r>
              <a:rPr lang="en-IN" altLang="en-US" dirty="0"/>
              <a:t> </a:t>
            </a:r>
            <a:r>
              <a:rPr lang="en-US" altLang="en-US" dirty="0"/>
              <a:t>DMLs.</a:t>
            </a:r>
            <a:endParaRPr lang="en-US" altLang="en-US" dirty="0"/>
          </a:p>
          <a:p>
            <a:pPr lvl="0" algn="just"/>
            <a:r>
              <a:rPr lang="en-US" altLang="en-US" dirty="0"/>
              <a:t>A </a:t>
            </a:r>
            <a:r>
              <a:rPr lang="en-US" altLang="en-US" b="1" dirty="0"/>
              <a:t>query</a:t>
            </a:r>
            <a:r>
              <a:rPr lang="en-US" altLang="en-US" dirty="0"/>
              <a:t> is a statement requesting the retrieval of information. </a:t>
            </a:r>
            <a:endParaRPr lang="en-US" altLang="en-US" dirty="0"/>
          </a:p>
          <a:p>
            <a:pPr lvl="0" algn="just"/>
            <a:r>
              <a:rPr lang="en-US" altLang="en-US" dirty="0"/>
              <a:t>The portion of</a:t>
            </a:r>
            <a:r>
              <a:rPr lang="en-IN" altLang="en-US" dirty="0"/>
              <a:t> </a:t>
            </a:r>
            <a:r>
              <a:rPr lang="en-US" altLang="en-US" dirty="0"/>
              <a:t>a DML that involves information retrieval is called a </a:t>
            </a:r>
            <a:r>
              <a:rPr lang="en-US" altLang="en-US" b="1" dirty="0"/>
              <a:t>query language</a:t>
            </a:r>
            <a:r>
              <a:rPr lang="en-US" altLang="en-US" dirty="0"/>
              <a:t>.</a:t>
            </a:r>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93775" y="818515"/>
            <a:ext cx="10515600" cy="4351338"/>
          </a:xfrm>
        </p:spPr>
        <p:txBody>
          <a:bodyPr/>
          <a:p>
            <a:r>
              <a:rPr lang="en-US" altLang="en-US"/>
              <a:t>These operations allow you to work with the actual content in your database tables. </a:t>
            </a:r>
            <a:endParaRPr lang="en-US" altLang="en-US"/>
          </a:p>
          <a:p>
            <a:endParaRPr lang="en-US" altLang="en-US"/>
          </a:p>
          <a:p>
            <a:r>
              <a:rPr lang="en-US" altLang="en-US"/>
              <a:t>SELECT: Retrieves data from the table based on specific criteria.</a:t>
            </a:r>
            <a:endParaRPr lang="en-US" altLang="en-US"/>
          </a:p>
          <a:p>
            <a:r>
              <a:rPr lang="en-US" altLang="en-US"/>
              <a:t>INSERT: Adds new rows of data into an existing table.</a:t>
            </a:r>
            <a:endParaRPr lang="en-US" altLang="en-US"/>
          </a:p>
          <a:p>
            <a:r>
              <a:rPr lang="en-US" altLang="en-US"/>
              <a:t>UPDATE: Modifies existing data in a table.</a:t>
            </a:r>
            <a:endParaRPr lang="en-US" altLang="en-US"/>
          </a:p>
          <a:p>
            <a:r>
              <a:rPr lang="en-US" altLang="en-US"/>
              <a:t>DELETE: Removes data from a table.</a:t>
            </a:r>
            <a:endParaRPr lang="en-US" altLang="en-US"/>
          </a:p>
          <a:p>
            <a:r>
              <a:rPr lang="en-US" altLang="en-US"/>
              <a:t>MERGE: Performs an "upsert" operation, which means updating existing records or inserting new ones if they don’t exist.</a:t>
            </a:r>
            <a:endParaRPr lang="en-US" altLang="en-US"/>
          </a:p>
          <a:p>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7240" y="466344"/>
            <a:ext cx="10576560" cy="5710619"/>
          </a:xfrm>
        </p:spPr>
        <p:txBody>
          <a:bodyPr>
            <a:normAutofit lnSpcReduction="10000"/>
          </a:bodyPr>
          <a:lstStyle/>
          <a:p>
            <a:pPr marL="0" indent="0" algn="just">
              <a:buNone/>
            </a:pPr>
            <a:r>
              <a:rPr lang="en-US" dirty="0">
                <a:solidFill>
                  <a:srgbClr val="FF0000"/>
                </a:solidFill>
              </a:rPr>
              <a:t>3. TCL ( Transaction Control Language )</a:t>
            </a:r>
            <a:endParaRPr lang="en-US" dirty="0">
              <a:solidFill>
                <a:srgbClr val="FF0000"/>
              </a:solidFill>
            </a:endParaRPr>
          </a:p>
          <a:p>
            <a:pPr algn="just"/>
            <a:r>
              <a:rPr lang="en-US" dirty="0"/>
              <a:t>The TCL full form is Transaction Control Language commands are used to manage and control transactions in a database, grouping them into logical units. </a:t>
            </a:r>
            <a:endParaRPr lang="en-US" dirty="0"/>
          </a:p>
          <a:p>
            <a:pPr algn="just"/>
            <a:r>
              <a:rPr lang="en-US" dirty="0"/>
              <a:t>TCL commands ensure that database transactions are processed reliably. They help us commit changes or roll them back, maintaining data integrity.</a:t>
            </a:r>
            <a:endParaRPr lang="en-US" dirty="0"/>
          </a:p>
          <a:p>
            <a:pPr algn="just"/>
            <a:r>
              <a:rPr lang="en-US" dirty="0"/>
              <a:t>These commands help ensure the integrity of data and consistency during complex operations. </a:t>
            </a:r>
            <a:endParaRPr lang="en-US" dirty="0"/>
          </a:p>
          <a:p>
            <a:pPr algn="just"/>
            <a:r>
              <a:rPr lang="en-US" dirty="0"/>
              <a:t>Here are the two main commands in this category:</a:t>
            </a:r>
            <a:endParaRPr lang="en-US" dirty="0"/>
          </a:p>
          <a:p>
            <a:pPr lvl="1" algn="just"/>
            <a:r>
              <a:rPr lang="en-US" dirty="0"/>
              <a:t>Commit: Saves all the changes made during the current transaction to the database. These are very useful in the banking sector.</a:t>
            </a:r>
            <a:endParaRPr lang="en-US" dirty="0"/>
          </a:p>
          <a:p>
            <a:pPr lvl="1" algn="just"/>
            <a:r>
              <a:rPr lang="en-US" dirty="0"/>
              <a:t>Rollback: used to restore the database to its original state from the last commit. This command also plays an important role in Banking Sectors.</a:t>
            </a:r>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929520"/>
            <a:ext cx="10515600" cy="1325563"/>
          </a:xfrm>
        </p:spPr>
        <p:txBody>
          <a:bodyPr>
            <a:normAutofit/>
          </a:bodyPr>
          <a:lstStyle/>
          <a:p>
            <a:r>
              <a:rPr lang="en-IN" sz="6600" b="1" dirty="0">
                <a:solidFill>
                  <a:srgbClr val="C00000"/>
                </a:solidFill>
              </a:rPr>
              <a:t>Data Models in DBMS</a:t>
            </a:r>
            <a:endParaRPr lang="en-IN" sz="6600" b="1" dirty="0">
              <a:solidFill>
                <a:srgbClr val="C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b="1" i="0" dirty="0">
                <a:effectLst/>
                <a:latin typeface="__Source_Sans_Pro_2fe30b"/>
              </a:rPr>
            </a:br>
            <a:endParaRPr lang="en-IN" dirty="0"/>
          </a:p>
        </p:txBody>
      </p:sp>
      <p:sp>
        <p:nvSpPr>
          <p:cNvPr id="3" name="Content Placeholder 2"/>
          <p:cNvSpPr>
            <a:spLocks noGrp="1"/>
          </p:cNvSpPr>
          <p:nvPr>
            <p:ph idx="1"/>
          </p:nvPr>
        </p:nvSpPr>
        <p:spPr>
          <a:xfrm>
            <a:off x="363557" y="365125"/>
            <a:ext cx="5997508" cy="5239543"/>
          </a:xfrm>
        </p:spPr>
        <p:txBody>
          <a:bodyPr>
            <a:normAutofit fontScale="77500" lnSpcReduction="20000"/>
          </a:bodyPr>
          <a:lstStyle/>
          <a:p>
            <a:pPr marL="0" indent="0">
              <a:buNone/>
            </a:pPr>
            <a:r>
              <a:rPr lang="en-US" sz="4600" b="1" dirty="0">
                <a:solidFill>
                  <a:srgbClr val="FF0000"/>
                </a:solidFill>
              </a:rPr>
              <a:t>Hierarchical Model</a:t>
            </a:r>
            <a:endParaRPr lang="en-US" sz="4600" b="1" dirty="0">
              <a:solidFill>
                <a:srgbClr val="FF0000"/>
              </a:solidFill>
            </a:endParaRPr>
          </a:p>
          <a:p>
            <a:pPr algn="just"/>
            <a:endParaRPr lang="en-US" sz="2900" dirty="0"/>
          </a:p>
          <a:p>
            <a:pPr algn="just"/>
            <a:r>
              <a:rPr lang="en-US" sz="2900" dirty="0"/>
              <a:t>The hierarchical data model is one of the oldest data models, developed in the 1950s by IBM. In this data model, the data is organized in a hierarchical tree-like structure. </a:t>
            </a:r>
            <a:endParaRPr lang="en-US" sz="2900" dirty="0"/>
          </a:p>
          <a:p>
            <a:pPr algn="just"/>
            <a:r>
              <a:rPr lang="en-US" sz="2900" dirty="0"/>
              <a:t>Data is organized into a </a:t>
            </a:r>
            <a:r>
              <a:rPr lang="en-US" sz="2900" b="1" dirty="0"/>
              <a:t>tree</a:t>
            </a:r>
            <a:r>
              <a:rPr lang="en-US" sz="2900" dirty="0"/>
              <a:t>-like structure with a </a:t>
            </a:r>
            <a:r>
              <a:rPr lang="en-US" sz="2900" b="1" dirty="0"/>
              <a:t>one-to-many relationship </a:t>
            </a:r>
            <a:r>
              <a:rPr lang="en-US" sz="2900" dirty="0"/>
              <a:t>between two different types of data,</a:t>
            </a:r>
            <a:endParaRPr lang="en-US" sz="2900" dirty="0"/>
          </a:p>
          <a:p>
            <a:pPr algn="just"/>
            <a:r>
              <a:rPr lang="en-US" sz="2900" dirty="0"/>
              <a:t>This data model can be easily visualized because each record in DBMS has one parent and many children as shown in the image given.</a:t>
            </a:r>
            <a:endParaRPr lang="en-US" sz="2900" dirty="0"/>
          </a:p>
          <a:p>
            <a:pPr algn="just"/>
            <a:r>
              <a:rPr lang="en-US" sz="2900" dirty="0"/>
              <a:t>The main </a:t>
            </a:r>
            <a:r>
              <a:rPr lang="en-US" sz="2900" b="1" dirty="0"/>
              <a:t>drawback</a:t>
            </a:r>
            <a:r>
              <a:rPr lang="en-US" sz="2900" dirty="0"/>
              <a:t> we can see here is we can only have one too many relationships under this model, hence the hierarchical data model is very rarely used nowadays.</a:t>
            </a:r>
            <a:endParaRPr lang="en-US" sz="2900" dirty="0"/>
          </a:p>
          <a:p>
            <a:pPr algn="just"/>
            <a:endParaRPr lang="en-US" dirty="0"/>
          </a:p>
          <a:p>
            <a:endParaRPr lang="en-IN" dirty="0"/>
          </a:p>
        </p:txBody>
      </p:sp>
      <p:sp>
        <p:nvSpPr>
          <p:cNvPr id="4" name="AutoShape 2" descr="Hierarchical Model"/>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5" name="Picture 4"/>
          <p:cNvPicPr>
            <a:picLocks noChangeAspect="1"/>
          </p:cNvPicPr>
          <p:nvPr/>
        </p:nvPicPr>
        <p:blipFill>
          <a:blip r:embed="rId1"/>
          <a:srcRect l="8861" t="8010" r="10429" b="18233"/>
          <a:stretch>
            <a:fillRect/>
          </a:stretch>
        </p:blipFill>
        <p:spPr>
          <a:xfrm>
            <a:off x="6471233" y="147265"/>
            <a:ext cx="5614270" cy="4289101"/>
          </a:xfrm>
          <a:prstGeom prst="rect">
            <a:avLst/>
          </a:prstGeom>
        </p:spPr>
      </p:pic>
      <p:sp>
        <p:nvSpPr>
          <p:cNvPr id="7" name="TextBox 6"/>
          <p:cNvSpPr txBox="1"/>
          <p:nvPr/>
        </p:nvSpPr>
        <p:spPr>
          <a:xfrm>
            <a:off x="206861" y="5166954"/>
            <a:ext cx="11878607" cy="1506855"/>
          </a:xfrm>
          <a:prstGeom prst="rect">
            <a:avLst/>
          </a:prstGeom>
          <a:noFill/>
        </p:spPr>
        <p:txBody>
          <a:bodyPr wrap="square">
            <a:spAutoFit/>
          </a:bodyPr>
          <a:lstStyle/>
          <a:p>
            <a:pPr>
              <a:lnSpc>
                <a:spcPct val="100000"/>
              </a:lnSpc>
            </a:pPr>
            <a:endParaRPr lang="en-US" sz="2000" dirty="0"/>
          </a:p>
          <a:p>
            <a:pPr marL="342900" indent="-342900">
              <a:lnSpc>
                <a:spcPct val="100000"/>
              </a:lnSpc>
              <a:buFont typeface="Arial" panose="020B0604020202020204" pitchFamily="34" charset="0"/>
              <a:buChar char="•"/>
            </a:pPr>
            <a:r>
              <a:rPr lang="en-US" sz="2400" dirty="0"/>
              <a:t>Because it has one-to-many relationships between different types of data so it is easier and fast to fetch the data.</a:t>
            </a:r>
            <a:r>
              <a:rPr lang="en-IN" altLang="en-US" sz="2400" dirty="0"/>
              <a:t> </a:t>
            </a:r>
            <a:r>
              <a:rPr lang="en-US" sz="2400" dirty="0"/>
              <a:t>But the Hierarchical model is less flexible.</a:t>
            </a:r>
            <a:r>
              <a:rPr lang="en-IN" altLang="en-US" sz="2400" dirty="0"/>
              <a:t> D</a:t>
            </a:r>
            <a:r>
              <a:rPr lang="en-US" sz="2400" dirty="0"/>
              <a:t>oesn't support many-to-many relationships.</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818643" y="1161799"/>
            <a:ext cx="8334375" cy="42957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505399"/>
            <a:ext cx="10047382" cy="5847202"/>
          </a:xfrm>
        </p:spPr>
        <p:txBody>
          <a:bodyPr>
            <a:normAutofit fontScale="92500" lnSpcReduction="10000"/>
          </a:bodyPr>
          <a:lstStyle/>
          <a:p>
            <a:pPr marL="0" indent="0">
              <a:buNone/>
            </a:pPr>
            <a:r>
              <a:rPr lang="en-US" sz="4600" b="1" dirty="0">
                <a:solidFill>
                  <a:srgbClr val="FF0000"/>
                </a:solidFill>
              </a:rPr>
              <a:t>Network Model</a:t>
            </a:r>
            <a:endParaRPr lang="en-US" sz="4600" b="1" dirty="0">
              <a:solidFill>
                <a:srgbClr val="FF0000"/>
              </a:solidFill>
            </a:endParaRPr>
          </a:p>
          <a:p>
            <a:endParaRPr lang="en-US" sz="4600" b="1" dirty="0"/>
          </a:p>
          <a:p>
            <a:pPr algn="just"/>
            <a:r>
              <a:rPr lang="en-US" dirty="0"/>
              <a:t>The Network Model is an extension of the Hierarchical model.</a:t>
            </a:r>
            <a:endParaRPr lang="en-US" dirty="0"/>
          </a:p>
          <a:p>
            <a:pPr algn="just"/>
            <a:r>
              <a:rPr lang="en-US" dirty="0"/>
              <a:t>In this model, data is organized more like a </a:t>
            </a:r>
            <a:r>
              <a:rPr lang="en-US" b="1" dirty="0"/>
              <a:t>graph</a:t>
            </a:r>
            <a:r>
              <a:rPr lang="en-US" dirty="0"/>
              <a:t>, and allowed to have more than one parent node.</a:t>
            </a:r>
            <a:endParaRPr lang="en-US" dirty="0"/>
          </a:p>
          <a:p>
            <a:pPr algn="just"/>
            <a:r>
              <a:rPr lang="en-US" dirty="0"/>
              <a:t>In the network database model, data is more related as more relationships are established in this database model.</a:t>
            </a:r>
            <a:endParaRPr lang="en-US" dirty="0"/>
          </a:p>
          <a:p>
            <a:pPr algn="just"/>
            <a:r>
              <a:rPr lang="en-US" dirty="0"/>
              <a:t>Also, as the data is more related, hence accessing the data is also easier and fast.</a:t>
            </a:r>
            <a:endParaRPr lang="en-US" dirty="0"/>
          </a:p>
          <a:p>
            <a:pPr algn="just"/>
            <a:r>
              <a:rPr lang="en-US" dirty="0"/>
              <a:t>This database model uses </a:t>
            </a:r>
            <a:r>
              <a:rPr lang="en-US" b="1" dirty="0"/>
              <a:t>many-to-many data relationships.</a:t>
            </a:r>
            <a:endParaRPr lang="en-US" b="1" dirty="0"/>
          </a:p>
          <a:p>
            <a:pPr algn="just"/>
            <a:r>
              <a:rPr lang="en-US" dirty="0"/>
              <a:t>The network model in DBMS can be represented as a graph and hence it replaces the hierarchical tree with a graph in which object types are the nodes and relationships are the edges.</a:t>
            </a:r>
            <a:endParaRPr lang="en-US" dirty="0"/>
          </a:p>
          <a:p>
            <a:pPr algn="just"/>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8810" y="569119"/>
            <a:ext cx="6158429" cy="5607844"/>
          </a:xfrm>
        </p:spPr>
        <p:txBody>
          <a:bodyPr>
            <a:normAutofit lnSpcReduction="10000"/>
          </a:bodyPr>
          <a:lstStyle/>
          <a:p>
            <a:pPr algn="just"/>
            <a:r>
              <a:rPr lang="en-US" dirty="0"/>
              <a:t>Here you can see all three departments are linked with the director which was not possible in the hierarchical data model.</a:t>
            </a:r>
            <a:endParaRPr lang="en-US" dirty="0"/>
          </a:p>
          <a:p>
            <a:pPr algn="just"/>
            <a:r>
              <a:rPr lang="en-US" dirty="0"/>
              <a:t>In the network model, there can be many possible paths to reach a node from the root node (College is the root node in the above case), therefore the data can be accessed efficiently when compared to the hierarchical data model. </a:t>
            </a:r>
            <a:endParaRPr lang="en-US" dirty="0"/>
          </a:p>
          <a:p>
            <a:pPr algn="just"/>
            <a:r>
              <a:rPr lang="en-US" dirty="0"/>
              <a:t>But, on the other hand, the process of insertion and deletion of data is quite complex.</a:t>
            </a:r>
            <a:endParaRPr lang="en-US" dirty="0"/>
          </a:p>
          <a:p>
            <a:endParaRPr lang="en-IN" dirty="0"/>
          </a:p>
        </p:txBody>
      </p:sp>
      <p:pic>
        <p:nvPicPr>
          <p:cNvPr id="4" name="Picture 3"/>
          <p:cNvPicPr>
            <a:picLocks noChangeAspect="1"/>
          </p:cNvPicPr>
          <p:nvPr/>
        </p:nvPicPr>
        <p:blipFill>
          <a:blip r:embed="rId1"/>
          <a:srcRect l="16831" t="9931" r="16556" b="24015"/>
          <a:stretch>
            <a:fillRect/>
          </a:stretch>
        </p:blipFill>
        <p:spPr>
          <a:xfrm>
            <a:off x="6687239" y="569119"/>
            <a:ext cx="5387247" cy="436051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144163" y="826265"/>
            <a:ext cx="9462760" cy="48990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1593" y="591735"/>
            <a:ext cx="6069376" cy="5776013"/>
          </a:xfrm>
        </p:spPr>
        <p:txBody>
          <a:bodyPr>
            <a:normAutofit lnSpcReduction="10000"/>
          </a:bodyPr>
          <a:lstStyle/>
          <a:p>
            <a:pPr marL="0" indent="0">
              <a:buNone/>
            </a:pPr>
            <a:r>
              <a:rPr lang="en-US" sz="3200" b="1" dirty="0">
                <a:solidFill>
                  <a:srgbClr val="FF0000"/>
                </a:solidFill>
              </a:rPr>
              <a:t>Entity-Relationship Model (ER Model)</a:t>
            </a:r>
            <a:endParaRPr lang="en-US" sz="3200" b="1" dirty="0">
              <a:solidFill>
                <a:srgbClr val="FF0000"/>
              </a:solidFill>
            </a:endParaRPr>
          </a:p>
          <a:p>
            <a:endParaRPr lang="en-US" sz="3200" b="1" dirty="0"/>
          </a:p>
          <a:p>
            <a:pPr algn="just"/>
            <a:r>
              <a:rPr lang="en-US" dirty="0"/>
              <a:t>An E</a:t>
            </a:r>
            <a:r>
              <a:rPr lang="en-IN" altLang="en-US" dirty="0"/>
              <a:t>R</a:t>
            </a:r>
            <a:r>
              <a:rPr lang="en-US" dirty="0"/>
              <a:t> model is a high-level data model that describes the structure of the database in a pictorial form which is known as ER-diagram. </a:t>
            </a:r>
            <a:endParaRPr lang="en-US" dirty="0"/>
          </a:p>
          <a:p>
            <a:pPr algn="just"/>
            <a:r>
              <a:rPr lang="en-US" dirty="0"/>
              <a:t>In simple words, an ER diagram is used to represent </a:t>
            </a:r>
            <a:r>
              <a:rPr lang="en-US" b="1" dirty="0"/>
              <a:t>logical structure</a:t>
            </a:r>
            <a:r>
              <a:rPr lang="en-US" dirty="0"/>
              <a:t> of the database easily.</a:t>
            </a:r>
            <a:endParaRPr lang="en-US" dirty="0"/>
          </a:p>
          <a:p>
            <a:pPr algn="just"/>
            <a:r>
              <a:rPr lang="en-US" dirty="0"/>
              <a:t>ER model develops a </a:t>
            </a:r>
            <a:r>
              <a:rPr lang="en-US" b="1" dirty="0"/>
              <a:t>conceptual view</a:t>
            </a:r>
            <a:r>
              <a:rPr lang="en-US" dirty="0"/>
              <a:t> of the data hence it can be used as a blueprint to implement the database in the future.</a:t>
            </a:r>
            <a:endParaRPr lang="en-IN" dirty="0"/>
          </a:p>
        </p:txBody>
      </p:sp>
      <p:pic>
        <p:nvPicPr>
          <p:cNvPr id="4" name="Picture 3"/>
          <p:cNvPicPr>
            <a:picLocks noChangeAspect="1"/>
          </p:cNvPicPr>
          <p:nvPr/>
        </p:nvPicPr>
        <p:blipFill>
          <a:blip r:embed="rId1"/>
          <a:srcRect l="11186" t="7068" r="11133" b="16948"/>
          <a:stretch>
            <a:fillRect/>
          </a:stretch>
        </p:blipFill>
        <p:spPr>
          <a:xfrm>
            <a:off x="6610121" y="275421"/>
            <a:ext cx="5365214" cy="521097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1592" y="316314"/>
            <a:ext cx="10515600" cy="4351338"/>
          </a:xfrm>
        </p:spPr>
        <p:txBody>
          <a:bodyPr/>
          <a:lstStyle/>
          <a:p>
            <a:pPr marL="0" indent="0">
              <a:buNone/>
            </a:pPr>
            <a:r>
              <a:rPr lang="en-US" sz="3600" b="1" dirty="0">
                <a:solidFill>
                  <a:srgbClr val="FF0000"/>
                </a:solidFill>
              </a:rPr>
              <a:t>Relational Model</a:t>
            </a:r>
            <a:endParaRPr lang="en-US" sz="3600" b="1" dirty="0">
              <a:solidFill>
                <a:srgbClr val="FF0000"/>
              </a:solidFill>
            </a:endParaRPr>
          </a:p>
          <a:p>
            <a:pPr algn="just"/>
            <a:r>
              <a:rPr lang="en-US" dirty="0"/>
              <a:t>This is the most widely accepted data model. In this model, the database is represented as a collection of </a:t>
            </a:r>
            <a:r>
              <a:rPr lang="en-US" b="1" dirty="0"/>
              <a:t>relations</a:t>
            </a:r>
            <a:r>
              <a:rPr lang="en-US" dirty="0"/>
              <a:t> in the form of rows and columns of a </a:t>
            </a:r>
            <a:r>
              <a:rPr lang="en-US" b="1" dirty="0"/>
              <a:t>two-dimensional table</a:t>
            </a:r>
            <a:r>
              <a:rPr lang="en-US" dirty="0"/>
              <a:t>. Each row is known as a </a:t>
            </a:r>
            <a:r>
              <a:rPr lang="en-US" b="1" dirty="0"/>
              <a:t>tuple</a:t>
            </a:r>
            <a:r>
              <a:rPr lang="en-US" dirty="0"/>
              <a:t> (a tuple contains all the data for an individual record) while each column represents an </a:t>
            </a:r>
            <a:r>
              <a:rPr lang="en-US" b="1" dirty="0"/>
              <a:t>attribute.</a:t>
            </a:r>
            <a:r>
              <a:rPr lang="en-US" dirty="0"/>
              <a:t> </a:t>
            </a:r>
            <a:endParaRPr lang="en-IN" dirty="0"/>
          </a:p>
        </p:txBody>
      </p:sp>
      <p:pic>
        <p:nvPicPr>
          <p:cNvPr id="4" name="Picture 3"/>
          <p:cNvPicPr>
            <a:picLocks noChangeAspect="1"/>
          </p:cNvPicPr>
          <p:nvPr/>
        </p:nvPicPr>
        <p:blipFill>
          <a:blip r:embed="rId1"/>
          <a:stretch>
            <a:fillRect/>
          </a:stretch>
        </p:blipFill>
        <p:spPr>
          <a:xfrm>
            <a:off x="2785615" y="3025737"/>
            <a:ext cx="6131621" cy="383226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345815" y="1145754"/>
            <a:ext cx="8369406" cy="503120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7113" y="440675"/>
            <a:ext cx="10626687" cy="5736288"/>
          </a:xfrm>
        </p:spPr>
        <p:txBody>
          <a:bodyPr>
            <a:normAutofit/>
          </a:bodyPr>
          <a:lstStyle/>
          <a:p>
            <a:pPr marL="0" indent="0">
              <a:buNone/>
            </a:pPr>
            <a:r>
              <a:rPr lang="en-US" sz="3600" b="1" dirty="0">
                <a:solidFill>
                  <a:srgbClr val="FF0000"/>
                </a:solidFill>
              </a:rPr>
              <a:t>Object-Oriented Data model</a:t>
            </a:r>
            <a:endParaRPr lang="en-US" sz="3600" b="1" dirty="0">
              <a:solidFill>
                <a:srgbClr val="FF0000"/>
              </a:solidFill>
            </a:endParaRPr>
          </a:p>
          <a:p>
            <a:endParaRPr lang="en-US" sz="3500" b="1" dirty="0"/>
          </a:p>
          <a:p>
            <a:pPr algn="just"/>
            <a:r>
              <a:rPr lang="en-US" dirty="0"/>
              <a:t>As suggested by its name, the object-oriented data model is a combination of </a:t>
            </a:r>
            <a:r>
              <a:rPr lang="en-US" b="1" dirty="0"/>
              <a:t>object-oriented programming and relational data model. </a:t>
            </a:r>
            <a:endParaRPr lang="en-US" b="1" dirty="0"/>
          </a:p>
          <a:p>
            <a:pPr algn="just"/>
            <a:r>
              <a:rPr lang="en-US" dirty="0"/>
              <a:t>In this data model, the data and their relationship are represented in a single structure which is known as an </a:t>
            </a:r>
            <a:r>
              <a:rPr lang="en-US" b="1" dirty="0"/>
              <a:t>object.</a:t>
            </a:r>
            <a:endParaRPr lang="en-US" b="1" dirty="0"/>
          </a:p>
          <a:p>
            <a:pPr algn="just"/>
            <a:r>
              <a:rPr lang="en-US" dirty="0"/>
              <a:t>Since data is stored as objects we can easily store audio, video, images, </a:t>
            </a:r>
            <a:r>
              <a:rPr lang="en-US" dirty="0" err="1"/>
              <a:t>etc</a:t>
            </a:r>
            <a:r>
              <a:rPr lang="en-US" dirty="0"/>
              <a:t> in the database which was very difficult and inconvenient to do in the relational model. </a:t>
            </a:r>
            <a:endParaRPr lang="en-US" dirty="0"/>
          </a:p>
          <a:p>
            <a:pPr algn="just"/>
            <a:r>
              <a:rPr lang="en-US" dirty="0"/>
              <a:t>A very popular example of an Object Database management system or ODBMS is MongoDB</a:t>
            </a:r>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rcRect l="13158" t="11728" r="12906" b="28031"/>
          <a:stretch>
            <a:fillRect/>
          </a:stretch>
        </p:blipFill>
        <p:spPr>
          <a:xfrm>
            <a:off x="2151535" y="2506662"/>
            <a:ext cx="7878828" cy="4351338"/>
          </a:xfrm>
          <a:prstGeom prst="rect">
            <a:avLst/>
          </a:prstGeom>
        </p:spPr>
      </p:pic>
      <p:sp>
        <p:nvSpPr>
          <p:cNvPr id="6" name="TextBox 5"/>
          <p:cNvSpPr txBox="1"/>
          <p:nvPr/>
        </p:nvSpPr>
        <p:spPr>
          <a:xfrm>
            <a:off x="440675" y="185964"/>
            <a:ext cx="11424490" cy="1568450"/>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Calibri" panose="020F0502020204030204" charset="0"/>
                <a:cs typeface="Calibri" panose="020F0502020204030204" charset="0"/>
              </a:rPr>
              <a:t>As shown in the image below two objects are connected with each other through links.</a:t>
            </a:r>
            <a:endParaRPr lang="en-US" sz="2400" dirty="0">
              <a:latin typeface="Calibri" panose="020F0502020204030204" charset="0"/>
              <a:cs typeface="Calibri" panose="020F0502020204030204" charset="0"/>
            </a:endParaRPr>
          </a:p>
          <a:p>
            <a:pPr marL="342900" indent="-342900" algn="just">
              <a:buFont typeface="Arial" panose="020B0604020202020204" pitchFamily="34" charset="0"/>
              <a:buChar char="•"/>
            </a:pPr>
            <a:r>
              <a:rPr lang="en-US" sz="2400" b="0" i="0" dirty="0">
                <a:effectLst/>
                <a:latin typeface="Calibri" panose="020F0502020204030204" charset="0"/>
                <a:cs typeface="Calibri" panose="020F0502020204030204" charset="0"/>
              </a:rPr>
              <a:t>In the above image, we have two objects that are Employee and Department in which all the data is contained in a single unit (object). </a:t>
            </a:r>
            <a:endParaRPr lang="en-US" sz="2400" b="0" i="0" dirty="0">
              <a:effectLst/>
              <a:latin typeface="Calibri" panose="020F0502020204030204" charset="0"/>
              <a:cs typeface="Calibri" panose="020F0502020204030204" charset="0"/>
            </a:endParaRPr>
          </a:p>
          <a:p>
            <a:pPr marL="342900" indent="-342900" algn="l">
              <a:buFont typeface="Arial" panose="020B0604020202020204" pitchFamily="34" charset="0"/>
              <a:buChar char="•"/>
            </a:pPr>
            <a:r>
              <a:rPr lang="en-US" sz="2400" dirty="0">
                <a:effectLst/>
                <a:latin typeface="Calibri" panose="020F0502020204030204" charset="0"/>
                <a:cs typeface="Calibri" panose="020F0502020204030204" charset="0"/>
              </a:rPr>
              <a:t>They are linked with each other as they share a common attribute </a:t>
            </a:r>
            <a:r>
              <a:rPr lang="en-US" sz="2400" dirty="0" err="1">
                <a:effectLst/>
                <a:latin typeface="Calibri" panose="020F0502020204030204" charset="0"/>
                <a:cs typeface="Calibri" panose="020F0502020204030204" charset="0"/>
              </a:rPr>
              <a:t>i.e.</a:t>
            </a:r>
            <a:r>
              <a:rPr lang="en-IN" altLang="en-US" sz="2400" dirty="0" err="1">
                <a:effectLst/>
                <a:latin typeface="Calibri" panose="020F0502020204030204" charset="0"/>
                <a:cs typeface="Calibri" panose="020F0502020204030204" charset="0"/>
              </a:rPr>
              <a:t> </a:t>
            </a:r>
            <a:r>
              <a:rPr lang="en-US" sz="2400" dirty="0" err="1">
                <a:effectLst/>
                <a:latin typeface="Calibri" panose="020F0502020204030204" charset="0"/>
                <a:cs typeface="Calibri" panose="020F0502020204030204" charset="0"/>
              </a:rPr>
              <a:t>Department_Id</a:t>
            </a:r>
            <a:r>
              <a:rPr lang="en-US" sz="2400" dirty="0">
                <a:effectLst/>
                <a:latin typeface="Calibri" panose="020F0502020204030204" charset="0"/>
                <a:cs typeface="Calibri" panose="020F0502020204030204" charset="0"/>
              </a:rPr>
              <a:t>.</a:t>
            </a:r>
            <a:endParaRPr lang="en-US" sz="2400" dirty="0">
              <a:effectLst/>
              <a:latin typeface="Calibri" panose="020F0502020204030204" charset="0"/>
              <a:cs typeface="Calibri" panose="020F05020202040302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456271" y="654498"/>
            <a:ext cx="9080879" cy="5801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3715" y="408305"/>
            <a:ext cx="10840085" cy="6176010"/>
          </a:xfrm>
        </p:spPr>
        <p:txBody>
          <a:bodyPr>
            <a:normAutofit lnSpcReduction="20000"/>
          </a:bodyPr>
          <a:lstStyle/>
          <a:p>
            <a:pPr marL="0" indent="0">
              <a:buNone/>
            </a:pPr>
            <a:r>
              <a:rPr lang="en-US" sz="4000" b="1" dirty="0">
                <a:solidFill>
                  <a:srgbClr val="FF0000"/>
                </a:solidFill>
              </a:rPr>
              <a:t>Semi-Structured Data Model</a:t>
            </a:r>
            <a:endParaRPr lang="en-US" sz="4000" b="1" dirty="0">
              <a:solidFill>
                <a:srgbClr val="FF0000"/>
              </a:solidFill>
            </a:endParaRPr>
          </a:p>
          <a:p>
            <a:pPr marL="0" indent="0">
              <a:buNone/>
            </a:pPr>
            <a:endParaRPr lang="en-US" sz="4000" b="1" dirty="0">
              <a:solidFill>
                <a:srgbClr val="FF0000"/>
              </a:solidFill>
            </a:endParaRPr>
          </a:p>
          <a:p>
            <a:pPr algn="just"/>
            <a:r>
              <a:rPr lang="en-US" dirty="0"/>
              <a:t>A semi-structured data model is a generalized form of the relational model, which allows representing data in a flexible way, hence we can not differentiate between data and schema in this model because, in this model, some entities have a missing attribute(s) and on the other hand, some entities might have some extra attribute(s) which in turn makes it easy to update the schema of the database.</a:t>
            </a:r>
            <a:endParaRPr lang="en-US" dirty="0"/>
          </a:p>
          <a:p>
            <a:pPr algn="just"/>
            <a:r>
              <a:rPr lang="en-US" dirty="0"/>
              <a:t>Semi-structured data refers to the structured data that doesn’t adhere to the tabular structure of the data models that are associated with relational DBs or any other types of data tables. </a:t>
            </a:r>
            <a:endParaRPr lang="en-US" dirty="0"/>
          </a:p>
          <a:p>
            <a:pPr algn="just"/>
            <a:r>
              <a:rPr lang="en-US" dirty="0"/>
              <a:t>It includes tags or any other markers in order to segregate semantic pieces and enforce hierarchies of fields and records within the data. As a result, it’s known as a self-descriptive structure.</a:t>
            </a:r>
            <a:endParaRPr lang="en-US" dirty="0"/>
          </a:p>
          <a:p>
            <a:pPr algn="just"/>
            <a:r>
              <a:rPr lang="en-US" dirty="0"/>
              <a:t>A common example of this type of data model is web-based data sources </a:t>
            </a:r>
            <a:endParaRPr lang="en-I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5080" y="561860"/>
            <a:ext cx="10648720" cy="5615103"/>
          </a:xfrm>
        </p:spPr>
        <p:txBody>
          <a:bodyPr/>
          <a:lstStyle/>
          <a:p>
            <a:r>
              <a:rPr lang="en-US" b="1" dirty="0">
                <a:solidFill>
                  <a:srgbClr val="C00000"/>
                </a:solidFill>
              </a:rPr>
              <a:t>Advantages of Data Models in DBMS</a:t>
            </a:r>
            <a:endParaRPr lang="en-US" b="1" dirty="0">
              <a:solidFill>
                <a:srgbClr val="C00000"/>
              </a:solidFill>
            </a:endParaRPr>
          </a:p>
          <a:p>
            <a:pPr algn="just"/>
            <a:r>
              <a:rPr lang="en-US" dirty="0"/>
              <a:t>Data models ensure that the data is represented accurately.</a:t>
            </a:r>
            <a:endParaRPr lang="en-US" dirty="0"/>
          </a:p>
          <a:p>
            <a:pPr algn="just"/>
            <a:r>
              <a:rPr lang="en-US" dirty="0"/>
              <a:t>The relationship between the data is well-defined.</a:t>
            </a:r>
            <a:endParaRPr lang="en-US" dirty="0"/>
          </a:p>
          <a:p>
            <a:pPr algn="just"/>
            <a:r>
              <a:rPr lang="en-US" dirty="0"/>
              <a:t>Data Redundancy in DBMS can be minimized and missing data can be identified easily.</a:t>
            </a:r>
            <a:endParaRPr lang="en-US" dirty="0"/>
          </a:p>
          <a:p>
            <a:pPr algn="just"/>
            <a:r>
              <a:rPr lang="en-US" dirty="0"/>
              <a:t>Last but not least, the security of the data is not compromised.</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21238</Words>
  <Application>WPS Presentation</Application>
  <PresentationFormat>Widescreen</PresentationFormat>
  <Paragraphs>287</Paragraphs>
  <Slides>48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48</vt:i4>
      </vt:variant>
    </vt:vector>
  </HeadingPairs>
  <TitlesOfParts>
    <vt:vector size="58" baseType="lpstr">
      <vt:lpstr>Arial</vt:lpstr>
      <vt:lpstr>SimSun</vt:lpstr>
      <vt:lpstr>Wingdings</vt:lpstr>
      <vt:lpstr>Calibri Light</vt:lpstr>
      <vt:lpstr>Microsoft YaHei</vt:lpstr>
      <vt:lpstr>Arial Unicode MS</vt:lpstr>
      <vt:lpstr>Calibri</vt:lpstr>
      <vt:lpstr>__Source_Sans_Pro_2fe30b</vt:lpstr>
      <vt:lpstr>Segoe Print</vt:lpstr>
      <vt:lpstr>Office Theme</vt:lpstr>
      <vt:lpstr>Introduction to DBMS</vt:lpstr>
      <vt:lpstr>PowerPoint 演示文稿</vt:lpstr>
      <vt:lpstr>PowerPoint 演示文稿</vt:lpstr>
      <vt:lpstr>File-processing system </vt:lpstr>
      <vt:lpstr>Two-Tier Database Architecture</vt:lpstr>
      <vt:lpstr>PowerPoint 演示文稿</vt:lpstr>
      <vt:lpstr>PowerPoint 演示文稿</vt:lpstr>
      <vt:lpstr>Three-Tier Database Architecture</vt:lpstr>
      <vt:lpstr>PowerPoint 演示文稿</vt:lpstr>
      <vt:lpstr>Three schema Architecture</vt:lpstr>
      <vt:lpstr>PowerPoint 演示文稿</vt:lpstr>
      <vt:lpstr>PowerPoint 演示文稿</vt:lpstr>
      <vt:lpstr>PowerPoint 演示文稿</vt:lpstr>
      <vt:lpstr>PowerPoint 演示文稿</vt:lpstr>
      <vt:lpstr>Data Independence </vt:lpstr>
      <vt:lpstr>PowerPoint 演示文稿</vt:lpstr>
      <vt:lpstr>PowerPoint 演示文稿</vt:lpstr>
      <vt:lpstr>PowerPoint 演示文稿</vt:lpstr>
      <vt:lpstr>PowerPoint 演示文稿</vt:lpstr>
      <vt:lpstr>Different Types of Database Users </vt:lpstr>
      <vt:lpstr>Database Administrators (DBA)</vt:lpstr>
      <vt:lpstr>PowerPoint 演示文稿</vt:lpstr>
      <vt:lpstr>Naive / End Users:</vt:lpstr>
      <vt:lpstr>System Analysts</vt:lpstr>
      <vt:lpstr>Sophisticated Users</vt:lpstr>
      <vt:lpstr>Database Designers</vt:lpstr>
      <vt:lpstr>Application Programmers</vt:lpstr>
      <vt:lpstr>Casual Users / Temporary Users </vt:lpstr>
      <vt:lpstr>Database Languages</vt:lpstr>
      <vt:lpstr>PowerPoint 演示文稿</vt:lpstr>
      <vt:lpstr>PowerPoint 演示文稿</vt:lpstr>
      <vt:lpstr>PowerPoint 演示文稿</vt:lpstr>
      <vt:lpstr>PowerPoint 演示文稿</vt:lpstr>
      <vt:lpstr>PowerPoint 演示文稿</vt:lpstr>
      <vt:lpstr>Data Models in DBMS</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pratyashi create powerposatapathyint</dc:creator>
  <cp:lastModifiedBy>Pratyashi Satapathy</cp:lastModifiedBy>
  <cp:revision>34</cp:revision>
  <dcterms:created xsi:type="dcterms:W3CDTF">2025-02-02T17:34:00Z</dcterms:created>
  <dcterms:modified xsi:type="dcterms:W3CDTF">2026-02-12T12:03:15Z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9B90CEC550A145958B9AED50F09BB4C4_12</vt:lpwstr>
  </property>
  <property fmtid="{D5CDD505-2E9C-101B-9397-08002B2CF9AE}" pid="3" name="KSOProductBuildVer">
    <vt:lpwstr>1033-12.2.0.23196</vt:lpwstr>
  </property>
</Properties>
</file>