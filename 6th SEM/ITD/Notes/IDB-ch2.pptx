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96"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6" r:id="rId32"/>
    <p:sldId id="285" r:id="rId33"/>
    <p:sldId id="303" r:id="rId34"/>
    <p:sldId id="304" r:id="rId35"/>
    <p:sldId id="291" r:id="rId36"/>
    <p:sldId id="292" r:id="rId37"/>
    <p:sldId id="293" r:id="rId38"/>
    <p:sldId id="295" r:id="rId39"/>
    <p:sldId id="294" r:id="rId40"/>
    <p:sldId id="287" r:id="rId41"/>
    <p:sldId id="288" r:id="rId42"/>
    <p:sldId id="289" r:id="rId43"/>
    <p:sldId id="290" r:id="rId44"/>
    <p:sldId id="297" r:id="rId45"/>
    <p:sldId id="298" r:id="rId46"/>
    <p:sldId id="299" r:id="rId47"/>
    <p:sldId id="300" r:id="rId48"/>
    <p:sldId id="301" r:id="rId49"/>
    <p:sldId id="302"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F2C81-4792-3F97-E338-02AB988FFF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514EFE1-A1F8-CB97-BB70-9D73950719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1C3C2FA-31CE-D514-2315-D59E5C571260}"/>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5" name="Footer Placeholder 4">
            <a:extLst>
              <a:ext uri="{FF2B5EF4-FFF2-40B4-BE49-F238E27FC236}">
                <a16:creationId xmlns:a16="http://schemas.microsoft.com/office/drawing/2014/main" id="{248D702E-8E2C-81C8-88A8-822036B825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1B9C0B-43B4-478F-F88F-0DE371EBDB22}"/>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1295189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F6772-DAF1-0BB6-C6E5-46B5C30CF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EEA7A7-BCB0-0D00-7D5F-1F05D1B8F2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E78D1F-489E-EA63-F6DC-906842C32B97}"/>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5" name="Footer Placeholder 4">
            <a:extLst>
              <a:ext uri="{FF2B5EF4-FFF2-40B4-BE49-F238E27FC236}">
                <a16:creationId xmlns:a16="http://schemas.microsoft.com/office/drawing/2014/main" id="{BA5A061D-E09E-45D4-A6D3-9E444C5E8F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B6FAC4-16FA-77A1-6D8F-A36315C1B13A}"/>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1745905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F04F0-DAF9-F222-6835-B0130141DB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54B3F2-C3F7-5931-1BAF-691F73A8D4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A7A5DF-024B-66E1-ABEB-B9589CE1E5F3}"/>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5" name="Footer Placeholder 4">
            <a:extLst>
              <a:ext uri="{FF2B5EF4-FFF2-40B4-BE49-F238E27FC236}">
                <a16:creationId xmlns:a16="http://schemas.microsoft.com/office/drawing/2014/main" id="{86BD89E5-A135-A19B-7E18-487C45AA9F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CCB485-8950-9020-8FCA-61C93C78394A}"/>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2201920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77B86-E344-AD13-3F96-E59AED65FE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B0E2D1-20FC-8BFE-4A3B-6BA32E9CBF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E28560-67E6-D82C-F29B-3E795FA67E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645D76-9F9D-21EA-3520-438EF31A0A53}"/>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6" name="Footer Placeholder 5">
            <a:extLst>
              <a:ext uri="{FF2B5EF4-FFF2-40B4-BE49-F238E27FC236}">
                <a16:creationId xmlns:a16="http://schemas.microsoft.com/office/drawing/2014/main" id="{BD29E42D-E04E-6147-972D-7150C37AB8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BC0B6B-CAA8-F99E-F208-A359B3DD3667}"/>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35904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C5160-4935-4E37-1CBB-099249F5ADB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00679B-2F25-49C0-14B0-0DF11F29D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7A0207-6874-29DA-44E9-F4F82B82F6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B7561AE-007C-0075-5111-34577C9221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D36409-5971-9F05-3703-C9636499E4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D25E35F-2A94-DC61-550A-5AE5FFD6944F}"/>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8" name="Footer Placeholder 7">
            <a:extLst>
              <a:ext uri="{FF2B5EF4-FFF2-40B4-BE49-F238E27FC236}">
                <a16:creationId xmlns:a16="http://schemas.microsoft.com/office/drawing/2014/main" id="{C3D212AF-F2E6-5301-1D9E-33696FF85A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B354B3F-4081-942C-46A0-C451F7BFC0FB}"/>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3244821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58CFE-1F9D-309A-BCDC-8EEB6E9B83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C75AEA-EDE8-9789-4E65-82524F975A3E}"/>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4" name="Footer Placeholder 3">
            <a:extLst>
              <a:ext uri="{FF2B5EF4-FFF2-40B4-BE49-F238E27FC236}">
                <a16:creationId xmlns:a16="http://schemas.microsoft.com/office/drawing/2014/main" id="{08695C28-5FBE-7E40-B349-4E8E305C51D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53E8DE-8A9A-8D1E-7839-73130E1B5329}"/>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2607295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C10321-B5D4-4F5E-C176-3FD204D8137B}"/>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3" name="Footer Placeholder 2">
            <a:extLst>
              <a:ext uri="{FF2B5EF4-FFF2-40B4-BE49-F238E27FC236}">
                <a16:creationId xmlns:a16="http://schemas.microsoft.com/office/drawing/2014/main" id="{1EE5FC9B-15A6-270D-9725-20BFBCB1D8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870903-5B2E-E7D4-9D38-E5B78714B148}"/>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2152037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CDDB6-22A5-463B-750A-4BA880C28B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0AF0C29-B0B7-2ADA-ED20-3879795F36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D72CE2B-6C22-B9B1-6BB8-60A41382A8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6CE489-5CF6-6C70-8BC3-C7BA63DC5935}"/>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6" name="Footer Placeholder 5">
            <a:extLst>
              <a:ext uri="{FF2B5EF4-FFF2-40B4-BE49-F238E27FC236}">
                <a16:creationId xmlns:a16="http://schemas.microsoft.com/office/drawing/2014/main" id="{8C502E4F-F309-4052-4B4B-EE210E54E6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25D95E-149F-34BC-C2CA-F18085360211}"/>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2038671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7BEB8-35EC-2E98-11CA-C1C1AAEF41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B38827-7A53-BA1A-4F25-18606BC591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630E39D-25CB-A882-EFD5-84DB5AC175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A5CBFA-1E70-759B-120C-C483C78FCA60}"/>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6" name="Footer Placeholder 5">
            <a:extLst>
              <a:ext uri="{FF2B5EF4-FFF2-40B4-BE49-F238E27FC236}">
                <a16:creationId xmlns:a16="http://schemas.microsoft.com/office/drawing/2014/main" id="{24577DDF-C807-A26C-6756-819946223D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DD2C984-3EC2-8B04-846D-E96D19A7C3B5}"/>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4184415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73048-DBC0-8C43-9A02-ABB26612172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201C519-E5A0-9C61-D53F-A15E604055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97030B-C7DE-24A9-48BE-E7CFAA7BF906}"/>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5" name="Footer Placeholder 4">
            <a:extLst>
              <a:ext uri="{FF2B5EF4-FFF2-40B4-BE49-F238E27FC236}">
                <a16:creationId xmlns:a16="http://schemas.microsoft.com/office/drawing/2014/main" id="{858B7A8F-7ACA-773C-3582-9E680A0A94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0769E7-00DC-6513-2AF6-B70301FDAC4F}"/>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437513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49B6F3-1C24-E1F9-F915-ED773C7A33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BF28A9-94E1-0560-F969-9AFDB0CB44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7815A5-D0F5-3925-9F9D-A7A01446223F}"/>
              </a:ext>
            </a:extLst>
          </p:cNvPr>
          <p:cNvSpPr>
            <a:spLocks noGrp="1"/>
          </p:cNvSpPr>
          <p:nvPr>
            <p:ph type="dt" sz="half" idx="10"/>
          </p:nvPr>
        </p:nvSpPr>
        <p:spPr/>
        <p:txBody>
          <a:bodyPr/>
          <a:lstStyle/>
          <a:p>
            <a:fld id="{37E19718-5513-450E-A1C0-00BC212B86EA}" type="datetimeFigureOut">
              <a:rPr lang="en-IN" smtClean="0"/>
              <a:t>26-02-2026</a:t>
            </a:fld>
            <a:endParaRPr lang="en-IN"/>
          </a:p>
        </p:txBody>
      </p:sp>
      <p:sp>
        <p:nvSpPr>
          <p:cNvPr id="5" name="Footer Placeholder 4">
            <a:extLst>
              <a:ext uri="{FF2B5EF4-FFF2-40B4-BE49-F238E27FC236}">
                <a16:creationId xmlns:a16="http://schemas.microsoft.com/office/drawing/2014/main" id="{85237475-A09A-A3E5-4034-C4FC055181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8E6BED-C9AB-DC2F-8882-0F17F2CCD041}"/>
              </a:ext>
            </a:extLst>
          </p:cNvPr>
          <p:cNvSpPr>
            <a:spLocks noGrp="1"/>
          </p:cNvSpPr>
          <p:nvPr>
            <p:ph type="sldNum" sz="quarter" idx="12"/>
          </p:nvPr>
        </p:nvSpPr>
        <p:spPr/>
        <p:txBody>
          <a:bodyPr/>
          <a:lstStyle/>
          <a:p>
            <a:fld id="{AC69D2A4-C4EE-4E2E-A791-2A9DBCC54674}" type="slidenum">
              <a:rPr lang="en-IN" smtClean="0"/>
              <a:t>‹#›</a:t>
            </a:fld>
            <a:endParaRPr lang="en-IN"/>
          </a:p>
        </p:txBody>
      </p:sp>
    </p:spTree>
    <p:extLst>
      <p:ext uri="{BB962C8B-B14F-4D97-AF65-F5344CB8AC3E}">
        <p14:creationId xmlns:p14="http://schemas.microsoft.com/office/powerpoint/2010/main" val="497599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A56AAE-2FB9-6F8E-4C55-5C325D063D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528046-EC5D-5664-D059-0BC1294E5B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18060D-1CB5-9D22-7FBE-0F79E40B1B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19718-5513-450E-A1C0-00BC212B86EA}" type="datetimeFigureOut">
              <a:rPr lang="en-IN" smtClean="0"/>
              <a:t>26-02-2026</a:t>
            </a:fld>
            <a:endParaRPr lang="en-IN"/>
          </a:p>
        </p:txBody>
      </p:sp>
      <p:sp>
        <p:nvSpPr>
          <p:cNvPr id="5" name="Footer Placeholder 4">
            <a:extLst>
              <a:ext uri="{FF2B5EF4-FFF2-40B4-BE49-F238E27FC236}">
                <a16:creationId xmlns:a16="http://schemas.microsoft.com/office/drawing/2014/main" id="{9BACD0E9-B031-5B31-78F8-D27AE4F023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9E5CAA4-F71C-B62C-2E50-1B3C3786D5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69D2A4-C4EE-4E2E-A791-2A9DBCC54674}" type="slidenum">
              <a:rPr lang="en-IN" smtClean="0"/>
              <a:t>‹#›</a:t>
            </a:fld>
            <a:endParaRPr lang="en-IN"/>
          </a:p>
        </p:txBody>
      </p:sp>
    </p:spTree>
    <p:extLst>
      <p:ext uri="{BB962C8B-B14F-4D97-AF65-F5344CB8AC3E}">
        <p14:creationId xmlns:p14="http://schemas.microsoft.com/office/powerpoint/2010/main" val="3599693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3537B-6D1C-8E22-011A-E8FE93FE3311}"/>
              </a:ext>
            </a:extLst>
          </p:cNvPr>
          <p:cNvSpPr>
            <a:spLocks noGrp="1"/>
          </p:cNvSpPr>
          <p:nvPr>
            <p:ph type="ctrTitle"/>
          </p:nvPr>
        </p:nvSpPr>
        <p:spPr/>
        <p:txBody>
          <a:bodyPr/>
          <a:lstStyle/>
          <a:p>
            <a:r>
              <a:rPr lang="en-IN" b="1" i="0" dirty="0">
                <a:solidFill>
                  <a:srgbClr val="273239"/>
                </a:solidFill>
                <a:effectLst/>
                <a:latin typeface="Source Sans 3"/>
              </a:rPr>
              <a:t>ER Model</a:t>
            </a:r>
            <a:br>
              <a:rPr lang="en-IN" b="1" i="0" dirty="0">
                <a:solidFill>
                  <a:srgbClr val="273239"/>
                </a:solidFill>
                <a:effectLst/>
                <a:latin typeface="Source Sans 3"/>
              </a:rPr>
            </a:br>
            <a:endParaRPr lang="en-IN" dirty="0"/>
          </a:p>
        </p:txBody>
      </p:sp>
    </p:spTree>
    <p:extLst>
      <p:ext uri="{BB962C8B-B14F-4D97-AF65-F5344CB8AC3E}">
        <p14:creationId xmlns:p14="http://schemas.microsoft.com/office/powerpoint/2010/main" val="1431321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4FB5D-F181-A541-50D5-6BCE6D1F283A}"/>
              </a:ext>
            </a:extLst>
          </p:cNvPr>
          <p:cNvSpPr>
            <a:spLocks noGrp="1"/>
          </p:cNvSpPr>
          <p:nvPr>
            <p:ph type="title"/>
          </p:nvPr>
        </p:nvSpPr>
        <p:spPr>
          <a:xfrm>
            <a:off x="838200" y="365126"/>
            <a:ext cx="10515600" cy="714528"/>
          </a:xfrm>
        </p:spPr>
        <p:txBody>
          <a:bodyPr/>
          <a:lstStyle/>
          <a:p>
            <a:pPr algn="ctr"/>
            <a:r>
              <a:rPr lang="en-US" b="1" dirty="0"/>
              <a:t>Symbols Used in ER Model</a:t>
            </a:r>
            <a:endParaRPr lang="en-IN" b="1" dirty="0"/>
          </a:p>
        </p:txBody>
      </p:sp>
      <p:pic>
        <p:nvPicPr>
          <p:cNvPr id="4" name="Content Placeholder 3">
            <a:extLst>
              <a:ext uri="{FF2B5EF4-FFF2-40B4-BE49-F238E27FC236}">
                <a16:creationId xmlns:a16="http://schemas.microsoft.com/office/drawing/2014/main" id="{B61E7278-79F1-F11A-8CC3-1769F4ABD708}"/>
              </a:ext>
            </a:extLst>
          </p:cNvPr>
          <p:cNvPicPr>
            <a:picLocks noGrp="1" noChangeAspect="1"/>
          </p:cNvPicPr>
          <p:nvPr>
            <p:ph idx="1"/>
          </p:nvPr>
        </p:nvPicPr>
        <p:blipFill>
          <a:blip r:embed="rId2"/>
          <a:stretch>
            <a:fillRect/>
          </a:stretch>
        </p:blipFill>
        <p:spPr>
          <a:xfrm>
            <a:off x="1531345" y="1333242"/>
            <a:ext cx="9390043" cy="5159633"/>
          </a:xfrm>
          <a:prstGeom prst="rect">
            <a:avLst/>
          </a:prstGeom>
        </p:spPr>
      </p:pic>
    </p:spTree>
    <p:extLst>
      <p:ext uri="{BB962C8B-B14F-4D97-AF65-F5344CB8AC3E}">
        <p14:creationId xmlns:p14="http://schemas.microsoft.com/office/powerpoint/2010/main" val="2015175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D98C43-1054-B2B2-C1C3-55786907C315}"/>
              </a:ext>
            </a:extLst>
          </p:cNvPr>
          <p:cNvSpPr>
            <a:spLocks noGrp="1"/>
          </p:cNvSpPr>
          <p:nvPr>
            <p:ph idx="1"/>
          </p:nvPr>
        </p:nvSpPr>
        <p:spPr>
          <a:xfrm>
            <a:off x="815248" y="605928"/>
            <a:ext cx="10538552" cy="5571035"/>
          </a:xfrm>
        </p:spPr>
        <p:txBody>
          <a:bodyPr>
            <a:normAutofit/>
          </a:bodyPr>
          <a:lstStyle/>
          <a:p>
            <a:pPr marL="0" indent="0">
              <a:buNone/>
            </a:pPr>
            <a:r>
              <a:rPr lang="en-US" dirty="0"/>
              <a:t>ER Model is used to model the logical view of the system from a data perspective which consists of these symbols:</a:t>
            </a:r>
          </a:p>
          <a:p>
            <a:endParaRPr lang="en-US" dirty="0"/>
          </a:p>
          <a:p>
            <a:r>
              <a:rPr lang="en-US" b="1" dirty="0"/>
              <a:t>Rectangles:</a:t>
            </a:r>
            <a:r>
              <a:rPr lang="en-US" dirty="0"/>
              <a:t> Rectangles represent Entities in the ER Model.</a:t>
            </a:r>
          </a:p>
          <a:p>
            <a:r>
              <a:rPr lang="en-US" b="1" dirty="0"/>
              <a:t>Ellipses: </a:t>
            </a:r>
            <a:r>
              <a:rPr lang="en-US" dirty="0"/>
              <a:t>Ellipses represent Attributes in the ER Model.</a:t>
            </a:r>
          </a:p>
          <a:p>
            <a:r>
              <a:rPr lang="en-US" b="1" dirty="0"/>
              <a:t>Diamond:</a:t>
            </a:r>
            <a:r>
              <a:rPr lang="en-US" dirty="0"/>
              <a:t> Diamonds represent Relationships among Entities.</a:t>
            </a:r>
          </a:p>
          <a:p>
            <a:r>
              <a:rPr lang="en-US" b="1" dirty="0"/>
              <a:t>Lines:</a:t>
            </a:r>
            <a:r>
              <a:rPr lang="en-US" dirty="0"/>
              <a:t> Lines represent attributes to entities and entity sets with other relationship types.</a:t>
            </a:r>
          </a:p>
          <a:p>
            <a:r>
              <a:rPr lang="en-US" b="1" dirty="0"/>
              <a:t>Double Ellipse: </a:t>
            </a:r>
            <a:r>
              <a:rPr lang="en-US" dirty="0"/>
              <a:t>Double Ellipses represent Multi-Valued Attributes.</a:t>
            </a:r>
          </a:p>
          <a:p>
            <a:r>
              <a:rPr lang="en-US" b="1" dirty="0"/>
              <a:t>Double Rectangle: </a:t>
            </a:r>
            <a:r>
              <a:rPr lang="en-US" dirty="0"/>
              <a:t>Double Rectangle represents a Weak Entity.</a:t>
            </a:r>
            <a:endParaRPr lang="en-IN" dirty="0"/>
          </a:p>
        </p:txBody>
      </p:sp>
    </p:spTree>
    <p:extLst>
      <p:ext uri="{BB962C8B-B14F-4D97-AF65-F5344CB8AC3E}">
        <p14:creationId xmlns:p14="http://schemas.microsoft.com/office/powerpoint/2010/main" val="4038877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9C6F8-80A1-A5DF-F5D3-E9A34F513BDD}"/>
              </a:ext>
            </a:extLst>
          </p:cNvPr>
          <p:cNvSpPr>
            <a:spLocks noGrp="1"/>
          </p:cNvSpPr>
          <p:nvPr>
            <p:ph type="title"/>
          </p:nvPr>
        </p:nvSpPr>
        <p:spPr>
          <a:xfrm>
            <a:off x="838200" y="154237"/>
            <a:ext cx="10515600" cy="837282"/>
          </a:xfrm>
        </p:spPr>
        <p:txBody>
          <a:bodyPr>
            <a:normAutofit/>
          </a:bodyPr>
          <a:lstStyle/>
          <a:p>
            <a:pPr algn="ctr"/>
            <a:r>
              <a:rPr lang="en-IN" b="1" dirty="0"/>
              <a:t>Components of ER Diagram</a:t>
            </a:r>
          </a:p>
        </p:txBody>
      </p:sp>
      <p:sp>
        <p:nvSpPr>
          <p:cNvPr id="3" name="Content Placeholder 2">
            <a:extLst>
              <a:ext uri="{FF2B5EF4-FFF2-40B4-BE49-F238E27FC236}">
                <a16:creationId xmlns:a16="http://schemas.microsoft.com/office/drawing/2014/main" id="{5D039C75-9678-5F00-D6D1-823BCE48EB53}"/>
              </a:ext>
            </a:extLst>
          </p:cNvPr>
          <p:cNvSpPr>
            <a:spLocks noGrp="1"/>
          </p:cNvSpPr>
          <p:nvPr>
            <p:ph idx="1"/>
          </p:nvPr>
        </p:nvSpPr>
        <p:spPr>
          <a:xfrm>
            <a:off x="838200" y="1153596"/>
            <a:ext cx="10515600" cy="4351338"/>
          </a:xfrm>
        </p:spPr>
        <p:txBody>
          <a:bodyPr/>
          <a:lstStyle/>
          <a:p>
            <a:r>
              <a:rPr lang="en-US" dirty="0"/>
              <a:t>ER Model consists of Entities, Attributes, and Relationships among Entities in a Database System.</a:t>
            </a:r>
            <a:endParaRPr lang="en-IN" dirty="0"/>
          </a:p>
        </p:txBody>
      </p:sp>
      <p:sp>
        <p:nvSpPr>
          <p:cNvPr id="4" name="AutoShape 2" descr="Components of ER Diagram">
            <a:extLst>
              <a:ext uri="{FF2B5EF4-FFF2-40B4-BE49-F238E27FC236}">
                <a16:creationId xmlns:a16="http://schemas.microsoft.com/office/drawing/2014/main" id="{3CFC1B52-E64D-AF3F-9F30-9E0040C31B9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D825DED3-6C31-F9FD-32D5-2C884320E22E}"/>
              </a:ext>
            </a:extLst>
          </p:cNvPr>
          <p:cNvPicPr>
            <a:picLocks noChangeAspect="1"/>
          </p:cNvPicPr>
          <p:nvPr/>
        </p:nvPicPr>
        <p:blipFill>
          <a:blip r:embed="rId2"/>
          <a:stretch>
            <a:fillRect/>
          </a:stretch>
        </p:blipFill>
        <p:spPr>
          <a:xfrm>
            <a:off x="1590479" y="2429066"/>
            <a:ext cx="9315842" cy="3663261"/>
          </a:xfrm>
          <a:prstGeom prst="rect">
            <a:avLst/>
          </a:prstGeom>
        </p:spPr>
      </p:pic>
    </p:spTree>
    <p:extLst>
      <p:ext uri="{BB962C8B-B14F-4D97-AF65-F5344CB8AC3E}">
        <p14:creationId xmlns:p14="http://schemas.microsoft.com/office/powerpoint/2010/main" val="36431540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EE2574-6643-2D29-82E6-C48D082B7427}"/>
              </a:ext>
            </a:extLst>
          </p:cNvPr>
          <p:cNvSpPr>
            <a:spLocks noGrp="1"/>
          </p:cNvSpPr>
          <p:nvPr>
            <p:ph idx="1"/>
          </p:nvPr>
        </p:nvSpPr>
        <p:spPr>
          <a:xfrm>
            <a:off x="595829" y="1098512"/>
            <a:ext cx="9010879" cy="4351338"/>
          </a:xfrm>
        </p:spPr>
        <p:txBody>
          <a:bodyPr/>
          <a:lstStyle/>
          <a:p>
            <a:pPr marL="0" indent="0">
              <a:buNone/>
            </a:pPr>
            <a:r>
              <a:rPr lang="en-US" b="1" dirty="0"/>
              <a:t>What is Entity?</a:t>
            </a:r>
          </a:p>
          <a:p>
            <a:pPr algn="just"/>
            <a:r>
              <a:rPr lang="en-US" dirty="0"/>
              <a:t>An Entity may be an object with a physical existence – a particular person, car, house, or employee – or it may be an object with a conceptual existence – a company, a job, or a university course.</a:t>
            </a:r>
          </a:p>
          <a:p>
            <a:pPr marL="0" indent="0" algn="just">
              <a:buNone/>
            </a:pPr>
            <a:r>
              <a:rPr lang="en-US" b="1" dirty="0"/>
              <a:t>What is Entity Set?</a:t>
            </a:r>
          </a:p>
          <a:p>
            <a:pPr algn="just"/>
            <a:r>
              <a:rPr lang="en-US" dirty="0"/>
              <a:t>An Entity is an object of Entity Type and a set of all entities is called an entity set. For Example, E1 is an entity having Entity Type Student and the set of all students is called Entity Set. In ER diagram, Entity Type is represented as:</a:t>
            </a:r>
            <a:endParaRPr lang="en-IN" dirty="0"/>
          </a:p>
        </p:txBody>
      </p:sp>
      <p:pic>
        <p:nvPicPr>
          <p:cNvPr id="4" name="Content Placeholder 3">
            <a:extLst>
              <a:ext uri="{FF2B5EF4-FFF2-40B4-BE49-F238E27FC236}">
                <a16:creationId xmlns:a16="http://schemas.microsoft.com/office/drawing/2014/main" id="{2680FB6B-7E77-A230-1CD8-038B52D849E1}"/>
              </a:ext>
            </a:extLst>
          </p:cNvPr>
          <p:cNvPicPr>
            <a:picLocks noChangeAspect="1"/>
          </p:cNvPicPr>
          <p:nvPr/>
        </p:nvPicPr>
        <p:blipFill>
          <a:blip r:embed="rId2"/>
          <a:stretch>
            <a:fillRect/>
          </a:stretch>
        </p:blipFill>
        <p:spPr>
          <a:xfrm>
            <a:off x="9606708" y="1207256"/>
            <a:ext cx="2352675" cy="4133850"/>
          </a:xfrm>
          <a:prstGeom prst="rect">
            <a:avLst/>
          </a:prstGeom>
        </p:spPr>
      </p:pic>
    </p:spTree>
    <p:extLst>
      <p:ext uri="{BB962C8B-B14F-4D97-AF65-F5344CB8AC3E}">
        <p14:creationId xmlns:p14="http://schemas.microsoft.com/office/powerpoint/2010/main" val="784912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5A62E8F3-4CF9-A155-590F-873CB5C46C05}"/>
              </a:ext>
            </a:extLst>
          </p:cNvPr>
          <p:cNvSpPr>
            <a:spLocks noGrp="1"/>
          </p:cNvSpPr>
          <p:nvPr>
            <p:ph idx="1"/>
          </p:nvPr>
        </p:nvSpPr>
        <p:spPr>
          <a:xfrm>
            <a:off x="594911" y="782198"/>
            <a:ext cx="10758889" cy="5394765"/>
          </a:xfrm>
        </p:spPr>
        <p:txBody>
          <a:bodyPr>
            <a:normAutofit lnSpcReduction="10000"/>
          </a:bodyPr>
          <a:lstStyle/>
          <a:p>
            <a:pPr marL="0" indent="0">
              <a:buNone/>
            </a:pPr>
            <a:r>
              <a:rPr lang="en-US" b="1" dirty="0"/>
              <a:t>Types of Entity</a:t>
            </a:r>
          </a:p>
          <a:p>
            <a:pPr marL="0" indent="0">
              <a:buNone/>
            </a:pPr>
            <a:r>
              <a:rPr lang="en-US" dirty="0"/>
              <a:t>There are two types of entity:</a:t>
            </a:r>
          </a:p>
          <a:p>
            <a:pPr marL="0" indent="0">
              <a:buNone/>
            </a:pPr>
            <a:r>
              <a:rPr lang="en-US" b="1" dirty="0"/>
              <a:t>1. Strong Entity</a:t>
            </a:r>
          </a:p>
          <a:p>
            <a:r>
              <a:rPr lang="en-US" dirty="0"/>
              <a:t>A Strong Entity is a type of entity that has a key Attribute. Strong Entity does not depend on other Entity in the Schema. It has a primary key, that helps in identifying it uniquely, and it is represented by a rectangle. These are called Strong Entity Types.</a:t>
            </a:r>
          </a:p>
          <a:p>
            <a:endParaRPr lang="en-US" dirty="0"/>
          </a:p>
          <a:p>
            <a:pPr marL="0" indent="0">
              <a:buNone/>
            </a:pPr>
            <a:r>
              <a:rPr lang="en-US" b="1" dirty="0"/>
              <a:t>2. Weak Entity</a:t>
            </a:r>
          </a:p>
          <a:p>
            <a:r>
              <a:rPr lang="en-US" dirty="0"/>
              <a:t>An Entity type has a key attribute that uniquely identifies each entity in the entity set. But some entity type exists for which key attributes can’t be defined. These are called Weak Entity types .</a:t>
            </a:r>
            <a:endParaRPr lang="en-IN" dirty="0"/>
          </a:p>
        </p:txBody>
      </p:sp>
    </p:spTree>
    <p:extLst>
      <p:ext uri="{BB962C8B-B14F-4D97-AF65-F5344CB8AC3E}">
        <p14:creationId xmlns:p14="http://schemas.microsoft.com/office/powerpoint/2010/main" val="2967530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724D39-D6BF-86DB-78DA-0C15D8AF6EB4}"/>
              </a:ext>
            </a:extLst>
          </p:cNvPr>
          <p:cNvSpPr>
            <a:spLocks noGrp="1"/>
          </p:cNvSpPr>
          <p:nvPr>
            <p:ph idx="1"/>
          </p:nvPr>
        </p:nvSpPr>
        <p:spPr>
          <a:xfrm>
            <a:off x="793213" y="341524"/>
            <a:ext cx="11038901" cy="5681204"/>
          </a:xfrm>
        </p:spPr>
        <p:txBody>
          <a:bodyPr/>
          <a:lstStyle/>
          <a:p>
            <a:pPr algn="just"/>
            <a:r>
              <a:rPr lang="en-US" dirty="0"/>
              <a:t>A weak entity type is represented by a Double Rectangle. The participation of weak entity types is always total. The relationship between the weak entity type and its identifying strong entity type is called identifying relationship and it is represented by a double diamond.</a:t>
            </a:r>
            <a:endParaRPr lang="en-IN" dirty="0"/>
          </a:p>
        </p:txBody>
      </p:sp>
      <p:pic>
        <p:nvPicPr>
          <p:cNvPr id="2050" name="Picture 2" descr="Strong Entity and Weak Entity">
            <a:extLst>
              <a:ext uri="{FF2B5EF4-FFF2-40B4-BE49-F238E27FC236}">
                <a16:creationId xmlns:a16="http://schemas.microsoft.com/office/drawing/2014/main" id="{08488CC4-6E78-91C6-586D-504171F628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0552" y="3129228"/>
            <a:ext cx="8149082" cy="1753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6653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22B1309-7A10-08B8-33A7-06459EFAA00E}"/>
              </a:ext>
            </a:extLst>
          </p:cNvPr>
          <p:cNvPicPr>
            <a:picLocks noGrp="1" noChangeAspect="1"/>
          </p:cNvPicPr>
          <p:nvPr>
            <p:ph idx="1"/>
          </p:nvPr>
        </p:nvPicPr>
        <p:blipFill>
          <a:blip r:embed="rId2"/>
          <a:stretch>
            <a:fillRect/>
          </a:stretch>
        </p:blipFill>
        <p:spPr>
          <a:xfrm>
            <a:off x="2063501" y="382651"/>
            <a:ext cx="7448550" cy="2819400"/>
          </a:xfrm>
          <a:prstGeom prst="rect">
            <a:avLst/>
          </a:prstGeom>
        </p:spPr>
      </p:pic>
      <p:pic>
        <p:nvPicPr>
          <p:cNvPr id="6" name="Picture 5">
            <a:extLst>
              <a:ext uri="{FF2B5EF4-FFF2-40B4-BE49-F238E27FC236}">
                <a16:creationId xmlns:a16="http://schemas.microsoft.com/office/drawing/2014/main" id="{D3FF5874-6BC7-573C-EEF2-C83975B2DB66}"/>
              </a:ext>
            </a:extLst>
          </p:cNvPr>
          <p:cNvPicPr>
            <a:picLocks noChangeAspect="1"/>
          </p:cNvPicPr>
          <p:nvPr/>
        </p:nvPicPr>
        <p:blipFill>
          <a:blip r:embed="rId3"/>
          <a:stretch>
            <a:fillRect/>
          </a:stretch>
        </p:blipFill>
        <p:spPr>
          <a:xfrm>
            <a:off x="1204782" y="3655950"/>
            <a:ext cx="9535856" cy="3048425"/>
          </a:xfrm>
          <a:prstGeom prst="rect">
            <a:avLst/>
          </a:prstGeom>
        </p:spPr>
      </p:pic>
    </p:spTree>
    <p:extLst>
      <p:ext uri="{BB962C8B-B14F-4D97-AF65-F5344CB8AC3E}">
        <p14:creationId xmlns:p14="http://schemas.microsoft.com/office/powerpoint/2010/main" val="4056804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1D5EC-E62E-38E1-0813-7BB3EDABC4CE}"/>
              </a:ext>
            </a:extLst>
          </p:cNvPr>
          <p:cNvSpPr>
            <a:spLocks noGrp="1"/>
          </p:cNvSpPr>
          <p:nvPr>
            <p:ph idx="1"/>
          </p:nvPr>
        </p:nvSpPr>
        <p:spPr>
          <a:xfrm>
            <a:off x="672029" y="637974"/>
            <a:ext cx="10626687" cy="5582052"/>
          </a:xfrm>
        </p:spPr>
        <p:txBody>
          <a:bodyPr>
            <a:normAutofit lnSpcReduction="10000"/>
          </a:bodyPr>
          <a:lstStyle/>
          <a:p>
            <a:pPr marL="0" indent="0" algn="just">
              <a:buNone/>
            </a:pPr>
            <a:r>
              <a:rPr lang="en-US" b="1" dirty="0"/>
              <a:t>What is Attributes?</a:t>
            </a:r>
          </a:p>
          <a:p>
            <a:pPr algn="just"/>
            <a:r>
              <a:rPr lang="en-US" dirty="0"/>
              <a:t>Attributes are the properties that define the entity type. For example, </a:t>
            </a:r>
            <a:r>
              <a:rPr lang="en-US" dirty="0" err="1"/>
              <a:t>Roll_No</a:t>
            </a:r>
            <a:r>
              <a:rPr lang="en-US" dirty="0"/>
              <a:t>, Name, DOB, Age, Address, and </a:t>
            </a:r>
            <a:r>
              <a:rPr lang="en-US" dirty="0" err="1"/>
              <a:t>Mobile_No</a:t>
            </a:r>
            <a:r>
              <a:rPr lang="en-US" dirty="0"/>
              <a:t> are the attributes that define entity type Student. In ER diagram, the attribute is represented by an oval.</a:t>
            </a:r>
          </a:p>
          <a:p>
            <a:pPr algn="just"/>
            <a:endParaRPr lang="en-US" dirty="0"/>
          </a:p>
          <a:p>
            <a:pPr marL="0" indent="0" algn="just">
              <a:buNone/>
            </a:pPr>
            <a:endParaRPr lang="en-US" dirty="0"/>
          </a:p>
          <a:p>
            <a:pPr marL="0" indent="0" algn="just">
              <a:buNone/>
            </a:pPr>
            <a:r>
              <a:rPr lang="en-IN" b="1" i="0" dirty="0">
                <a:solidFill>
                  <a:srgbClr val="273239"/>
                </a:solidFill>
                <a:effectLst/>
              </a:rPr>
              <a:t>Types of Attributes</a:t>
            </a:r>
          </a:p>
          <a:p>
            <a:pPr marL="0" indent="0" algn="just">
              <a:buNone/>
            </a:pPr>
            <a:r>
              <a:rPr lang="en-US" b="1" i="0" dirty="0">
                <a:solidFill>
                  <a:srgbClr val="273239"/>
                </a:solidFill>
                <a:effectLst/>
              </a:rPr>
              <a:t>1. Key Attribute</a:t>
            </a:r>
          </a:p>
          <a:p>
            <a:pPr algn="just"/>
            <a:r>
              <a:rPr lang="en-US" i="0" dirty="0">
                <a:solidFill>
                  <a:srgbClr val="273239"/>
                </a:solidFill>
                <a:effectLst/>
              </a:rPr>
              <a:t>The attribute which uniquely identifies each entity in the entity set is called the key attribute. For example, </a:t>
            </a:r>
            <a:r>
              <a:rPr lang="en-US" i="0" dirty="0" err="1">
                <a:solidFill>
                  <a:srgbClr val="273239"/>
                </a:solidFill>
                <a:effectLst/>
              </a:rPr>
              <a:t>Roll_No</a:t>
            </a:r>
            <a:r>
              <a:rPr lang="en-US" i="0" dirty="0">
                <a:solidFill>
                  <a:srgbClr val="273239"/>
                </a:solidFill>
                <a:effectLst/>
              </a:rPr>
              <a:t> will be unique for each student. In ER diagram, the key attribute is represented by an oval with underlying lines.</a:t>
            </a:r>
          </a:p>
          <a:p>
            <a:endParaRPr lang="en-US" i="0" dirty="0">
              <a:solidFill>
                <a:srgbClr val="273239"/>
              </a:solidFill>
              <a:effectLst/>
              <a:latin typeface="Nunito" pitchFamily="2" charset="0"/>
            </a:endParaRPr>
          </a:p>
          <a:p>
            <a:endParaRPr lang="en-IN" b="1" i="0" dirty="0">
              <a:solidFill>
                <a:srgbClr val="273239"/>
              </a:solidFill>
              <a:effectLst/>
              <a:latin typeface="Nunito" pitchFamily="2" charset="0"/>
            </a:endParaRPr>
          </a:p>
          <a:p>
            <a:endParaRPr lang="en-IN" dirty="0"/>
          </a:p>
        </p:txBody>
      </p:sp>
      <p:pic>
        <p:nvPicPr>
          <p:cNvPr id="3074" name="Picture 2" descr="Attribute">
            <a:extLst>
              <a:ext uri="{FF2B5EF4-FFF2-40B4-BE49-F238E27FC236}">
                <a16:creationId xmlns:a16="http://schemas.microsoft.com/office/drawing/2014/main" id="{2B837B35-A153-B6E2-03E8-CCD0B34998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04659" y="2142894"/>
            <a:ext cx="2209800" cy="11620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D67D089-4E2B-E7F2-CAE3-67B2E978D277}"/>
              </a:ext>
            </a:extLst>
          </p:cNvPr>
          <p:cNvPicPr>
            <a:picLocks noChangeAspect="1"/>
          </p:cNvPicPr>
          <p:nvPr/>
        </p:nvPicPr>
        <p:blipFill>
          <a:blip r:embed="rId3"/>
          <a:stretch>
            <a:fillRect/>
          </a:stretch>
        </p:blipFill>
        <p:spPr>
          <a:xfrm>
            <a:off x="5121682" y="5637807"/>
            <a:ext cx="2213040" cy="1164437"/>
          </a:xfrm>
          <a:prstGeom prst="rect">
            <a:avLst/>
          </a:prstGeom>
        </p:spPr>
      </p:pic>
    </p:spTree>
    <p:extLst>
      <p:ext uri="{BB962C8B-B14F-4D97-AF65-F5344CB8AC3E}">
        <p14:creationId xmlns:p14="http://schemas.microsoft.com/office/powerpoint/2010/main" val="2454761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D28DCD-1DA5-161C-6D00-5D417B77CFDD}"/>
              </a:ext>
            </a:extLst>
          </p:cNvPr>
          <p:cNvSpPr>
            <a:spLocks noGrp="1"/>
          </p:cNvSpPr>
          <p:nvPr>
            <p:ph idx="1"/>
          </p:nvPr>
        </p:nvSpPr>
        <p:spPr>
          <a:xfrm>
            <a:off x="517793" y="319489"/>
            <a:ext cx="10836007" cy="5857474"/>
          </a:xfrm>
        </p:spPr>
        <p:txBody>
          <a:bodyPr>
            <a:normAutofit/>
          </a:bodyPr>
          <a:lstStyle/>
          <a:p>
            <a:endParaRPr lang="en-US" dirty="0"/>
          </a:p>
          <a:p>
            <a:pPr marL="0" indent="0">
              <a:buNone/>
            </a:pPr>
            <a:r>
              <a:rPr lang="en-US" b="1" dirty="0"/>
              <a:t>2. Composite Attribute</a:t>
            </a:r>
          </a:p>
          <a:p>
            <a:pPr algn="just"/>
            <a:r>
              <a:rPr lang="en-US" dirty="0"/>
              <a:t>An attribute composed of many other attributes is called a composite attribute. For example, the Address attribute of the student Entity type consists of Street, City, State, and Country. In ER diagram, the composite attribute is represented by an oval comprising of ovals.</a:t>
            </a:r>
          </a:p>
        </p:txBody>
      </p:sp>
      <p:pic>
        <p:nvPicPr>
          <p:cNvPr id="4098" name="Picture 2" descr="Composite Attribute">
            <a:extLst>
              <a:ext uri="{FF2B5EF4-FFF2-40B4-BE49-F238E27FC236}">
                <a16:creationId xmlns:a16="http://schemas.microsoft.com/office/drawing/2014/main" id="{77630107-2779-C600-031E-86C6DCF5BD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3975" y="3248226"/>
            <a:ext cx="9544050" cy="316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421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754C0C-86DA-A98C-EC74-23463BDD6472}"/>
              </a:ext>
            </a:extLst>
          </p:cNvPr>
          <p:cNvSpPr>
            <a:spLocks noGrp="1"/>
          </p:cNvSpPr>
          <p:nvPr>
            <p:ph idx="1"/>
          </p:nvPr>
        </p:nvSpPr>
        <p:spPr>
          <a:xfrm>
            <a:off x="638978" y="319489"/>
            <a:ext cx="10538552" cy="5409283"/>
          </a:xfrm>
        </p:spPr>
        <p:txBody>
          <a:bodyPr>
            <a:normAutofit lnSpcReduction="10000"/>
          </a:bodyPr>
          <a:lstStyle/>
          <a:p>
            <a:pPr marL="0" indent="0">
              <a:buNone/>
            </a:pPr>
            <a:r>
              <a:rPr lang="en-US" b="1" dirty="0"/>
              <a:t>3. Multivalued Attribute</a:t>
            </a:r>
          </a:p>
          <a:p>
            <a:r>
              <a:rPr lang="en-US" dirty="0"/>
              <a:t>An attribute consisting of more than one value for a given entity. For example, </a:t>
            </a:r>
            <a:r>
              <a:rPr lang="en-US" dirty="0" err="1"/>
              <a:t>Phone_No</a:t>
            </a:r>
            <a:r>
              <a:rPr lang="en-US" dirty="0"/>
              <a:t> (can be more than one for a given student). In ER diagram, a multivalued attribute is represented by a double oval.</a:t>
            </a:r>
          </a:p>
          <a:p>
            <a:endParaRPr lang="en-US" dirty="0"/>
          </a:p>
          <a:p>
            <a:endParaRPr lang="en-US" dirty="0"/>
          </a:p>
          <a:p>
            <a:pPr marL="0" indent="0">
              <a:buNone/>
            </a:pPr>
            <a:endParaRPr lang="en-US" dirty="0"/>
          </a:p>
          <a:p>
            <a:pPr marL="0" indent="0">
              <a:buNone/>
            </a:pPr>
            <a:r>
              <a:rPr lang="en-US" b="1" dirty="0"/>
              <a:t>4. Derived Attribute</a:t>
            </a:r>
          </a:p>
          <a:p>
            <a:r>
              <a:rPr lang="en-US" dirty="0"/>
              <a:t>An attribute that can be derived from other attributes of the entity type is known as a derived attribute. e.g.; Age (can be derived from DOB). In ER diagram, the derived attribute is represented by a dashed oval.</a:t>
            </a:r>
          </a:p>
          <a:p>
            <a:endParaRPr lang="en-US" dirty="0"/>
          </a:p>
          <a:p>
            <a:endParaRPr lang="en-US" dirty="0"/>
          </a:p>
          <a:p>
            <a:endParaRPr lang="en-US" dirty="0"/>
          </a:p>
          <a:p>
            <a:endParaRPr lang="en-IN" dirty="0"/>
          </a:p>
        </p:txBody>
      </p:sp>
      <p:pic>
        <p:nvPicPr>
          <p:cNvPr id="4" name="Picture 3">
            <a:extLst>
              <a:ext uri="{FF2B5EF4-FFF2-40B4-BE49-F238E27FC236}">
                <a16:creationId xmlns:a16="http://schemas.microsoft.com/office/drawing/2014/main" id="{5B35A61E-6C50-F4D3-BC34-19D7AA9D4ED5}"/>
              </a:ext>
            </a:extLst>
          </p:cNvPr>
          <p:cNvPicPr>
            <a:picLocks noChangeAspect="1"/>
          </p:cNvPicPr>
          <p:nvPr/>
        </p:nvPicPr>
        <p:blipFill>
          <a:blip r:embed="rId2"/>
          <a:stretch>
            <a:fillRect/>
          </a:stretch>
        </p:blipFill>
        <p:spPr>
          <a:xfrm>
            <a:off x="4895850" y="1970527"/>
            <a:ext cx="2400300" cy="1352550"/>
          </a:xfrm>
          <a:prstGeom prst="rect">
            <a:avLst/>
          </a:prstGeom>
        </p:spPr>
      </p:pic>
      <p:pic>
        <p:nvPicPr>
          <p:cNvPr id="8" name="Picture 7">
            <a:extLst>
              <a:ext uri="{FF2B5EF4-FFF2-40B4-BE49-F238E27FC236}">
                <a16:creationId xmlns:a16="http://schemas.microsoft.com/office/drawing/2014/main" id="{64637ADE-2F86-4CD1-6132-66F6A2F758AF}"/>
              </a:ext>
            </a:extLst>
          </p:cNvPr>
          <p:cNvPicPr>
            <a:picLocks noChangeAspect="1"/>
          </p:cNvPicPr>
          <p:nvPr/>
        </p:nvPicPr>
        <p:blipFill>
          <a:blip r:embed="rId3"/>
          <a:stretch>
            <a:fillRect/>
          </a:stretch>
        </p:blipFill>
        <p:spPr>
          <a:xfrm>
            <a:off x="4991100" y="5248507"/>
            <a:ext cx="2209800" cy="1162050"/>
          </a:xfrm>
          <a:prstGeom prst="rect">
            <a:avLst/>
          </a:prstGeom>
        </p:spPr>
      </p:pic>
    </p:spTree>
    <p:extLst>
      <p:ext uri="{BB962C8B-B14F-4D97-AF65-F5344CB8AC3E}">
        <p14:creationId xmlns:p14="http://schemas.microsoft.com/office/powerpoint/2010/main" val="4240193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565BCD-FF7A-2801-B6AD-E3193D07F63C}"/>
              </a:ext>
            </a:extLst>
          </p:cNvPr>
          <p:cNvSpPr>
            <a:spLocks noGrp="1"/>
          </p:cNvSpPr>
          <p:nvPr>
            <p:ph idx="1"/>
          </p:nvPr>
        </p:nvSpPr>
        <p:spPr>
          <a:xfrm>
            <a:off x="638978" y="627961"/>
            <a:ext cx="10714822" cy="5549002"/>
          </a:xfrm>
        </p:spPr>
        <p:txBody>
          <a:bodyPr/>
          <a:lstStyle/>
          <a:p>
            <a:pPr algn="just"/>
            <a:r>
              <a:rPr lang="en-US" dirty="0"/>
              <a:t>The Complete Entity Type Student with its Attributes can be represented as:</a:t>
            </a:r>
            <a:endParaRPr lang="en-IN" dirty="0"/>
          </a:p>
        </p:txBody>
      </p:sp>
      <p:pic>
        <p:nvPicPr>
          <p:cNvPr id="4" name="Picture 3">
            <a:extLst>
              <a:ext uri="{FF2B5EF4-FFF2-40B4-BE49-F238E27FC236}">
                <a16:creationId xmlns:a16="http://schemas.microsoft.com/office/drawing/2014/main" id="{D7129268-9D17-C39C-5451-05C1313125D2}"/>
              </a:ext>
            </a:extLst>
          </p:cNvPr>
          <p:cNvPicPr>
            <a:picLocks noChangeAspect="1"/>
          </p:cNvPicPr>
          <p:nvPr/>
        </p:nvPicPr>
        <p:blipFill>
          <a:blip r:embed="rId2"/>
          <a:stretch>
            <a:fillRect/>
          </a:stretch>
        </p:blipFill>
        <p:spPr>
          <a:xfrm>
            <a:off x="2423711" y="1510488"/>
            <a:ext cx="7625163" cy="5170487"/>
          </a:xfrm>
          <a:prstGeom prst="rect">
            <a:avLst/>
          </a:prstGeom>
        </p:spPr>
      </p:pic>
    </p:spTree>
    <p:extLst>
      <p:ext uri="{BB962C8B-B14F-4D97-AF65-F5344CB8AC3E}">
        <p14:creationId xmlns:p14="http://schemas.microsoft.com/office/powerpoint/2010/main" val="4242621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DCE633-6608-F2CC-0871-4A25D50C6809}"/>
              </a:ext>
            </a:extLst>
          </p:cNvPr>
          <p:cNvSpPr>
            <a:spLocks noGrp="1"/>
          </p:cNvSpPr>
          <p:nvPr>
            <p:ph idx="1"/>
          </p:nvPr>
        </p:nvSpPr>
        <p:spPr>
          <a:xfrm>
            <a:off x="705080" y="727113"/>
            <a:ext cx="10648720" cy="5449850"/>
          </a:xfrm>
        </p:spPr>
        <p:txBody>
          <a:bodyPr/>
          <a:lstStyle/>
          <a:p>
            <a:pPr marL="0" indent="0">
              <a:buNone/>
            </a:pPr>
            <a:r>
              <a:rPr lang="en-US" b="1" dirty="0"/>
              <a:t>Relationship Type and Relationship Set</a:t>
            </a:r>
          </a:p>
          <a:p>
            <a:pPr algn="just"/>
            <a:r>
              <a:rPr lang="en-US" dirty="0"/>
              <a:t>A Relationship Type represents the association between entity types. For example, ‘Enrolled in’ is a relationship type that exists between entity type Student and Course. In ER diagram, the relationship type is represented by a diamond and connecting the entities with lines.</a:t>
            </a:r>
          </a:p>
          <a:p>
            <a:pPr algn="just"/>
            <a:endParaRPr lang="en-US" dirty="0"/>
          </a:p>
          <a:p>
            <a:pPr algn="just"/>
            <a:endParaRPr lang="en-US" dirty="0"/>
          </a:p>
          <a:p>
            <a:pPr algn="just"/>
            <a:endParaRPr lang="en-US" dirty="0"/>
          </a:p>
          <a:p>
            <a:pPr algn="just"/>
            <a:endParaRPr lang="en-US" dirty="0"/>
          </a:p>
          <a:p>
            <a:pPr algn="just"/>
            <a:r>
              <a:rPr lang="en-US" dirty="0"/>
              <a:t>A set of relationships of the same type is known as a relationship set. </a:t>
            </a:r>
            <a:endParaRPr lang="en-IN" dirty="0"/>
          </a:p>
        </p:txBody>
      </p:sp>
      <p:pic>
        <p:nvPicPr>
          <p:cNvPr id="4" name="Picture 3">
            <a:extLst>
              <a:ext uri="{FF2B5EF4-FFF2-40B4-BE49-F238E27FC236}">
                <a16:creationId xmlns:a16="http://schemas.microsoft.com/office/drawing/2014/main" id="{383F9737-E68C-75F3-9AF4-F814EB956927}"/>
              </a:ext>
            </a:extLst>
          </p:cNvPr>
          <p:cNvPicPr>
            <a:picLocks noChangeAspect="1"/>
          </p:cNvPicPr>
          <p:nvPr/>
        </p:nvPicPr>
        <p:blipFill>
          <a:blip r:embed="rId2"/>
          <a:stretch>
            <a:fillRect/>
          </a:stretch>
        </p:blipFill>
        <p:spPr>
          <a:xfrm>
            <a:off x="1943100" y="3252384"/>
            <a:ext cx="8305800" cy="1543050"/>
          </a:xfrm>
          <a:prstGeom prst="rect">
            <a:avLst/>
          </a:prstGeom>
        </p:spPr>
      </p:pic>
    </p:spTree>
    <p:extLst>
      <p:ext uri="{BB962C8B-B14F-4D97-AF65-F5344CB8AC3E}">
        <p14:creationId xmlns:p14="http://schemas.microsoft.com/office/powerpoint/2010/main" val="3823881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5585FD-D25E-A332-3877-9D85BFCF2D8A}"/>
              </a:ext>
            </a:extLst>
          </p:cNvPr>
          <p:cNvSpPr>
            <a:spLocks noGrp="1"/>
          </p:cNvSpPr>
          <p:nvPr>
            <p:ph idx="1"/>
          </p:nvPr>
        </p:nvSpPr>
        <p:spPr>
          <a:xfrm>
            <a:off x="683046" y="385590"/>
            <a:ext cx="10670754" cy="5791373"/>
          </a:xfrm>
        </p:spPr>
        <p:txBody>
          <a:bodyPr/>
          <a:lstStyle/>
          <a:p>
            <a:pPr marL="0" indent="0" algn="just">
              <a:buNone/>
            </a:pPr>
            <a:r>
              <a:rPr lang="en-US" b="1" dirty="0"/>
              <a:t>Degree of a Relationship Set</a:t>
            </a:r>
          </a:p>
          <a:p>
            <a:pPr algn="just"/>
            <a:r>
              <a:rPr lang="en-US" dirty="0"/>
              <a:t>The number of different entity sets participating in a relationship set is called the degree of a relationship set.</a:t>
            </a:r>
          </a:p>
          <a:p>
            <a:pPr algn="just"/>
            <a:endParaRPr lang="en-US" dirty="0"/>
          </a:p>
          <a:p>
            <a:pPr marL="514350" indent="-514350" algn="just">
              <a:buAutoNum type="arabicPeriod"/>
            </a:pPr>
            <a:r>
              <a:rPr lang="en-US" b="1" dirty="0"/>
              <a:t>Unary Relationship: </a:t>
            </a:r>
          </a:p>
          <a:p>
            <a:pPr marL="0" indent="0" algn="just">
              <a:buNone/>
            </a:pPr>
            <a:r>
              <a:rPr lang="en-US" dirty="0"/>
              <a:t>When there is only ONE entity set participating in a relation, the relationship is called a unary relationship. For example, one person is married to only one person.</a:t>
            </a:r>
            <a:endParaRPr lang="en-IN" dirty="0"/>
          </a:p>
        </p:txBody>
      </p:sp>
      <p:pic>
        <p:nvPicPr>
          <p:cNvPr id="4" name="Picture 3">
            <a:extLst>
              <a:ext uri="{FF2B5EF4-FFF2-40B4-BE49-F238E27FC236}">
                <a16:creationId xmlns:a16="http://schemas.microsoft.com/office/drawing/2014/main" id="{42F42774-4B02-5213-A1EA-44B47BB04338}"/>
              </a:ext>
            </a:extLst>
          </p:cNvPr>
          <p:cNvPicPr>
            <a:picLocks noChangeAspect="1"/>
          </p:cNvPicPr>
          <p:nvPr/>
        </p:nvPicPr>
        <p:blipFill>
          <a:blip r:embed="rId2"/>
          <a:stretch>
            <a:fillRect/>
          </a:stretch>
        </p:blipFill>
        <p:spPr>
          <a:xfrm>
            <a:off x="3324225" y="4409507"/>
            <a:ext cx="5543550" cy="1828800"/>
          </a:xfrm>
          <a:prstGeom prst="rect">
            <a:avLst/>
          </a:prstGeom>
        </p:spPr>
      </p:pic>
    </p:spTree>
    <p:extLst>
      <p:ext uri="{BB962C8B-B14F-4D97-AF65-F5344CB8AC3E}">
        <p14:creationId xmlns:p14="http://schemas.microsoft.com/office/powerpoint/2010/main" val="2641538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5D019E-7A7A-226D-048F-9F3C666C5AFC}"/>
              </a:ext>
            </a:extLst>
          </p:cNvPr>
          <p:cNvSpPr>
            <a:spLocks noGrp="1"/>
          </p:cNvSpPr>
          <p:nvPr>
            <p:ph idx="1"/>
          </p:nvPr>
        </p:nvSpPr>
        <p:spPr>
          <a:xfrm>
            <a:off x="815248" y="694063"/>
            <a:ext cx="10538552" cy="5482900"/>
          </a:xfrm>
        </p:spPr>
        <p:txBody>
          <a:bodyPr>
            <a:normAutofit lnSpcReduction="10000"/>
          </a:bodyPr>
          <a:lstStyle/>
          <a:p>
            <a:pPr marL="0" indent="0">
              <a:buNone/>
            </a:pPr>
            <a:r>
              <a:rPr lang="en-US" b="1" dirty="0"/>
              <a:t>2. Binary Relationship:</a:t>
            </a:r>
            <a:r>
              <a:rPr lang="en-US" dirty="0"/>
              <a:t> When there are TWO entities set participating in a relationship, the relationship is called a binary relationship. For example, a Student is enrolled in a Course.</a:t>
            </a:r>
          </a:p>
          <a:p>
            <a:endParaRPr lang="en-US" dirty="0"/>
          </a:p>
          <a:p>
            <a:endParaRPr lang="en-US" dirty="0"/>
          </a:p>
          <a:p>
            <a:endParaRPr lang="en-US" dirty="0"/>
          </a:p>
          <a:p>
            <a:endParaRPr lang="en-US" dirty="0"/>
          </a:p>
          <a:p>
            <a:pPr marL="0" indent="0">
              <a:buNone/>
            </a:pPr>
            <a:r>
              <a:rPr lang="en-US" b="1" dirty="0"/>
              <a:t>3. Ternary Relationship: </a:t>
            </a:r>
            <a:r>
              <a:rPr lang="en-US" dirty="0"/>
              <a:t>When there are three entity sets participating in a relationship, the relationship is called a ternary relationship.</a:t>
            </a:r>
          </a:p>
          <a:p>
            <a:endParaRPr lang="en-US" dirty="0"/>
          </a:p>
          <a:p>
            <a:pPr marL="0" indent="0">
              <a:buNone/>
            </a:pPr>
            <a:r>
              <a:rPr lang="en-US" b="1" dirty="0"/>
              <a:t>4. N-</a:t>
            </a:r>
            <a:r>
              <a:rPr lang="en-US" b="1" dirty="0" err="1"/>
              <a:t>ary</a:t>
            </a:r>
            <a:r>
              <a:rPr lang="en-US" b="1" dirty="0"/>
              <a:t> Relationship: </a:t>
            </a:r>
            <a:r>
              <a:rPr lang="en-US" dirty="0"/>
              <a:t>When there are n entities set participating in a relationship, the relationship is called an n-</a:t>
            </a:r>
            <a:r>
              <a:rPr lang="en-US" dirty="0" err="1"/>
              <a:t>ary</a:t>
            </a:r>
            <a:r>
              <a:rPr lang="en-US" dirty="0"/>
              <a:t> relationship.</a:t>
            </a:r>
            <a:endParaRPr lang="en-IN" dirty="0"/>
          </a:p>
        </p:txBody>
      </p:sp>
      <p:pic>
        <p:nvPicPr>
          <p:cNvPr id="4" name="Picture 3">
            <a:extLst>
              <a:ext uri="{FF2B5EF4-FFF2-40B4-BE49-F238E27FC236}">
                <a16:creationId xmlns:a16="http://schemas.microsoft.com/office/drawing/2014/main" id="{C603B780-1D5C-5B79-A79F-36CD7F78C03D}"/>
              </a:ext>
            </a:extLst>
          </p:cNvPr>
          <p:cNvPicPr>
            <a:picLocks noChangeAspect="1"/>
          </p:cNvPicPr>
          <p:nvPr/>
        </p:nvPicPr>
        <p:blipFill>
          <a:blip r:embed="rId2"/>
          <a:stretch>
            <a:fillRect/>
          </a:stretch>
        </p:blipFill>
        <p:spPr>
          <a:xfrm>
            <a:off x="1943100" y="2249850"/>
            <a:ext cx="8305800" cy="1543050"/>
          </a:xfrm>
          <a:prstGeom prst="rect">
            <a:avLst/>
          </a:prstGeom>
        </p:spPr>
      </p:pic>
    </p:spTree>
    <p:extLst>
      <p:ext uri="{BB962C8B-B14F-4D97-AF65-F5344CB8AC3E}">
        <p14:creationId xmlns:p14="http://schemas.microsoft.com/office/powerpoint/2010/main" val="1089878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B50954-8AEC-9C1F-9457-3F1865B7B817}"/>
              </a:ext>
            </a:extLst>
          </p:cNvPr>
          <p:cNvSpPr>
            <a:spLocks noGrp="1"/>
          </p:cNvSpPr>
          <p:nvPr>
            <p:ph idx="1"/>
          </p:nvPr>
        </p:nvSpPr>
        <p:spPr>
          <a:xfrm>
            <a:off x="738130" y="550843"/>
            <a:ext cx="10615670" cy="5626120"/>
          </a:xfrm>
        </p:spPr>
        <p:txBody>
          <a:bodyPr>
            <a:normAutofit/>
          </a:bodyPr>
          <a:lstStyle/>
          <a:p>
            <a:pPr marL="0" indent="0" algn="just">
              <a:buNone/>
            </a:pPr>
            <a:r>
              <a:rPr lang="en-US" b="1" dirty="0"/>
              <a:t>What is Cardinality?</a:t>
            </a:r>
          </a:p>
          <a:p>
            <a:pPr algn="just"/>
            <a:r>
              <a:rPr lang="en-US" dirty="0"/>
              <a:t>The number of times an entity of an entity set participates in a relationship set is known as cardinality . Cardinality can be of different types:</a:t>
            </a:r>
          </a:p>
          <a:p>
            <a:pPr marL="514350" indent="-514350" algn="just">
              <a:buAutoNum type="arabicPeriod"/>
            </a:pPr>
            <a:r>
              <a:rPr lang="en-US" b="1" dirty="0"/>
              <a:t>One-to-One: </a:t>
            </a:r>
          </a:p>
          <a:p>
            <a:pPr marL="0" indent="0" algn="just">
              <a:buNone/>
            </a:pPr>
            <a:r>
              <a:rPr lang="en-US" dirty="0"/>
              <a:t>When each entity in each entity set can take part only once in the relationship, the cardinality is one-to-one. Let us assume that a male can marry one female and a female can marry one male. So the relationship will be one-to-one. Total number of tables that can be used in this is 2.</a:t>
            </a:r>
            <a:endParaRPr lang="en-IN" dirty="0"/>
          </a:p>
        </p:txBody>
      </p:sp>
      <p:pic>
        <p:nvPicPr>
          <p:cNvPr id="4" name="Picture 3">
            <a:extLst>
              <a:ext uri="{FF2B5EF4-FFF2-40B4-BE49-F238E27FC236}">
                <a16:creationId xmlns:a16="http://schemas.microsoft.com/office/drawing/2014/main" id="{BBF2621B-0D3B-598E-26B9-CF145A1EEDA1}"/>
              </a:ext>
            </a:extLst>
          </p:cNvPr>
          <p:cNvPicPr>
            <a:picLocks noChangeAspect="1"/>
          </p:cNvPicPr>
          <p:nvPr/>
        </p:nvPicPr>
        <p:blipFill>
          <a:blip r:embed="rId2"/>
          <a:srcRect l="8897" t="23301" r="8718" b="25703"/>
          <a:stretch/>
        </p:blipFill>
        <p:spPr>
          <a:xfrm>
            <a:off x="2721166" y="5012680"/>
            <a:ext cx="6764358" cy="1520328"/>
          </a:xfrm>
          <a:prstGeom prst="rect">
            <a:avLst/>
          </a:prstGeom>
        </p:spPr>
      </p:pic>
    </p:spTree>
    <p:extLst>
      <p:ext uri="{BB962C8B-B14F-4D97-AF65-F5344CB8AC3E}">
        <p14:creationId xmlns:p14="http://schemas.microsoft.com/office/powerpoint/2010/main" val="3857352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BBBBA7-489B-C4C9-36E1-EFAF503E02EB}"/>
              </a:ext>
            </a:extLst>
          </p:cNvPr>
          <p:cNvSpPr>
            <a:spLocks noGrp="1"/>
          </p:cNvSpPr>
          <p:nvPr>
            <p:ph idx="1"/>
          </p:nvPr>
        </p:nvSpPr>
        <p:spPr>
          <a:xfrm>
            <a:off x="804231" y="528810"/>
            <a:ext cx="10549569" cy="5648153"/>
          </a:xfrm>
        </p:spPr>
        <p:txBody>
          <a:bodyPr/>
          <a:lstStyle/>
          <a:p>
            <a:r>
              <a:rPr lang="en-US" dirty="0"/>
              <a:t>Using Sets, it can be represented as:</a:t>
            </a:r>
            <a:endParaRPr lang="en-IN" dirty="0"/>
          </a:p>
        </p:txBody>
      </p:sp>
      <p:pic>
        <p:nvPicPr>
          <p:cNvPr id="4" name="Picture 3">
            <a:extLst>
              <a:ext uri="{FF2B5EF4-FFF2-40B4-BE49-F238E27FC236}">
                <a16:creationId xmlns:a16="http://schemas.microsoft.com/office/drawing/2014/main" id="{D2EBD01A-63FF-4CDC-DAA6-5B707CF5EB95}"/>
              </a:ext>
            </a:extLst>
          </p:cNvPr>
          <p:cNvPicPr>
            <a:picLocks noChangeAspect="1"/>
          </p:cNvPicPr>
          <p:nvPr/>
        </p:nvPicPr>
        <p:blipFill>
          <a:blip r:embed="rId2"/>
          <a:stretch>
            <a:fillRect/>
          </a:stretch>
        </p:blipFill>
        <p:spPr>
          <a:xfrm>
            <a:off x="4484586" y="1220404"/>
            <a:ext cx="2806801" cy="3142275"/>
          </a:xfrm>
          <a:prstGeom prst="rect">
            <a:avLst/>
          </a:prstGeom>
        </p:spPr>
      </p:pic>
    </p:spTree>
    <p:extLst>
      <p:ext uri="{BB962C8B-B14F-4D97-AF65-F5344CB8AC3E}">
        <p14:creationId xmlns:p14="http://schemas.microsoft.com/office/powerpoint/2010/main" val="3592290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AB7F6F-62D3-F98F-247A-03B9A5984375}"/>
              </a:ext>
            </a:extLst>
          </p:cNvPr>
          <p:cNvSpPr>
            <a:spLocks noGrp="1"/>
          </p:cNvSpPr>
          <p:nvPr>
            <p:ph idx="1"/>
          </p:nvPr>
        </p:nvSpPr>
        <p:spPr>
          <a:xfrm>
            <a:off x="859316" y="605928"/>
            <a:ext cx="10494484" cy="5571035"/>
          </a:xfrm>
        </p:spPr>
        <p:txBody>
          <a:bodyPr/>
          <a:lstStyle/>
          <a:p>
            <a:pPr marL="0" indent="0" algn="just">
              <a:buNone/>
            </a:pPr>
            <a:r>
              <a:rPr lang="en-US" b="1" dirty="0"/>
              <a:t>2. One-to-Many: </a:t>
            </a:r>
            <a:r>
              <a:rPr lang="en-US" dirty="0"/>
              <a:t>In one-to-many mapping as well where each entity can be related to more than one entity and the total number of tables that can be used in this is 2. Let us assume that one surgeon department can accommodate many doctors. So the Cardinality will be 1 to M. It means one department has many Doctors. Total number of tables that can used is 3.</a:t>
            </a:r>
          </a:p>
          <a:p>
            <a:endParaRPr lang="en-US" dirty="0"/>
          </a:p>
          <a:p>
            <a:endParaRPr lang="en-IN" dirty="0"/>
          </a:p>
        </p:txBody>
      </p:sp>
      <p:pic>
        <p:nvPicPr>
          <p:cNvPr id="4" name="Picture 3">
            <a:extLst>
              <a:ext uri="{FF2B5EF4-FFF2-40B4-BE49-F238E27FC236}">
                <a16:creationId xmlns:a16="http://schemas.microsoft.com/office/drawing/2014/main" id="{63BAB619-AD9A-4E38-6F85-B9A287476C17}"/>
              </a:ext>
            </a:extLst>
          </p:cNvPr>
          <p:cNvPicPr>
            <a:picLocks noChangeAspect="1"/>
          </p:cNvPicPr>
          <p:nvPr/>
        </p:nvPicPr>
        <p:blipFill>
          <a:blip r:embed="rId2"/>
          <a:srcRect l="9258" t="24779" r="9925" b="26444"/>
          <a:stretch/>
        </p:blipFill>
        <p:spPr>
          <a:xfrm>
            <a:off x="734802" y="4098275"/>
            <a:ext cx="6635482" cy="1454226"/>
          </a:xfrm>
          <a:prstGeom prst="rect">
            <a:avLst/>
          </a:prstGeom>
        </p:spPr>
      </p:pic>
      <p:pic>
        <p:nvPicPr>
          <p:cNvPr id="5" name="Picture 4">
            <a:extLst>
              <a:ext uri="{FF2B5EF4-FFF2-40B4-BE49-F238E27FC236}">
                <a16:creationId xmlns:a16="http://schemas.microsoft.com/office/drawing/2014/main" id="{78F72DC8-8947-4598-4B5E-2E0D7A2EE129}"/>
              </a:ext>
            </a:extLst>
          </p:cNvPr>
          <p:cNvPicPr>
            <a:picLocks noChangeAspect="1"/>
          </p:cNvPicPr>
          <p:nvPr/>
        </p:nvPicPr>
        <p:blipFill>
          <a:blip r:embed="rId3"/>
          <a:stretch>
            <a:fillRect/>
          </a:stretch>
        </p:blipFill>
        <p:spPr>
          <a:xfrm>
            <a:off x="8308199" y="2857642"/>
            <a:ext cx="3325613" cy="3737029"/>
          </a:xfrm>
          <a:prstGeom prst="rect">
            <a:avLst/>
          </a:prstGeom>
        </p:spPr>
      </p:pic>
    </p:spTree>
    <p:extLst>
      <p:ext uri="{BB962C8B-B14F-4D97-AF65-F5344CB8AC3E}">
        <p14:creationId xmlns:p14="http://schemas.microsoft.com/office/powerpoint/2010/main" val="169398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8AC1B4-7E26-A4E8-9DBF-14BC1B1E8242}"/>
              </a:ext>
            </a:extLst>
          </p:cNvPr>
          <p:cNvSpPr>
            <a:spLocks noGrp="1"/>
          </p:cNvSpPr>
          <p:nvPr>
            <p:ph idx="1"/>
          </p:nvPr>
        </p:nvSpPr>
        <p:spPr>
          <a:xfrm>
            <a:off x="815248" y="451692"/>
            <a:ext cx="10538552" cy="5725271"/>
          </a:xfrm>
        </p:spPr>
        <p:txBody>
          <a:bodyPr/>
          <a:lstStyle/>
          <a:p>
            <a:pPr marL="0" indent="0">
              <a:buNone/>
            </a:pPr>
            <a:r>
              <a:rPr lang="en-US" b="1" dirty="0"/>
              <a:t>3. Many-to-One: </a:t>
            </a:r>
            <a:r>
              <a:rPr lang="en-US" dirty="0"/>
              <a:t>When entities in one entity set can take part only once in the relationship set and entities in other entity sets can take part more than once in the relationship set, cardinality is many to one. Let us assume that a student can take only one course but one course can be taken by many students. So the cardinality will be n to 1. It means that for one course there can be n students but for one student, there will be only one course.</a:t>
            </a:r>
            <a:endParaRPr lang="en-IN" dirty="0"/>
          </a:p>
        </p:txBody>
      </p:sp>
      <p:pic>
        <p:nvPicPr>
          <p:cNvPr id="4" name="Picture 3">
            <a:extLst>
              <a:ext uri="{FF2B5EF4-FFF2-40B4-BE49-F238E27FC236}">
                <a16:creationId xmlns:a16="http://schemas.microsoft.com/office/drawing/2014/main" id="{40BA3817-6240-5C6D-28D6-92571F879778}"/>
              </a:ext>
            </a:extLst>
          </p:cNvPr>
          <p:cNvPicPr>
            <a:picLocks noChangeAspect="1"/>
          </p:cNvPicPr>
          <p:nvPr/>
        </p:nvPicPr>
        <p:blipFill>
          <a:blip r:embed="rId2"/>
          <a:srcRect l="9165" t="22932" r="8852" b="23486"/>
          <a:stretch/>
        </p:blipFill>
        <p:spPr>
          <a:xfrm>
            <a:off x="473722" y="3569464"/>
            <a:ext cx="6731307" cy="1597446"/>
          </a:xfrm>
          <a:prstGeom prst="rect">
            <a:avLst/>
          </a:prstGeom>
        </p:spPr>
      </p:pic>
      <p:pic>
        <p:nvPicPr>
          <p:cNvPr id="5" name="Picture 4">
            <a:extLst>
              <a:ext uri="{FF2B5EF4-FFF2-40B4-BE49-F238E27FC236}">
                <a16:creationId xmlns:a16="http://schemas.microsoft.com/office/drawing/2014/main" id="{880032A6-30B8-5C5D-5E96-00E4C02935C3}"/>
              </a:ext>
            </a:extLst>
          </p:cNvPr>
          <p:cNvPicPr>
            <a:picLocks noChangeAspect="1"/>
          </p:cNvPicPr>
          <p:nvPr/>
        </p:nvPicPr>
        <p:blipFill>
          <a:blip r:embed="rId3"/>
          <a:stretch>
            <a:fillRect/>
          </a:stretch>
        </p:blipFill>
        <p:spPr>
          <a:xfrm>
            <a:off x="8194660" y="3489879"/>
            <a:ext cx="2390775" cy="2676525"/>
          </a:xfrm>
          <a:prstGeom prst="rect">
            <a:avLst/>
          </a:prstGeom>
        </p:spPr>
      </p:pic>
    </p:spTree>
    <p:extLst>
      <p:ext uri="{BB962C8B-B14F-4D97-AF65-F5344CB8AC3E}">
        <p14:creationId xmlns:p14="http://schemas.microsoft.com/office/powerpoint/2010/main" val="16406492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84B00-D909-AA77-734A-F9E5E254533C}"/>
              </a:ext>
            </a:extLst>
          </p:cNvPr>
          <p:cNvSpPr>
            <a:spLocks noGrp="1"/>
          </p:cNvSpPr>
          <p:nvPr>
            <p:ph idx="1"/>
          </p:nvPr>
        </p:nvSpPr>
        <p:spPr>
          <a:xfrm>
            <a:off x="638978" y="517793"/>
            <a:ext cx="10714822" cy="5659170"/>
          </a:xfrm>
        </p:spPr>
        <p:txBody>
          <a:bodyPr/>
          <a:lstStyle/>
          <a:p>
            <a:pPr marL="0" indent="0">
              <a:buNone/>
            </a:pPr>
            <a:r>
              <a:rPr lang="en-US" b="1" dirty="0"/>
              <a:t>4. Many-to-Many: </a:t>
            </a:r>
            <a:r>
              <a:rPr lang="en-US" dirty="0"/>
              <a:t>When entities in all entity sets can take part more than once in the relationship cardinality is many to many. Let us assume that a student can take more than one course and one course can be taken by many students. So the relationship will be many to many.</a:t>
            </a:r>
            <a:endParaRPr lang="en-IN" dirty="0"/>
          </a:p>
        </p:txBody>
      </p:sp>
      <p:pic>
        <p:nvPicPr>
          <p:cNvPr id="4" name="Picture 3">
            <a:extLst>
              <a:ext uri="{FF2B5EF4-FFF2-40B4-BE49-F238E27FC236}">
                <a16:creationId xmlns:a16="http://schemas.microsoft.com/office/drawing/2014/main" id="{2CD9FA88-B711-2F6D-6AE1-7031A8A5EB21}"/>
              </a:ext>
            </a:extLst>
          </p:cNvPr>
          <p:cNvPicPr>
            <a:picLocks noChangeAspect="1"/>
          </p:cNvPicPr>
          <p:nvPr/>
        </p:nvPicPr>
        <p:blipFill>
          <a:blip r:embed="rId2"/>
          <a:srcRect l="7958" t="26628" r="7242" b="24226"/>
          <a:stretch/>
        </p:blipFill>
        <p:spPr>
          <a:xfrm>
            <a:off x="1090670" y="3429000"/>
            <a:ext cx="6962660" cy="1465243"/>
          </a:xfrm>
          <a:prstGeom prst="rect">
            <a:avLst/>
          </a:prstGeom>
        </p:spPr>
      </p:pic>
      <p:pic>
        <p:nvPicPr>
          <p:cNvPr id="5" name="Picture 4">
            <a:extLst>
              <a:ext uri="{FF2B5EF4-FFF2-40B4-BE49-F238E27FC236}">
                <a16:creationId xmlns:a16="http://schemas.microsoft.com/office/drawing/2014/main" id="{A5DBFA0F-06FE-6025-6842-740F5F149317}"/>
              </a:ext>
            </a:extLst>
          </p:cNvPr>
          <p:cNvPicPr>
            <a:picLocks noChangeAspect="1"/>
          </p:cNvPicPr>
          <p:nvPr/>
        </p:nvPicPr>
        <p:blipFill>
          <a:blip r:embed="rId3"/>
          <a:srcRect l="14902" t="14852" r="15056" b="14972"/>
          <a:stretch/>
        </p:blipFill>
        <p:spPr>
          <a:xfrm>
            <a:off x="8482987" y="2540763"/>
            <a:ext cx="3349128" cy="3636200"/>
          </a:xfrm>
          <a:prstGeom prst="rect">
            <a:avLst/>
          </a:prstGeom>
        </p:spPr>
      </p:pic>
    </p:spTree>
    <p:extLst>
      <p:ext uri="{BB962C8B-B14F-4D97-AF65-F5344CB8AC3E}">
        <p14:creationId xmlns:p14="http://schemas.microsoft.com/office/powerpoint/2010/main" val="17729359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A0BEF8-F2D1-25C7-B0D7-FB9AE3D3986F}"/>
              </a:ext>
            </a:extLst>
          </p:cNvPr>
          <p:cNvSpPr>
            <a:spLocks noGrp="1"/>
          </p:cNvSpPr>
          <p:nvPr>
            <p:ph idx="1"/>
          </p:nvPr>
        </p:nvSpPr>
        <p:spPr>
          <a:xfrm>
            <a:off x="705080" y="594911"/>
            <a:ext cx="10648720" cy="5582052"/>
          </a:xfrm>
        </p:spPr>
        <p:txBody>
          <a:bodyPr>
            <a:normAutofit/>
          </a:bodyPr>
          <a:lstStyle/>
          <a:p>
            <a:pPr marL="0" indent="0">
              <a:buNone/>
            </a:pPr>
            <a:r>
              <a:rPr lang="en-US" b="1" dirty="0"/>
              <a:t>Participation Constraint</a:t>
            </a:r>
          </a:p>
          <a:p>
            <a:r>
              <a:rPr lang="en-US" dirty="0"/>
              <a:t>Participation Constraint is applied to the entity participating in the relationship set.</a:t>
            </a:r>
          </a:p>
          <a:p>
            <a:endParaRPr lang="en-US" dirty="0"/>
          </a:p>
          <a:p>
            <a:pPr marL="0" indent="0">
              <a:buNone/>
            </a:pPr>
            <a:r>
              <a:rPr lang="en-US" b="1" dirty="0"/>
              <a:t>1. Total Participation</a:t>
            </a:r>
            <a:r>
              <a:rPr lang="en-US" dirty="0"/>
              <a:t> – Each entity in the entity set must participate in the relationship. If each student must enroll in a course, the participation of students will be total. Total participation is shown by a double line in the ER diagram.</a:t>
            </a:r>
          </a:p>
          <a:p>
            <a:endParaRPr lang="en-US" dirty="0"/>
          </a:p>
          <a:p>
            <a:pPr marL="0" indent="0">
              <a:buNone/>
            </a:pPr>
            <a:r>
              <a:rPr lang="en-US" b="1" dirty="0"/>
              <a:t>2. Partial Participation </a:t>
            </a:r>
            <a:r>
              <a:rPr lang="en-US" dirty="0"/>
              <a:t>– The entity in the entity set may or may NOT participate in the relationship. If some courses are not enrolled by any of the students, the participation in the course will be partial.</a:t>
            </a:r>
            <a:endParaRPr lang="en-IN" dirty="0"/>
          </a:p>
        </p:txBody>
      </p:sp>
    </p:spTree>
    <p:extLst>
      <p:ext uri="{BB962C8B-B14F-4D97-AF65-F5344CB8AC3E}">
        <p14:creationId xmlns:p14="http://schemas.microsoft.com/office/powerpoint/2010/main" val="3762030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6F13F2A-3396-0B36-70DB-4A0F02D8E813}"/>
              </a:ext>
            </a:extLst>
          </p:cNvPr>
          <p:cNvPicPr>
            <a:picLocks noGrp="1" noChangeAspect="1"/>
          </p:cNvPicPr>
          <p:nvPr>
            <p:ph idx="1"/>
          </p:nvPr>
        </p:nvPicPr>
        <p:blipFill>
          <a:blip r:embed="rId2"/>
          <a:stretch>
            <a:fillRect/>
          </a:stretch>
        </p:blipFill>
        <p:spPr>
          <a:xfrm>
            <a:off x="1165837" y="949621"/>
            <a:ext cx="9353550" cy="1828800"/>
          </a:xfrm>
          <a:prstGeom prst="rect">
            <a:avLst/>
          </a:prstGeom>
        </p:spPr>
      </p:pic>
      <p:pic>
        <p:nvPicPr>
          <p:cNvPr id="5" name="Picture 4">
            <a:extLst>
              <a:ext uri="{FF2B5EF4-FFF2-40B4-BE49-F238E27FC236}">
                <a16:creationId xmlns:a16="http://schemas.microsoft.com/office/drawing/2014/main" id="{AE4BE8B0-22DA-8A6F-35D6-0E815A4E687C}"/>
              </a:ext>
            </a:extLst>
          </p:cNvPr>
          <p:cNvPicPr>
            <a:picLocks noChangeAspect="1"/>
          </p:cNvPicPr>
          <p:nvPr/>
        </p:nvPicPr>
        <p:blipFill>
          <a:blip r:embed="rId3"/>
          <a:stretch>
            <a:fillRect/>
          </a:stretch>
        </p:blipFill>
        <p:spPr>
          <a:xfrm>
            <a:off x="3327094" y="3213770"/>
            <a:ext cx="5259807" cy="2588903"/>
          </a:xfrm>
          <a:prstGeom prst="rect">
            <a:avLst/>
          </a:prstGeom>
        </p:spPr>
      </p:pic>
      <p:sp>
        <p:nvSpPr>
          <p:cNvPr id="7" name="TextBox 6">
            <a:extLst>
              <a:ext uri="{FF2B5EF4-FFF2-40B4-BE49-F238E27FC236}">
                <a16:creationId xmlns:a16="http://schemas.microsoft.com/office/drawing/2014/main" id="{EE2F8D2E-4816-99C6-CE26-6D5F2CB55467}"/>
              </a:ext>
            </a:extLst>
          </p:cNvPr>
          <p:cNvSpPr txBox="1"/>
          <p:nvPr/>
        </p:nvSpPr>
        <p:spPr>
          <a:xfrm>
            <a:off x="2793694" y="6211669"/>
            <a:ext cx="8124022" cy="369332"/>
          </a:xfrm>
          <a:prstGeom prst="rect">
            <a:avLst/>
          </a:prstGeom>
          <a:noFill/>
        </p:spPr>
        <p:txBody>
          <a:bodyPr wrap="square">
            <a:spAutoFit/>
          </a:bodyPr>
          <a:lstStyle/>
          <a:p>
            <a:r>
              <a:rPr lang="en-US" dirty="0"/>
              <a:t>Set representation of Total Participation and Partial Participation</a:t>
            </a:r>
            <a:endParaRPr lang="en-IN" dirty="0"/>
          </a:p>
        </p:txBody>
      </p:sp>
    </p:spTree>
    <p:extLst>
      <p:ext uri="{BB962C8B-B14F-4D97-AF65-F5344CB8AC3E}">
        <p14:creationId xmlns:p14="http://schemas.microsoft.com/office/powerpoint/2010/main" val="948552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5E9E8-1D50-32D6-7656-9395A8DB3C48}"/>
              </a:ext>
            </a:extLst>
          </p:cNvPr>
          <p:cNvSpPr>
            <a:spLocks noGrp="1"/>
          </p:cNvSpPr>
          <p:nvPr>
            <p:ph type="title"/>
          </p:nvPr>
        </p:nvSpPr>
        <p:spPr>
          <a:xfrm>
            <a:off x="838200" y="154113"/>
            <a:ext cx="10515600" cy="883578"/>
          </a:xfrm>
        </p:spPr>
        <p:txBody>
          <a:bodyPr>
            <a:normAutofit/>
          </a:bodyPr>
          <a:lstStyle/>
          <a:p>
            <a:pPr algn="ctr"/>
            <a:r>
              <a:rPr lang="en-US" sz="5400" b="1" dirty="0">
                <a:solidFill>
                  <a:srgbClr val="C00000"/>
                </a:solidFill>
              </a:rPr>
              <a:t>Database Keys</a:t>
            </a:r>
            <a:endParaRPr lang="en-IN" sz="5400" b="1" dirty="0">
              <a:solidFill>
                <a:srgbClr val="C00000"/>
              </a:solidFill>
            </a:endParaRPr>
          </a:p>
        </p:txBody>
      </p:sp>
      <p:sp>
        <p:nvSpPr>
          <p:cNvPr id="3" name="Content Placeholder 2">
            <a:extLst>
              <a:ext uri="{FF2B5EF4-FFF2-40B4-BE49-F238E27FC236}">
                <a16:creationId xmlns:a16="http://schemas.microsoft.com/office/drawing/2014/main" id="{D5015A61-767E-F4AB-3640-3B3E99F78D7F}"/>
              </a:ext>
            </a:extLst>
          </p:cNvPr>
          <p:cNvSpPr>
            <a:spLocks noGrp="1"/>
          </p:cNvSpPr>
          <p:nvPr>
            <p:ph idx="1"/>
          </p:nvPr>
        </p:nvSpPr>
        <p:spPr>
          <a:xfrm>
            <a:off x="678094" y="1325366"/>
            <a:ext cx="10675706" cy="4851597"/>
          </a:xfrm>
        </p:spPr>
        <p:txBody>
          <a:bodyPr/>
          <a:lstStyle/>
          <a:p>
            <a:pPr marL="0" indent="0">
              <a:buNone/>
            </a:pPr>
            <a:r>
              <a:rPr lang="en-US" b="1" dirty="0">
                <a:solidFill>
                  <a:srgbClr val="C00000"/>
                </a:solidFill>
              </a:rPr>
              <a:t>Why do we require Keys in a DBMS?</a:t>
            </a:r>
          </a:p>
          <a:p>
            <a:pPr algn="just"/>
            <a:r>
              <a:rPr lang="en-US" dirty="0"/>
              <a:t>We require keys in a DBMS to ensure that data is organized, accurate, and easily accessible. </a:t>
            </a:r>
          </a:p>
          <a:p>
            <a:pPr algn="just"/>
            <a:r>
              <a:rPr lang="en-US" dirty="0"/>
              <a:t>Keys help to uniquely identify records in a table, which prevents duplication and ensures data integrity.</a:t>
            </a:r>
          </a:p>
          <a:p>
            <a:pPr algn="just"/>
            <a:r>
              <a:rPr lang="en-US" dirty="0"/>
              <a:t>Keys also establish relationships between different tables, allowing for efficient querying and management of data. </a:t>
            </a:r>
          </a:p>
          <a:p>
            <a:pPr algn="just"/>
            <a:r>
              <a:rPr lang="en-US" dirty="0"/>
              <a:t>Without keys, it would be difficult to retrieve or update specific.</a:t>
            </a:r>
            <a:endParaRPr lang="en-IN" dirty="0"/>
          </a:p>
        </p:txBody>
      </p:sp>
    </p:spTree>
    <p:extLst>
      <p:ext uri="{BB962C8B-B14F-4D97-AF65-F5344CB8AC3E}">
        <p14:creationId xmlns:p14="http://schemas.microsoft.com/office/powerpoint/2010/main" val="1602672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F59AF6-5246-7F08-3D55-FA7B8908EFB8}"/>
              </a:ext>
            </a:extLst>
          </p:cNvPr>
          <p:cNvSpPr>
            <a:spLocks noGrp="1"/>
          </p:cNvSpPr>
          <p:nvPr>
            <p:ph idx="1"/>
          </p:nvPr>
        </p:nvSpPr>
        <p:spPr>
          <a:xfrm>
            <a:off x="838200" y="1253331"/>
            <a:ext cx="10515600" cy="4351338"/>
          </a:xfrm>
        </p:spPr>
        <p:txBody>
          <a:bodyPr>
            <a:normAutofit/>
          </a:bodyPr>
          <a:lstStyle/>
          <a:p>
            <a:pPr marL="0" indent="0">
              <a:buNone/>
            </a:pPr>
            <a:r>
              <a:rPr lang="en-US" dirty="0">
                <a:solidFill>
                  <a:srgbClr val="C00000"/>
                </a:solidFill>
              </a:rPr>
              <a:t>What are the different types of Keys in DBMS?</a:t>
            </a:r>
          </a:p>
          <a:p>
            <a:endParaRPr lang="en-US" dirty="0">
              <a:solidFill>
                <a:srgbClr val="C00000"/>
              </a:solidFill>
            </a:endParaRPr>
          </a:p>
          <a:p>
            <a:r>
              <a:rPr lang="en-US" dirty="0"/>
              <a:t>Candidate Key</a:t>
            </a:r>
          </a:p>
          <a:p>
            <a:r>
              <a:rPr lang="en-US" dirty="0"/>
              <a:t>Primary Key</a:t>
            </a:r>
          </a:p>
          <a:p>
            <a:r>
              <a:rPr lang="en-US" dirty="0"/>
              <a:t>Foreign Key</a:t>
            </a:r>
          </a:p>
          <a:p>
            <a:r>
              <a:rPr lang="en-US" dirty="0"/>
              <a:t>Super Key</a:t>
            </a:r>
          </a:p>
          <a:p>
            <a:r>
              <a:rPr lang="en-US" dirty="0"/>
              <a:t>Alternate Key</a:t>
            </a:r>
          </a:p>
          <a:p>
            <a:r>
              <a:rPr lang="en-US" dirty="0"/>
              <a:t>Secondary Key</a:t>
            </a:r>
          </a:p>
        </p:txBody>
      </p:sp>
      <p:pic>
        <p:nvPicPr>
          <p:cNvPr id="4" name="Picture 3">
            <a:extLst>
              <a:ext uri="{FF2B5EF4-FFF2-40B4-BE49-F238E27FC236}">
                <a16:creationId xmlns:a16="http://schemas.microsoft.com/office/drawing/2014/main" id="{A8FBF297-9D9D-9FD1-4782-2EF75B06D7BD}"/>
              </a:ext>
            </a:extLst>
          </p:cNvPr>
          <p:cNvPicPr>
            <a:picLocks noChangeAspect="1"/>
          </p:cNvPicPr>
          <p:nvPr/>
        </p:nvPicPr>
        <p:blipFill>
          <a:blip r:embed="rId2"/>
          <a:stretch>
            <a:fillRect/>
          </a:stretch>
        </p:blipFill>
        <p:spPr>
          <a:xfrm>
            <a:off x="4816868" y="2506681"/>
            <a:ext cx="6637534" cy="3318767"/>
          </a:xfrm>
          <a:prstGeom prst="rect">
            <a:avLst/>
          </a:prstGeom>
        </p:spPr>
      </p:pic>
    </p:spTree>
    <p:extLst>
      <p:ext uri="{BB962C8B-B14F-4D97-AF65-F5344CB8AC3E}">
        <p14:creationId xmlns:p14="http://schemas.microsoft.com/office/powerpoint/2010/main" val="2043568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A7B22-C156-5E21-C207-F2FC3EE19714}"/>
              </a:ext>
            </a:extLst>
          </p:cNvPr>
          <p:cNvSpPr>
            <a:spLocks noGrp="1"/>
          </p:cNvSpPr>
          <p:nvPr>
            <p:ph idx="1"/>
          </p:nvPr>
        </p:nvSpPr>
        <p:spPr>
          <a:xfrm>
            <a:off x="575353" y="544530"/>
            <a:ext cx="10778447" cy="5632433"/>
          </a:xfrm>
        </p:spPr>
        <p:txBody>
          <a:bodyPr>
            <a:normAutofit/>
          </a:bodyPr>
          <a:lstStyle/>
          <a:p>
            <a:pPr marL="0" indent="0">
              <a:buNone/>
            </a:pPr>
            <a:r>
              <a:rPr lang="en-US" b="1" dirty="0">
                <a:solidFill>
                  <a:srgbClr val="C00000"/>
                </a:solidFill>
              </a:rPr>
              <a:t>1. Primary Key</a:t>
            </a:r>
          </a:p>
          <a:p>
            <a:pPr algn="just"/>
            <a:r>
              <a:rPr lang="en-US" dirty="0"/>
              <a:t>The primary key refers to a column or a set of columns of a table that helps us identify all the records uniquely present in that table. </a:t>
            </a:r>
          </a:p>
          <a:p>
            <a:pPr algn="just"/>
            <a:r>
              <a:rPr lang="en-US" dirty="0"/>
              <a:t>A table can consist of just one primary key. </a:t>
            </a:r>
          </a:p>
          <a:p>
            <a:pPr algn="just"/>
            <a:r>
              <a:rPr lang="en-US" dirty="0"/>
              <a:t>It must have unique values and cannot contain any duplicate values.</a:t>
            </a:r>
          </a:p>
          <a:p>
            <a:pPr algn="just"/>
            <a:r>
              <a:rPr lang="en-US" dirty="0"/>
              <a:t>All primary key values have to be different, and there should be no repetitions.</a:t>
            </a:r>
          </a:p>
          <a:p>
            <a:pPr algn="just"/>
            <a:r>
              <a:rPr lang="en-US" dirty="0"/>
              <a:t>A primary key cannot be NULL, as it needs to provide a valid, unique identifier for every record.</a:t>
            </a:r>
          </a:p>
          <a:p>
            <a:pPr algn="just"/>
            <a:r>
              <a:rPr lang="en-US" dirty="0"/>
              <a:t>Any table can consist of only a single primary key constraint</a:t>
            </a:r>
            <a:endParaRPr lang="en-IN" dirty="0"/>
          </a:p>
        </p:txBody>
      </p:sp>
    </p:spTree>
    <p:extLst>
      <p:ext uri="{BB962C8B-B14F-4D97-AF65-F5344CB8AC3E}">
        <p14:creationId xmlns:p14="http://schemas.microsoft.com/office/powerpoint/2010/main" val="1176867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E6CEED-E2DE-EB0D-EFC6-BDE068B02B96}"/>
              </a:ext>
            </a:extLst>
          </p:cNvPr>
          <p:cNvSpPr>
            <a:spLocks noGrp="1"/>
          </p:cNvSpPr>
          <p:nvPr>
            <p:ph idx="1"/>
          </p:nvPr>
        </p:nvSpPr>
        <p:spPr>
          <a:xfrm>
            <a:off x="616449" y="575353"/>
            <a:ext cx="10737351" cy="5601610"/>
          </a:xfrm>
        </p:spPr>
        <p:txBody>
          <a:bodyPr>
            <a:normAutofit/>
          </a:bodyPr>
          <a:lstStyle/>
          <a:p>
            <a:pPr marL="0" indent="0" algn="just">
              <a:buNone/>
            </a:pPr>
            <a:r>
              <a:rPr lang="en-US" b="1" dirty="0">
                <a:solidFill>
                  <a:srgbClr val="C00000"/>
                </a:solidFill>
              </a:rPr>
              <a:t>2. Candidate Key</a:t>
            </a:r>
          </a:p>
          <a:p>
            <a:pPr algn="just"/>
            <a:r>
              <a:rPr lang="en-US" dirty="0"/>
              <a:t>The minimal set of attributes that can uniquely identify a tuple is known as a candidate key.</a:t>
            </a:r>
          </a:p>
          <a:p>
            <a:pPr algn="just"/>
            <a:r>
              <a:rPr lang="en-US" dirty="0"/>
              <a:t>A candidate key is a minimal super key, meaning it can uniquely identify a record but contains no extra attributes.</a:t>
            </a:r>
          </a:p>
          <a:p>
            <a:pPr algn="just"/>
            <a:r>
              <a:rPr lang="en-US" dirty="0"/>
              <a:t>It is a super key with no repeated data is called a candidate key.</a:t>
            </a:r>
          </a:p>
          <a:p>
            <a:pPr algn="just"/>
            <a:r>
              <a:rPr lang="en-US" dirty="0"/>
              <a:t>The minimal set of attributes that can uniquely identify a record.</a:t>
            </a:r>
          </a:p>
          <a:p>
            <a:pPr algn="just"/>
            <a:r>
              <a:rPr lang="en-US" dirty="0"/>
              <a:t>A candidate key must contain unique values, ensuring that no two rows have the same value in the candidate key’s columns.</a:t>
            </a:r>
          </a:p>
          <a:p>
            <a:pPr algn="just"/>
            <a:r>
              <a:rPr lang="en-US" dirty="0"/>
              <a:t>Every table must have at least a single candidate key.</a:t>
            </a:r>
          </a:p>
          <a:p>
            <a:pPr algn="just"/>
            <a:r>
              <a:rPr lang="en-US" dirty="0"/>
              <a:t>A table can have multiple candidate keys but only one primary key.</a:t>
            </a:r>
            <a:endParaRPr lang="en-IN" dirty="0"/>
          </a:p>
        </p:txBody>
      </p:sp>
    </p:spTree>
    <p:extLst>
      <p:ext uri="{BB962C8B-B14F-4D97-AF65-F5344CB8AC3E}">
        <p14:creationId xmlns:p14="http://schemas.microsoft.com/office/powerpoint/2010/main" val="3379743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BCD01E-3369-F638-683E-EAAF03EB08D3}"/>
              </a:ext>
            </a:extLst>
          </p:cNvPr>
          <p:cNvSpPr>
            <a:spLocks noGrp="1"/>
          </p:cNvSpPr>
          <p:nvPr>
            <p:ph idx="1"/>
          </p:nvPr>
        </p:nvSpPr>
        <p:spPr>
          <a:xfrm>
            <a:off x="657546" y="647272"/>
            <a:ext cx="10696254" cy="5529691"/>
          </a:xfrm>
        </p:spPr>
        <p:txBody>
          <a:bodyPr/>
          <a:lstStyle/>
          <a:p>
            <a:pPr marL="0" indent="0" algn="just">
              <a:buNone/>
            </a:pPr>
            <a:r>
              <a:rPr lang="en-US" b="1" dirty="0">
                <a:solidFill>
                  <a:srgbClr val="C00000"/>
                </a:solidFill>
              </a:rPr>
              <a:t>3. Alternate Key</a:t>
            </a:r>
          </a:p>
          <a:p>
            <a:pPr algn="just"/>
            <a:r>
              <a:rPr lang="en-US" dirty="0"/>
              <a:t>An alternate key is any candidate key in a table that is not chosen as the primary key. </a:t>
            </a:r>
          </a:p>
          <a:p>
            <a:pPr algn="just"/>
            <a:r>
              <a:rPr lang="en-US" dirty="0"/>
              <a:t>In other words, all the keys that are not selected as the primary key are considered alternate keys.</a:t>
            </a:r>
          </a:p>
          <a:p>
            <a:pPr algn="just"/>
            <a:r>
              <a:rPr lang="en-US" dirty="0"/>
              <a:t>An alternate key is also referred to as a secondary key because it can uniquely identify records in a table, just like the primary key.</a:t>
            </a:r>
            <a:endParaRPr lang="en-IN" dirty="0"/>
          </a:p>
        </p:txBody>
      </p:sp>
    </p:spTree>
    <p:extLst>
      <p:ext uri="{BB962C8B-B14F-4D97-AF65-F5344CB8AC3E}">
        <p14:creationId xmlns:p14="http://schemas.microsoft.com/office/powerpoint/2010/main" val="23558364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CDACF02-319F-0DC3-E5E3-80216E0D4F84}"/>
              </a:ext>
            </a:extLst>
          </p:cNvPr>
          <p:cNvPicPr>
            <a:picLocks noGrp="1" noChangeAspect="1"/>
          </p:cNvPicPr>
          <p:nvPr>
            <p:ph idx="1"/>
          </p:nvPr>
        </p:nvPicPr>
        <p:blipFill>
          <a:blip r:embed="rId2"/>
          <a:stretch>
            <a:fillRect/>
          </a:stretch>
        </p:blipFill>
        <p:spPr>
          <a:xfrm>
            <a:off x="1087116" y="705742"/>
            <a:ext cx="8702676" cy="4351338"/>
          </a:xfrm>
          <a:prstGeom prst="rect">
            <a:avLst/>
          </a:prstGeom>
        </p:spPr>
      </p:pic>
    </p:spTree>
    <p:extLst>
      <p:ext uri="{BB962C8B-B14F-4D97-AF65-F5344CB8AC3E}">
        <p14:creationId xmlns:p14="http://schemas.microsoft.com/office/powerpoint/2010/main" val="2917213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F27307-3EF7-803A-142C-92EC859FA2FD}"/>
              </a:ext>
            </a:extLst>
          </p:cNvPr>
          <p:cNvSpPr>
            <a:spLocks noGrp="1"/>
          </p:cNvSpPr>
          <p:nvPr>
            <p:ph idx="1"/>
          </p:nvPr>
        </p:nvSpPr>
        <p:spPr/>
        <p:txBody>
          <a:bodyPr/>
          <a:lstStyle/>
          <a:p>
            <a:pPr marL="0" indent="0">
              <a:buNone/>
            </a:pPr>
            <a:r>
              <a:rPr lang="en-US" b="1" dirty="0">
                <a:solidFill>
                  <a:srgbClr val="C00000"/>
                </a:solidFill>
              </a:rPr>
              <a:t>4. Super Key</a:t>
            </a:r>
          </a:p>
          <a:p>
            <a:pPr algn="just"/>
            <a:r>
              <a:rPr lang="en-US" dirty="0"/>
              <a:t>The set of one or more attributes (columns) that can uniquely identify a tuple (record) is known as Super Key. </a:t>
            </a:r>
          </a:p>
          <a:p>
            <a:pPr algn="just"/>
            <a:r>
              <a:rPr lang="en-US" dirty="0"/>
              <a:t>A super key is a candidate key’s superset.</a:t>
            </a:r>
          </a:p>
          <a:p>
            <a:pPr algn="just"/>
            <a:r>
              <a:rPr lang="en-US" dirty="0"/>
              <a:t>A super key is a group of single or multiple keys that uniquely identifies rows in a table. It supports NULL values in rows.</a:t>
            </a:r>
            <a:endParaRPr lang="en-IN" dirty="0"/>
          </a:p>
        </p:txBody>
      </p:sp>
    </p:spTree>
    <p:extLst>
      <p:ext uri="{BB962C8B-B14F-4D97-AF65-F5344CB8AC3E}">
        <p14:creationId xmlns:p14="http://schemas.microsoft.com/office/powerpoint/2010/main" val="29660459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6D15AF-8D53-CBAD-19D0-F05A939CE661}"/>
              </a:ext>
            </a:extLst>
          </p:cNvPr>
          <p:cNvSpPr>
            <a:spLocks noGrp="1"/>
          </p:cNvSpPr>
          <p:nvPr>
            <p:ph idx="1"/>
          </p:nvPr>
        </p:nvSpPr>
        <p:spPr>
          <a:xfrm>
            <a:off x="791110" y="554804"/>
            <a:ext cx="10562690" cy="5622159"/>
          </a:xfrm>
        </p:spPr>
        <p:txBody>
          <a:bodyPr>
            <a:normAutofit/>
          </a:bodyPr>
          <a:lstStyle/>
          <a:p>
            <a:pPr marL="0" indent="0">
              <a:buNone/>
            </a:pPr>
            <a:r>
              <a:rPr lang="en-US" b="1" dirty="0">
                <a:solidFill>
                  <a:srgbClr val="C00000"/>
                </a:solidFill>
              </a:rPr>
              <a:t>5. Foreign Key</a:t>
            </a:r>
          </a:p>
          <a:p>
            <a:pPr algn="just"/>
            <a:r>
              <a:rPr lang="en-US" dirty="0"/>
              <a:t>A foreign key is an attribute in one table that refers to the primary key in another table. </a:t>
            </a:r>
          </a:p>
          <a:p>
            <a:pPr algn="just"/>
            <a:r>
              <a:rPr lang="en-US" dirty="0"/>
              <a:t>The table that contains the foreign key is called the </a:t>
            </a:r>
            <a:r>
              <a:rPr lang="en-US" b="1" dirty="0"/>
              <a:t>referencing table, </a:t>
            </a:r>
            <a:r>
              <a:rPr lang="en-US" dirty="0"/>
              <a:t>and the table that is referenced is called the </a:t>
            </a:r>
            <a:r>
              <a:rPr lang="en-US" b="1" dirty="0"/>
              <a:t>referenced table</a:t>
            </a:r>
            <a:r>
              <a:rPr lang="en-US" dirty="0"/>
              <a:t>.</a:t>
            </a:r>
          </a:p>
          <a:p>
            <a:pPr algn="just"/>
            <a:r>
              <a:rPr lang="en-US" dirty="0"/>
              <a:t>A foreign key in one table points to the primary key in another table, establishing a relationship between them.</a:t>
            </a:r>
          </a:p>
          <a:p>
            <a:pPr algn="just"/>
            <a:r>
              <a:rPr lang="en-US" dirty="0"/>
              <a:t>It helps connect two or more tables, enabling you to create relationships between them. This is essential for maintaining data integrity and preventing data redundancy.</a:t>
            </a:r>
          </a:p>
          <a:p>
            <a:pPr algn="just"/>
            <a:r>
              <a:rPr lang="en-US" dirty="0"/>
              <a:t>They act as a cross-reference between the tables.</a:t>
            </a:r>
            <a:endParaRPr lang="en-IN" dirty="0"/>
          </a:p>
        </p:txBody>
      </p:sp>
    </p:spTree>
    <p:extLst>
      <p:ext uri="{BB962C8B-B14F-4D97-AF65-F5344CB8AC3E}">
        <p14:creationId xmlns:p14="http://schemas.microsoft.com/office/powerpoint/2010/main" val="27346670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2F51B4F-AF9D-BE49-6CBA-64256860B1AC}"/>
              </a:ext>
            </a:extLst>
          </p:cNvPr>
          <p:cNvPicPr>
            <a:picLocks noGrp="1" noChangeAspect="1"/>
          </p:cNvPicPr>
          <p:nvPr>
            <p:ph idx="1"/>
          </p:nvPr>
        </p:nvPicPr>
        <p:blipFill>
          <a:blip r:embed="rId2"/>
          <a:stretch>
            <a:fillRect/>
          </a:stretch>
        </p:blipFill>
        <p:spPr>
          <a:xfrm>
            <a:off x="649733" y="267128"/>
            <a:ext cx="11326510" cy="5663255"/>
          </a:xfrm>
          <a:prstGeom prst="rect">
            <a:avLst/>
          </a:prstGeom>
        </p:spPr>
      </p:pic>
    </p:spTree>
    <p:extLst>
      <p:ext uri="{BB962C8B-B14F-4D97-AF65-F5344CB8AC3E}">
        <p14:creationId xmlns:p14="http://schemas.microsoft.com/office/powerpoint/2010/main" val="3270024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a:extLst>
              <a:ext uri="{FF2B5EF4-FFF2-40B4-BE49-F238E27FC236}">
                <a16:creationId xmlns:a16="http://schemas.microsoft.com/office/drawing/2014/main" id="{95EC96E7-636E-24D1-B1E3-4BE5A318ACF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73F395B7-B248-6E18-CB3B-A4B91BDF1933}"/>
              </a:ext>
            </a:extLst>
          </p:cNvPr>
          <p:cNvPicPr>
            <a:picLocks noChangeAspect="1"/>
          </p:cNvPicPr>
          <p:nvPr/>
        </p:nvPicPr>
        <p:blipFill>
          <a:blip r:embed="rId2"/>
          <a:stretch>
            <a:fillRect/>
          </a:stretch>
        </p:blipFill>
        <p:spPr>
          <a:xfrm>
            <a:off x="1879100" y="1396750"/>
            <a:ext cx="8128999" cy="4064500"/>
          </a:xfrm>
          <a:prstGeom prst="rect">
            <a:avLst/>
          </a:prstGeom>
        </p:spPr>
      </p:pic>
    </p:spTree>
    <p:extLst>
      <p:ext uri="{BB962C8B-B14F-4D97-AF65-F5344CB8AC3E}">
        <p14:creationId xmlns:p14="http://schemas.microsoft.com/office/powerpoint/2010/main" val="2121925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E4F1B-F221-5187-539B-32383F54F8CB}"/>
              </a:ext>
            </a:extLst>
          </p:cNvPr>
          <p:cNvSpPr>
            <a:spLocks noGrp="1"/>
          </p:cNvSpPr>
          <p:nvPr>
            <p:ph type="title"/>
          </p:nvPr>
        </p:nvSpPr>
        <p:spPr>
          <a:xfrm>
            <a:off x="466344" y="182245"/>
            <a:ext cx="10515600" cy="412115"/>
          </a:xfrm>
        </p:spPr>
        <p:txBody>
          <a:bodyPr>
            <a:normAutofit fontScale="90000"/>
          </a:bodyPr>
          <a:lstStyle/>
          <a:p>
            <a:r>
              <a:rPr lang="en-US" dirty="0">
                <a:solidFill>
                  <a:srgbClr val="FF0000"/>
                </a:solidFill>
              </a:rPr>
              <a:t>Example 1:</a:t>
            </a:r>
            <a:endParaRPr lang="en-IN" dirty="0">
              <a:solidFill>
                <a:srgbClr val="FF0000"/>
              </a:solidFill>
            </a:endParaRPr>
          </a:p>
        </p:txBody>
      </p:sp>
      <p:sp>
        <p:nvSpPr>
          <p:cNvPr id="3" name="Content Placeholder 2">
            <a:extLst>
              <a:ext uri="{FF2B5EF4-FFF2-40B4-BE49-F238E27FC236}">
                <a16:creationId xmlns:a16="http://schemas.microsoft.com/office/drawing/2014/main" id="{ED6DBC61-95DE-D4C3-C012-FC4E9A50B3E3}"/>
              </a:ext>
            </a:extLst>
          </p:cNvPr>
          <p:cNvSpPr>
            <a:spLocks noGrp="1"/>
          </p:cNvSpPr>
          <p:nvPr>
            <p:ph idx="1"/>
          </p:nvPr>
        </p:nvSpPr>
        <p:spPr>
          <a:xfrm>
            <a:off x="237744" y="852582"/>
            <a:ext cx="5715000" cy="5152835"/>
          </a:xfrm>
        </p:spPr>
        <p:txBody>
          <a:bodyPr>
            <a:normAutofit/>
          </a:bodyPr>
          <a:lstStyle/>
          <a:p>
            <a:pPr algn="just" fontAlgn="base"/>
            <a:r>
              <a:rPr lang="en-US" sz="2400" dirty="0"/>
              <a:t>Company has several departments. Departments are identified by a name, </a:t>
            </a:r>
            <a:r>
              <a:rPr lang="en-US" sz="2400" dirty="0" err="1"/>
              <a:t>d_no</a:t>
            </a:r>
            <a:r>
              <a:rPr lang="en-US" sz="2400" dirty="0"/>
              <a:t>, Location. Each department may have several Locations. Employees are identified by name, id, address, job, </a:t>
            </a:r>
            <a:r>
              <a:rPr lang="en-US" sz="2400" dirty="0" err="1"/>
              <a:t>date_of_joining</a:t>
            </a:r>
            <a:r>
              <a:rPr lang="en-US" sz="2400" dirty="0"/>
              <a:t>. An employee works in only one department but can work on several project. Each employee has a dependent. Dependent has </a:t>
            </a:r>
            <a:r>
              <a:rPr lang="en-US" sz="2400" dirty="0" err="1"/>
              <a:t>D_name</a:t>
            </a:r>
            <a:r>
              <a:rPr lang="en-US" sz="2400" dirty="0"/>
              <a:t>, Gender, and relationship. Each department is associated with number of projects. A Manager control a particular department. We also keep track of number of hours worked by an employee on a single project.</a:t>
            </a:r>
          </a:p>
          <a:p>
            <a:pPr algn="just" fontAlgn="base"/>
            <a:endParaRPr lang="en-US" dirty="0"/>
          </a:p>
          <a:p>
            <a:pPr algn="just" fontAlgn="base"/>
            <a:endParaRPr lang="en-US" dirty="0"/>
          </a:p>
          <a:p>
            <a:pPr fontAlgn="base"/>
            <a:endParaRPr lang="en-US" dirty="0"/>
          </a:p>
          <a:p>
            <a:pPr fontAlgn="base"/>
            <a:endParaRPr lang="en-US" dirty="0"/>
          </a:p>
          <a:p>
            <a:pPr fontAlgn="base"/>
            <a:endParaRPr lang="en-US" dirty="0"/>
          </a:p>
          <a:p>
            <a:pPr fontAlgn="base"/>
            <a:endParaRPr lang="en-US" dirty="0"/>
          </a:p>
          <a:p>
            <a:endParaRPr lang="en-IN" dirty="0"/>
          </a:p>
        </p:txBody>
      </p:sp>
      <p:pic>
        <p:nvPicPr>
          <p:cNvPr id="4" name="Picture 3">
            <a:extLst>
              <a:ext uri="{FF2B5EF4-FFF2-40B4-BE49-F238E27FC236}">
                <a16:creationId xmlns:a16="http://schemas.microsoft.com/office/drawing/2014/main" id="{38743512-9467-BC11-7878-39DF9AD30487}"/>
              </a:ext>
            </a:extLst>
          </p:cNvPr>
          <p:cNvPicPr>
            <a:picLocks noChangeAspect="1"/>
          </p:cNvPicPr>
          <p:nvPr/>
        </p:nvPicPr>
        <p:blipFill>
          <a:blip r:embed="rId2"/>
          <a:stretch>
            <a:fillRect/>
          </a:stretch>
        </p:blipFill>
        <p:spPr>
          <a:xfrm>
            <a:off x="6096000" y="1348930"/>
            <a:ext cx="5715000" cy="3648075"/>
          </a:xfrm>
          <a:prstGeom prst="rect">
            <a:avLst/>
          </a:prstGeom>
        </p:spPr>
      </p:pic>
    </p:spTree>
    <p:extLst>
      <p:ext uri="{BB962C8B-B14F-4D97-AF65-F5344CB8AC3E}">
        <p14:creationId xmlns:p14="http://schemas.microsoft.com/office/powerpoint/2010/main" val="32187326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E3A6-4171-7314-E4F6-0B62FDF0DD6B}"/>
              </a:ext>
            </a:extLst>
          </p:cNvPr>
          <p:cNvSpPr>
            <a:spLocks noGrp="1"/>
          </p:cNvSpPr>
          <p:nvPr>
            <p:ph type="title"/>
          </p:nvPr>
        </p:nvSpPr>
        <p:spPr>
          <a:xfrm>
            <a:off x="637032" y="182245"/>
            <a:ext cx="10515600" cy="613283"/>
          </a:xfrm>
        </p:spPr>
        <p:txBody>
          <a:bodyPr>
            <a:normAutofit fontScale="90000"/>
          </a:bodyPr>
          <a:lstStyle/>
          <a:p>
            <a:r>
              <a:rPr lang="en-US" dirty="0">
                <a:solidFill>
                  <a:srgbClr val="FF0000"/>
                </a:solidFill>
              </a:rPr>
              <a:t>Example 2:</a:t>
            </a:r>
            <a:endParaRPr lang="en-IN" dirty="0">
              <a:solidFill>
                <a:srgbClr val="FF0000"/>
              </a:solidFill>
            </a:endParaRPr>
          </a:p>
        </p:txBody>
      </p:sp>
      <p:sp>
        <p:nvSpPr>
          <p:cNvPr id="3" name="Content Placeholder 2">
            <a:extLst>
              <a:ext uri="{FF2B5EF4-FFF2-40B4-BE49-F238E27FC236}">
                <a16:creationId xmlns:a16="http://schemas.microsoft.com/office/drawing/2014/main" id="{1BBE5B3C-E059-7632-1784-A52F55C41E35}"/>
              </a:ext>
            </a:extLst>
          </p:cNvPr>
          <p:cNvSpPr>
            <a:spLocks noGrp="1"/>
          </p:cNvSpPr>
          <p:nvPr>
            <p:ph idx="1"/>
          </p:nvPr>
        </p:nvSpPr>
        <p:spPr>
          <a:xfrm>
            <a:off x="838200" y="947801"/>
            <a:ext cx="10515600" cy="4351338"/>
          </a:xfrm>
        </p:spPr>
        <p:txBody>
          <a:bodyPr/>
          <a:lstStyle/>
          <a:p>
            <a:pPr algn="just"/>
            <a:r>
              <a:rPr lang="en-US" dirty="0"/>
              <a:t>Construct an E-R diagram for a car-insurance company whose customers own one or more cars each. Each car has associated with it zero to any number of recorded accidents.</a:t>
            </a:r>
            <a:endParaRPr lang="en-IN" dirty="0"/>
          </a:p>
        </p:txBody>
      </p:sp>
      <p:pic>
        <p:nvPicPr>
          <p:cNvPr id="5" name="Picture 4">
            <a:extLst>
              <a:ext uri="{FF2B5EF4-FFF2-40B4-BE49-F238E27FC236}">
                <a16:creationId xmlns:a16="http://schemas.microsoft.com/office/drawing/2014/main" id="{C81F6BB8-76F5-0655-8691-E37175C5125A}"/>
              </a:ext>
            </a:extLst>
          </p:cNvPr>
          <p:cNvPicPr>
            <a:picLocks noChangeAspect="1"/>
          </p:cNvPicPr>
          <p:nvPr/>
        </p:nvPicPr>
        <p:blipFill>
          <a:blip r:embed="rId2"/>
          <a:srcRect t="22607" b="6973"/>
          <a:stretch>
            <a:fillRect/>
          </a:stretch>
        </p:blipFill>
        <p:spPr>
          <a:xfrm>
            <a:off x="3047996" y="2656523"/>
            <a:ext cx="5693671" cy="2642616"/>
          </a:xfrm>
          <a:prstGeom prst="rect">
            <a:avLst/>
          </a:prstGeom>
        </p:spPr>
      </p:pic>
    </p:spTree>
    <p:extLst>
      <p:ext uri="{BB962C8B-B14F-4D97-AF65-F5344CB8AC3E}">
        <p14:creationId xmlns:p14="http://schemas.microsoft.com/office/powerpoint/2010/main" val="1340087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E5C45-0428-4414-EFD9-B07E68D9F62A}"/>
              </a:ext>
            </a:extLst>
          </p:cNvPr>
          <p:cNvSpPr>
            <a:spLocks noGrp="1"/>
          </p:cNvSpPr>
          <p:nvPr>
            <p:ph type="title"/>
          </p:nvPr>
        </p:nvSpPr>
        <p:spPr>
          <a:xfrm>
            <a:off x="838200" y="205483"/>
            <a:ext cx="10515600" cy="955497"/>
          </a:xfrm>
        </p:spPr>
        <p:txBody>
          <a:bodyPr>
            <a:normAutofit/>
          </a:bodyPr>
          <a:lstStyle/>
          <a:p>
            <a:pPr algn="ctr"/>
            <a:r>
              <a:rPr lang="en-IN" sz="4800" b="1" dirty="0">
                <a:solidFill>
                  <a:srgbClr val="C00000"/>
                </a:solidFill>
              </a:rPr>
              <a:t>Integrity Constraints</a:t>
            </a:r>
          </a:p>
        </p:txBody>
      </p:sp>
      <p:sp>
        <p:nvSpPr>
          <p:cNvPr id="3" name="Content Placeholder 2">
            <a:extLst>
              <a:ext uri="{FF2B5EF4-FFF2-40B4-BE49-F238E27FC236}">
                <a16:creationId xmlns:a16="http://schemas.microsoft.com/office/drawing/2014/main" id="{080C9B3A-DF74-FC13-383D-6EFAEB948D73}"/>
              </a:ext>
            </a:extLst>
          </p:cNvPr>
          <p:cNvSpPr>
            <a:spLocks noGrp="1"/>
          </p:cNvSpPr>
          <p:nvPr>
            <p:ph idx="1"/>
          </p:nvPr>
        </p:nvSpPr>
        <p:spPr>
          <a:xfrm>
            <a:off x="729465" y="1304818"/>
            <a:ext cx="10624335" cy="4872145"/>
          </a:xfrm>
        </p:spPr>
        <p:txBody>
          <a:bodyPr/>
          <a:lstStyle/>
          <a:p>
            <a:pPr algn="just"/>
            <a:r>
              <a:rPr lang="en-US" dirty="0"/>
              <a:t>Integrity constraints are a set of rules used in DBMS to ensure that the data in a database is accurate, consistent and reliable. </a:t>
            </a:r>
          </a:p>
          <a:p>
            <a:pPr algn="just"/>
            <a:r>
              <a:rPr lang="en-US" dirty="0"/>
              <a:t>These rules helps in maintaining the quality of data by ensuring that the processes like adding, updating or deleting information do not harm the integrity of the database. </a:t>
            </a:r>
          </a:p>
          <a:p>
            <a:pPr algn="just"/>
            <a:r>
              <a:rPr lang="en-US" dirty="0"/>
              <a:t>In simple terms, they act as guidelines to protect the database and keep it error-free.</a:t>
            </a:r>
          </a:p>
          <a:p>
            <a:pPr algn="just"/>
            <a:r>
              <a:rPr lang="en-US" dirty="0"/>
              <a:t>Integrity constraints also define how different parts of the database are connected and ensure that these relationships remain valid. </a:t>
            </a:r>
            <a:endParaRPr lang="en-IN" dirty="0"/>
          </a:p>
        </p:txBody>
      </p:sp>
    </p:spTree>
    <p:extLst>
      <p:ext uri="{BB962C8B-B14F-4D97-AF65-F5344CB8AC3E}">
        <p14:creationId xmlns:p14="http://schemas.microsoft.com/office/powerpoint/2010/main" val="2606486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2D3739A-96BB-E270-8AFF-A504F274BADE}"/>
              </a:ext>
            </a:extLst>
          </p:cNvPr>
          <p:cNvPicPr>
            <a:picLocks noGrp="1" noChangeAspect="1"/>
          </p:cNvPicPr>
          <p:nvPr>
            <p:ph idx="1"/>
          </p:nvPr>
        </p:nvPicPr>
        <p:blipFill>
          <a:blip r:embed="rId2"/>
          <a:srcRect r="51715"/>
          <a:stretch/>
        </p:blipFill>
        <p:spPr>
          <a:xfrm>
            <a:off x="3390473" y="823568"/>
            <a:ext cx="5126804" cy="5210864"/>
          </a:xfrm>
          <a:prstGeom prst="rect">
            <a:avLst/>
          </a:prstGeom>
        </p:spPr>
      </p:pic>
    </p:spTree>
    <p:extLst>
      <p:ext uri="{BB962C8B-B14F-4D97-AF65-F5344CB8AC3E}">
        <p14:creationId xmlns:p14="http://schemas.microsoft.com/office/powerpoint/2010/main" val="19200131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E8C7DA-DE6F-C42A-D20E-A60DA3E6C7FC}"/>
              </a:ext>
            </a:extLst>
          </p:cNvPr>
          <p:cNvSpPr>
            <a:spLocks noGrp="1"/>
          </p:cNvSpPr>
          <p:nvPr>
            <p:ph idx="1"/>
          </p:nvPr>
        </p:nvSpPr>
        <p:spPr>
          <a:xfrm>
            <a:off x="750013" y="986319"/>
            <a:ext cx="10603787" cy="5190644"/>
          </a:xfrm>
        </p:spPr>
        <p:txBody>
          <a:bodyPr/>
          <a:lstStyle/>
          <a:p>
            <a:pPr marL="0" indent="0" algn="just">
              <a:buNone/>
            </a:pPr>
            <a:r>
              <a:rPr lang="en-US" sz="3200" b="1" dirty="0">
                <a:solidFill>
                  <a:srgbClr val="C00000"/>
                </a:solidFill>
              </a:rPr>
              <a:t>Domain Constraints</a:t>
            </a:r>
          </a:p>
          <a:p>
            <a:pPr algn="just"/>
            <a:r>
              <a:rPr lang="en-US" dirty="0"/>
              <a:t>Domain constraints are a type of integrity constraint that ensure the values stored in a column (or attribute) are valid and within a specific range or domain. </a:t>
            </a:r>
          </a:p>
          <a:p>
            <a:pPr algn="just"/>
            <a:r>
              <a:rPr lang="en-US" dirty="0"/>
              <a:t>In simple terms, they define what type of data is allowed in a column and restrict invalid data entry. </a:t>
            </a:r>
          </a:p>
          <a:p>
            <a:pPr algn="just"/>
            <a:r>
              <a:rPr lang="en-US" dirty="0"/>
              <a:t>The data type of domain include string, char, time, integer, date, currency etc.</a:t>
            </a:r>
          </a:p>
          <a:p>
            <a:pPr algn="just"/>
            <a:r>
              <a:rPr lang="en-US" dirty="0" err="1"/>
              <a:t>Eg.</a:t>
            </a:r>
            <a:r>
              <a:rPr lang="en-US" dirty="0"/>
              <a:t> If we assign the datatype of attribute age as int, we can’t give it values other than int datatype.</a:t>
            </a:r>
            <a:endParaRPr lang="en-IN" dirty="0"/>
          </a:p>
        </p:txBody>
      </p:sp>
    </p:spTree>
    <p:extLst>
      <p:ext uri="{BB962C8B-B14F-4D97-AF65-F5344CB8AC3E}">
        <p14:creationId xmlns:p14="http://schemas.microsoft.com/office/powerpoint/2010/main" val="2516207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D52132-3EDE-AAE3-85B1-7C8AA29565E3}"/>
              </a:ext>
            </a:extLst>
          </p:cNvPr>
          <p:cNvSpPr>
            <a:spLocks noGrp="1"/>
          </p:cNvSpPr>
          <p:nvPr>
            <p:ph idx="1"/>
          </p:nvPr>
        </p:nvSpPr>
        <p:spPr>
          <a:xfrm>
            <a:off x="750013" y="996593"/>
            <a:ext cx="10603787" cy="5180370"/>
          </a:xfrm>
        </p:spPr>
        <p:txBody>
          <a:bodyPr/>
          <a:lstStyle/>
          <a:p>
            <a:pPr marL="0" indent="0">
              <a:buNone/>
            </a:pPr>
            <a:r>
              <a:rPr lang="en-US" sz="3200" b="1" dirty="0">
                <a:solidFill>
                  <a:srgbClr val="C00000"/>
                </a:solidFill>
              </a:rPr>
              <a:t>Key constraints</a:t>
            </a:r>
          </a:p>
          <a:p>
            <a:pPr algn="just"/>
            <a:r>
              <a:rPr lang="en-US" dirty="0"/>
              <a:t>Keys are the entity set that is used to identify an entity within its entity set uniquely.</a:t>
            </a:r>
          </a:p>
          <a:p>
            <a:pPr algn="just"/>
            <a:r>
              <a:rPr lang="en-US" dirty="0"/>
              <a:t>A relation can have multiple keys or candidate keys(minimal </a:t>
            </a:r>
            <a:r>
              <a:rPr lang="en-US" dirty="0" err="1"/>
              <a:t>superkey</a:t>
            </a:r>
            <a:r>
              <a:rPr lang="en-US"/>
              <a:t>), out of which we choose one of the keys as the primary key, we don’t have any restriction on choosing the primary key out of candidate keys.</a:t>
            </a:r>
            <a:endParaRPr lang="en-US" dirty="0"/>
          </a:p>
          <a:p>
            <a:pPr algn="just"/>
            <a:r>
              <a:rPr lang="en-US" dirty="0"/>
              <a:t>An entity set can have multiple keys, but out of which one key will be the primary key. A primary key must be unique and cannot be NULL in the relational table.</a:t>
            </a:r>
            <a:endParaRPr lang="en-IN" dirty="0"/>
          </a:p>
        </p:txBody>
      </p:sp>
    </p:spTree>
    <p:extLst>
      <p:ext uri="{BB962C8B-B14F-4D97-AF65-F5344CB8AC3E}">
        <p14:creationId xmlns:p14="http://schemas.microsoft.com/office/powerpoint/2010/main" val="2497814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A0EAF4-1D94-B0B1-AF0E-26FE3584C5E4}"/>
              </a:ext>
            </a:extLst>
          </p:cNvPr>
          <p:cNvSpPr>
            <a:spLocks noGrp="1"/>
          </p:cNvSpPr>
          <p:nvPr>
            <p:ph idx="1"/>
          </p:nvPr>
        </p:nvSpPr>
        <p:spPr>
          <a:xfrm>
            <a:off x="636998" y="636998"/>
            <a:ext cx="10716802" cy="5539965"/>
          </a:xfrm>
        </p:spPr>
        <p:txBody>
          <a:bodyPr>
            <a:normAutofit/>
          </a:bodyPr>
          <a:lstStyle/>
          <a:p>
            <a:pPr marL="0" indent="0">
              <a:buNone/>
            </a:pPr>
            <a:r>
              <a:rPr lang="en-US" sz="3200" b="1" dirty="0">
                <a:solidFill>
                  <a:srgbClr val="C00000"/>
                </a:solidFill>
              </a:rPr>
              <a:t>Entity Integrity Constraints</a:t>
            </a:r>
          </a:p>
          <a:p>
            <a:pPr algn="just"/>
            <a:r>
              <a:rPr lang="en-US" dirty="0"/>
              <a:t>Entity integrity constraints state that primary key can never contain null value because primary key is used to determine individual rows in a relation uniquely, if primary key contains null value then we cannot identify those rows. </a:t>
            </a:r>
          </a:p>
          <a:p>
            <a:pPr algn="just"/>
            <a:r>
              <a:rPr lang="en-US" dirty="0"/>
              <a:t>A table can contain null value in it except primary key field.</a:t>
            </a:r>
          </a:p>
          <a:p>
            <a:pPr algn="just"/>
            <a:r>
              <a:rPr lang="en-US" dirty="0"/>
              <a:t>The primary key value must be unique for each row in the table.</a:t>
            </a:r>
          </a:p>
          <a:p>
            <a:pPr lvl="1" algn="just"/>
            <a:r>
              <a:rPr lang="en-US" dirty="0"/>
              <a:t>No duplicate entries are allowed in the primary key column.</a:t>
            </a:r>
          </a:p>
          <a:p>
            <a:pPr lvl="1" algn="just"/>
            <a:r>
              <a:rPr lang="en-US" dirty="0"/>
              <a:t>NOT NULL</a:t>
            </a:r>
          </a:p>
          <a:p>
            <a:pPr algn="just"/>
            <a:r>
              <a:rPr lang="en-US" dirty="0"/>
              <a:t>The primary key column cannot contain NULL values, as every row must have a valid identifier.</a:t>
            </a:r>
            <a:endParaRPr lang="en-IN" dirty="0"/>
          </a:p>
        </p:txBody>
      </p:sp>
    </p:spTree>
    <p:extLst>
      <p:ext uri="{BB962C8B-B14F-4D97-AF65-F5344CB8AC3E}">
        <p14:creationId xmlns:p14="http://schemas.microsoft.com/office/powerpoint/2010/main" val="5468635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B2D58-C992-E7BA-6138-B2E5B82315FA}"/>
              </a:ext>
            </a:extLst>
          </p:cNvPr>
          <p:cNvSpPr>
            <a:spLocks noGrp="1"/>
          </p:cNvSpPr>
          <p:nvPr>
            <p:ph type="title"/>
          </p:nvPr>
        </p:nvSpPr>
        <p:spPr>
          <a:xfrm>
            <a:off x="838200" y="1"/>
            <a:ext cx="10515600" cy="1037689"/>
          </a:xfrm>
        </p:spPr>
        <p:txBody>
          <a:bodyPr>
            <a:normAutofit/>
          </a:bodyPr>
          <a:lstStyle/>
          <a:p>
            <a:pPr algn="ctr"/>
            <a:r>
              <a:rPr lang="en-IN" sz="4800" b="1" dirty="0">
                <a:solidFill>
                  <a:srgbClr val="C00000"/>
                </a:solidFill>
              </a:rPr>
              <a:t>Referential integrity</a:t>
            </a:r>
          </a:p>
        </p:txBody>
      </p:sp>
      <p:sp>
        <p:nvSpPr>
          <p:cNvPr id="3" name="Content Placeholder 2">
            <a:extLst>
              <a:ext uri="{FF2B5EF4-FFF2-40B4-BE49-F238E27FC236}">
                <a16:creationId xmlns:a16="http://schemas.microsoft.com/office/drawing/2014/main" id="{6A1EEDD2-6D73-563C-7DA6-8979C4BF8436}"/>
              </a:ext>
            </a:extLst>
          </p:cNvPr>
          <p:cNvSpPr>
            <a:spLocks noGrp="1"/>
          </p:cNvSpPr>
          <p:nvPr>
            <p:ph idx="1"/>
          </p:nvPr>
        </p:nvSpPr>
        <p:spPr>
          <a:xfrm>
            <a:off x="739739" y="1037690"/>
            <a:ext cx="10859785" cy="5139273"/>
          </a:xfrm>
        </p:spPr>
        <p:txBody>
          <a:bodyPr/>
          <a:lstStyle/>
          <a:p>
            <a:pPr algn="just"/>
            <a:r>
              <a:rPr lang="en-US" dirty="0"/>
              <a:t>Referential integrity refers to the relationship between tables. </a:t>
            </a:r>
          </a:p>
          <a:p>
            <a:pPr algn="just"/>
            <a:r>
              <a:rPr lang="en-US" dirty="0"/>
              <a:t>A referential integrity constraint is also known as </a:t>
            </a:r>
            <a:r>
              <a:rPr lang="en-US" b="1" dirty="0"/>
              <a:t>foreign key constraint</a:t>
            </a:r>
            <a:r>
              <a:rPr lang="en-US" dirty="0"/>
              <a:t>. A foreign key is a key whose values are derived from the Primary key of another table.</a:t>
            </a:r>
          </a:p>
          <a:p>
            <a:pPr algn="just"/>
            <a:r>
              <a:rPr lang="en-US" dirty="0"/>
              <a:t>The table from which the values are derived is known as </a:t>
            </a:r>
            <a:r>
              <a:rPr lang="en-US" b="1" dirty="0"/>
              <a:t>Master or Referenced Table</a:t>
            </a:r>
            <a:r>
              <a:rPr lang="en-US" dirty="0"/>
              <a:t> and the Table in which values are inserted accordingly is known as </a:t>
            </a:r>
            <a:r>
              <a:rPr lang="en-US" b="1" dirty="0"/>
              <a:t>Child or Referencing Table</a:t>
            </a:r>
            <a:r>
              <a:rPr lang="en-US" dirty="0"/>
              <a:t>, In other words, we can say that the table containing the foreign key is called the child table, and the table containing the Primary key/candidate key is called the referenced or parent table. </a:t>
            </a:r>
            <a:endParaRPr lang="en-IN" dirty="0"/>
          </a:p>
        </p:txBody>
      </p:sp>
    </p:spTree>
    <p:extLst>
      <p:ext uri="{BB962C8B-B14F-4D97-AF65-F5344CB8AC3E}">
        <p14:creationId xmlns:p14="http://schemas.microsoft.com/office/powerpoint/2010/main" val="41975285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D30D5-F30F-A406-3838-1D86CFAFDF77}"/>
              </a:ext>
            </a:extLst>
          </p:cNvPr>
          <p:cNvSpPr>
            <a:spLocks noGrp="1"/>
          </p:cNvSpPr>
          <p:nvPr>
            <p:ph type="title"/>
          </p:nvPr>
        </p:nvSpPr>
        <p:spPr>
          <a:xfrm>
            <a:off x="838200" y="102742"/>
            <a:ext cx="10515600" cy="986319"/>
          </a:xfrm>
        </p:spPr>
        <p:txBody>
          <a:bodyPr/>
          <a:lstStyle/>
          <a:p>
            <a:pPr algn="ctr"/>
            <a:r>
              <a:rPr lang="en-US" b="1" dirty="0">
                <a:solidFill>
                  <a:srgbClr val="C00000"/>
                </a:solidFill>
              </a:rPr>
              <a:t>Extended ER Features</a:t>
            </a:r>
            <a:endParaRPr lang="en-IN" b="1" dirty="0">
              <a:solidFill>
                <a:srgbClr val="C00000"/>
              </a:solidFill>
            </a:endParaRPr>
          </a:p>
        </p:txBody>
      </p:sp>
      <p:sp>
        <p:nvSpPr>
          <p:cNvPr id="3" name="Content Placeholder 2">
            <a:extLst>
              <a:ext uri="{FF2B5EF4-FFF2-40B4-BE49-F238E27FC236}">
                <a16:creationId xmlns:a16="http://schemas.microsoft.com/office/drawing/2014/main" id="{81751F43-CD96-1F45-2712-26922E9777DF}"/>
              </a:ext>
            </a:extLst>
          </p:cNvPr>
          <p:cNvSpPr>
            <a:spLocks noGrp="1"/>
          </p:cNvSpPr>
          <p:nvPr>
            <p:ph idx="1"/>
          </p:nvPr>
        </p:nvSpPr>
        <p:spPr>
          <a:xfrm>
            <a:off x="719191" y="1191802"/>
            <a:ext cx="10634609" cy="4985161"/>
          </a:xfrm>
        </p:spPr>
        <p:txBody>
          <a:bodyPr/>
          <a:lstStyle/>
          <a:p>
            <a:pPr algn="just"/>
            <a:r>
              <a:rPr lang="en-US" dirty="0"/>
              <a:t>The Extended Entity-Relationship (EER) model is an enhancement of the basic Entity-Relationship (ER) model used in database design. It includes additional features that provide more detail and allow for a more accurate representation of complex real-world scenarios.</a:t>
            </a:r>
          </a:p>
          <a:p>
            <a:pPr algn="just"/>
            <a:endParaRPr lang="en-US" dirty="0"/>
          </a:p>
          <a:p>
            <a:pPr algn="just"/>
            <a:r>
              <a:rPr lang="en-US" dirty="0"/>
              <a:t>Using the ER model for bigger data creates a lot of complexity while designing a database model, So in order to minimize the complexity </a:t>
            </a:r>
            <a:r>
              <a:rPr lang="en-US" dirty="0">
                <a:solidFill>
                  <a:srgbClr val="C00000"/>
                </a:solidFill>
              </a:rPr>
              <a:t>Generalization, Specialization, and Aggregation</a:t>
            </a:r>
            <a:r>
              <a:rPr lang="en-US" dirty="0"/>
              <a:t> were introduced in the ER model. </a:t>
            </a:r>
          </a:p>
          <a:p>
            <a:pPr algn="just"/>
            <a:r>
              <a:rPr lang="en-US" dirty="0"/>
              <a:t>These were used for data abstraction. In which an abstraction mechanism is used to hide details of a set of objects.</a:t>
            </a:r>
            <a:endParaRPr lang="en-IN" dirty="0"/>
          </a:p>
        </p:txBody>
      </p:sp>
    </p:spTree>
    <p:extLst>
      <p:ext uri="{BB962C8B-B14F-4D97-AF65-F5344CB8AC3E}">
        <p14:creationId xmlns:p14="http://schemas.microsoft.com/office/powerpoint/2010/main" val="30893513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96C054-5FB7-C931-992E-D98E26CEC485}"/>
              </a:ext>
            </a:extLst>
          </p:cNvPr>
          <p:cNvSpPr>
            <a:spLocks noGrp="1"/>
          </p:cNvSpPr>
          <p:nvPr>
            <p:ph idx="1"/>
          </p:nvPr>
        </p:nvSpPr>
        <p:spPr>
          <a:xfrm>
            <a:off x="838200" y="695468"/>
            <a:ext cx="10515600" cy="4351338"/>
          </a:xfrm>
        </p:spPr>
        <p:txBody>
          <a:bodyPr/>
          <a:lstStyle/>
          <a:p>
            <a:pPr marL="0" indent="0">
              <a:buNone/>
            </a:pPr>
            <a:r>
              <a:rPr lang="en-US" sz="3200" b="1" dirty="0">
                <a:solidFill>
                  <a:srgbClr val="C00000"/>
                </a:solidFill>
              </a:rPr>
              <a:t>1. Generalization</a:t>
            </a:r>
          </a:p>
          <a:p>
            <a:pPr algn="just"/>
            <a:r>
              <a:rPr lang="en-US" dirty="0"/>
              <a:t>Generalization is the process of extracting common properties from a set of entities and create a generalized entity from it.</a:t>
            </a:r>
          </a:p>
          <a:p>
            <a:pPr algn="just"/>
            <a:r>
              <a:rPr lang="en-US" dirty="0"/>
              <a:t>Generalization is a "bottle-up approach" in which two or more entities can be combined to form a higher level entity if they have some attributes in common.</a:t>
            </a:r>
          </a:p>
          <a:p>
            <a:pPr algn="just"/>
            <a:r>
              <a:rPr lang="en-US" dirty="0"/>
              <a:t>Subclasses are combined to make a superclass.</a:t>
            </a:r>
          </a:p>
          <a:p>
            <a:pPr algn="just"/>
            <a:r>
              <a:rPr lang="en-US" dirty="0"/>
              <a:t>Generalization is used to emphasize the similarities among lower-level entity set and to hide differences in the schema.</a:t>
            </a:r>
            <a:endParaRPr lang="en-IN" dirty="0"/>
          </a:p>
        </p:txBody>
      </p:sp>
    </p:spTree>
    <p:extLst>
      <p:ext uri="{BB962C8B-B14F-4D97-AF65-F5344CB8AC3E}">
        <p14:creationId xmlns:p14="http://schemas.microsoft.com/office/powerpoint/2010/main" val="15960520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8D6B6D9-8C3F-2A81-F506-125E5A0CE23C}"/>
              </a:ext>
            </a:extLst>
          </p:cNvPr>
          <p:cNvPicPr>
            <a:picLocks noGrp="1" noChangeAspect="1"/>
          </p:cNvPicPr>
          <p:nvPr>
            <p:ph idx="1"/>
          </p:nvPr>
        </p:nvPicPr>
        <p:blipFill>
          <a:blip r:embed="rId2"/>
          <a:stretch>
            <a:fillRect/>
          </a:stretch>
        </p:blipFill>
        <p:spPr>
          <a:xfrm>
            <a:off x="1550933" y="1469204"/>
            <a:ext cx="8658620" cy="2908755"/>
          </a:xfrm>
          <a:prstGeom prst="rect">
            <a:avLst/>
          </a:prstGeom>
        </p:spPr>
      </p:pic>
    </p:spTree>
    <p:extLst>
      <p:ext uri="{BB962C8B-B14F-4D97-AF65-F5344CB8AC3E}">
        <p14:creationId xmlns:p14="http://schemas.microsoft.com/office/powerpoint/2010/main" val="11846841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DC7B1F-FDC8-E68D-BD74-2FAEAB1E9B78}"/>
              </a:ext>
            </a:extLst>
          </p:cNvPr>
          <p:cNvSpPr>
            <a:spLocks noGrp="1"/>
          </p:cNvSpPr>
          <p:nvPr>
            <p:ph idx="1"/>
          </p:nvPr>
        </p:nvSpPr>
        <p:spPr>
          <a:xfrm>
            <a:off x="739739" y="667820"/>
            <a:ext cx="10614061" cy="4687211"/>
          </a:xfrm>
        </p:spPr>
        <p:txBody>
          <a:bodyPr>
            <a:normAutofit fontScale="92500" lnSpcReduction="20000"/>
          </a:bodyPr>
          <a:lstStyle/>
          <a:p>
            <a:pPr marL="0" indent="0">
              <a:buNone/>
            </a:pPr>
            <a:r>
              <a:rPr lang="en-US" sz="3500" b="1" dirty="0">
                <a:solidFill>
                  <a:srgbClr val="C00000"/>
                </a:solidFill>
              </a:rPr>
              <a:t>2. Specialization</a:t>
            </a:r>
          </a:p>
          <a:p>
            <a:pPr algn="just"/>
            <a:r>
              <a:rPr lang="en-US" dirty="0"/>
              <a:t>Specialization is opposite of Generalization.</a:t>
            </a:r>
          </a:p>
          <a:p>
            <a:pPr algn="just"/>
            <a:r>
              <a:rPr lang="en-US" dirty="0"/>
              <a:t>In Specialization, an entity is broken down into sub-entities based on their characteristics.</a:t>
            </a:r>
          </a:p>
          <a:p>
            <a:pPr algn="just"/>
            <a:r>
              <a:rPr lang="en-US" dirty="0"/>
              <a:t>Specialization is a "Top-down approach" where higher level entity is specialized into two or more lower level entities.</a:t>
            </a:r>
          </a:p>
          <a:p>
            <a:pPr algn="just"/>
            <a:r>
              <a:rPr lang="en-US" dirty="0"/>
              <a:t>Specialization is used to identify the subset of an entity set that shares some distinguishing characteristics</a:t>
            </a:r>
          </a:p>
          <a:p>
            <a:pPr algn="just"/>
            <a:r>
              <a:rPr lang="en-US" dirty="0"/>
              <a:t>Specialization can be repeatedly applied to refine the design of schema.</a:t>
            </a:r>
          </a:p>
          <a:p>
            <a:pPr algn="just"/>
            <a:r>
              <a:rPr lang="en-US" dirty="0"/>
              <a:t>Normally, the superclass is defined first, the subclass and its related attributes are defined next, and relationship set are then added. </a:t>
            </a:r>
          </a:p>
          <a:p>
            <a:pPr algn="just"/>
            <a:r>
              <a:rPr lang="en-US" dirty="0"/>
              <a:t>Depicted by triangle component labeled ISA</a:t>
            </a:r>
            <a:endParaRPr lang="en-IN" dirty="0"/>
          </a:p>
        </p:txBody>
      </p:sp>
    </p:spTree>
    <p:extLst>
      <p:ext uri="{BB962C8B-B14F-4D97-AF65-F5344CB8AC3E}">
        <p14:creationId xmlns:p14="http://schemas.microsoft.com/office/powerpoint/2010/main" val="35531854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B9ED582-8BE9-834B-A16D-AFE5C395AC05}"/>
              </a:ext>
            </a:extLst>
          </p:cNvPr>
          <p:cNvPicPr>
            <a:picLocks noGrp="1" noChangeAspect="1"/>
          </p:cNvPicPr>
          <p:nvPr>
            <p:ph idx="1"/>
          </p:nvPr>
        </p:nvPicPr>
        <p:blipFill>
          <a:blip r:embed="rId2"/>
          <a:stretch>
            <a:fillRect/>
          </a:stretch>
        </p:blipFill>
        <p:spPr>
          <a:xfrm>
            <a:off x="1039310" y="1284269"/>
            <a:ext cx="10113379" cy="3487372"/>
          </a:xfrm>
          <a:prstGeom prst="rect">
            <a:avLst/>
          </a:prstGeom>
        </p:spPr>
      </p:pic>
    </p:spTree>
    <p:extLst>
      <p:ext uri="{BB962C8B-B14F-4D97-AF65-F5344CB8AC3E}">
        <p14:creationId xmlns:p14="http://schemas.microsoft.com/office/powerpoint/2010/main" val="40013782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F6A6C6-B5FC-5EDE-9FA7-23DD64023370}"/>
              </a:ext>
            </a:extLst>
          </p:cNvPr>
          <p:cNvSpPr>
            <a:spLocks noGrp="1"/>
          </p:cNvSpPr>
          <p:nvPr>
            <p:ph idx="1"/>
          </p:nvPr>
        </p:nvSpPr>
        <p:spPr>
          <a:xfrm>
            <a:off x="910119" y="962596"/>
            <a:ext cx="10515600" cy="4351338"/>
          </a:xfrm>
        </p:spPr>
        <p:txBody>
          <a:bodyPr/>
          <a:lstStyle/>
          <a:p>
            <a:pPr marL="0" indent="0">
              <a:buNone/>
            </a:pPr>
            <a:r>
              <a:rPr lang="en-US" sz="3200" b="1" dirty="0">
                <a:solidFill>
                  <a:srgbClr val="C00000"/>
                </a:solidFill>
              </a:rPr>
              <a:t>3. Aggregation</a:t>
            </a:r>
          </a:p>
          <a:p>
            <a:pPr algn="just"/>
            <a:r>
              <a:rPr lang="en-US" dirty="0"/>
              <a:t>Aggregation is used when we need to express a relationship among relationships.</a:t>
            </a:r>
          </a:p>
          <a:p>
            <a:pPr algn="just"/>
            <a:r>
              <a:rPr lang="en-US" dirty="0"/>
              <a:t>Aggregation is an abstraction through which relationships are treated as higher level entities.</a:t>
            </a:r>
          </a:p>
          <a:p>
            <a:pPr algn="just"/>
            <a:r>
              <a:rPr lang="en-US" dirty="0"/>
              <a:t>Aggregation is a process when a relationship between two entities is considered as a single entity and again this single entity has a relationship with another entity.</a:t>
            </a:r>
            <a:endParaRPr lang="en-IN" dirty="0"/>
          </a:p>
        </p:txBody>
      </p:sp>
    </p:spTree>
    <p:extLst>
      <p:ext uri="{BB962C8B-B14F-4D97-AF65-F5344CB8AC3E}">
        <p14:creationId xmlns:p14="http://schemas.microsoft.com/office/powerpoint/2010/main" val="12786817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5C90051-80E0-D65B-045D-5B5151CB2333}"/>
              </a:ext>
            </a:extLst>
          </p:cNvPr>
          <p:cNvPicPr>
            <a:picLocks noGrp="1" noChangeAspect="1"/>
          </p:cNvPicPr>
          <p:nvPr>
            <p:ph idx="1"/>
          </p:nvPr>
        </p:nvPicPr>
        <p:blipFill>
          <a:blip r:embed="rId2"/>
          <a:stretch>
            <a:fillRect/>
          </a:stretch>
        </p:blipFill>
        <p:spPr>
          <a:xfrm>
            <a:off x="360377" y="1641617"/>
            <a:ext cx="5277567" cy="1596464"/>
          </a:xfrm>
          <a:prstGeom prst="rect">
            <a:avLst/>
          </a:prstGeom>
        </p:spPr>
      </p:pic>
      <p:pic>
        <p:nvPicPr>
          <p:cNvPr id="5" name="Picture 4">
            <a:extLst>
              <a:ext uri="{FF2B5EF4-FFF2-40B4-BE49-F238E27FC236}">
                <a16:creationId xmlns:a16="http://schemas.microsoft.com/office/drawing/2014/main" id="{3552BF77-D837-D1F3-D0A3-7DF36C674E04}"/>
              </a:ext>
            </a:extLst>
          </p:cNvPr>
          <p:cNvPicPr>
            <a:picLocks noChangeAspect="1"/>
          </p:cNvPicPr>
          <p:nvPr/>
        </p:nvPicPr>
        <p:blipFill>
          <a:blip r:embed="rId3"/>
          <a:stretch>
            <a:fillRect/>
          </a:stretch>
        </p:blipFill>
        <p:spPr>
          <a:xfrm>
            <a:off x="6253971" y="595902"/>
            <a:ext cx="5577652" cy="4613096"/>
          </a:xfrm>
          <a:prstGeom prst="rect">
            <a:avLst/>
          </a:prstGeom>
        </p:spPr>
      </p:pic>
    </p:spTree>
    <p:extLst>
      <p:ext uri="{BB962C8B-B14F-4D97-AF65-F5344CB8AC3E}">
        <p14:creationId xmlns:p14="http://schemas.microsoft.com/office/powerpoint/2010/main" val="36801001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5F8C4-0F80-CCAD-31D7-98352AB91FEC}"/>
              </a:ext>
            </a:extLst>
          </p:cNvPr>
          <p:cNvSpPr>
            <a:spLocks noGrp="1"/>
          </p:cNvSpPr>
          <p:nvPr>
            <p:ph type="title"/>
          </p:nvPr>
        </p:nvSpPr>
        <p:spPr>
          <a:xfrm>
            <a:off x="838200" y="174661"/>
            <a:ext cx="10515600" cy="1202077"/>
          </a:xfrm>
        </p:spPr>
        <p:txBody>
          <a:bodyPr>
            <a:normAutofit fontScale="90000"/>
          </a:bodyPr>
          <a:lstStyle/>
          <a:p>
            <a:pPr algn="ctr"/>
            <a:r>
              <a:rPr lang="en-US" b="1" dirty="0">
                <a:solidFill>
                  <a:srgbClr val="C00000"/>
                </a:solidFill>
              </a:rPr>
              <a:t>Constraints on the generalization, specialization and aggregation</a:t>
            </a:r>
            <a:endParaRPr lang="en-IN" b="1" dirty="0">
              <a:solidFill>
                <a:srgbClr val="C00000"/>
              </a:solidFill>
            </a:endParaRPr>
          </a:p>
        </p:txBody>
      </p:sp>
      <p:sp>
        <p:nvSpPr>
          <p:cNvPr id="3" name="Content Placeholder 2">
            <a:extLst>
              <a:ext uri="{FF2B5EF4-FFF2-40B4-BE49-F238E27FC236}">
                <a16:creationId xmlns:a16="http://schemas.microsoft.com/office/drawing/2014/main" id="{0A20FE91-1D71-CE3D-8947-29610809777F}"/>
              </a:ext>
            </a:extLst>
          </p:cNvPr>
          <p:cNvSpPr>
            <a:spLocks noGrp="1"/>
          </p:cNvSpPr>
          <p:nvPr>
            <p:ph idx="1"/>
          </p:nvPr>
        </p:nvSpPr>
        <p:spPr>
          <a:xfrm>
            <a:off x="739739" y="2226317"/>
            <a:ext cx="10614061" cy="3722420"/>
          </a:xfrm>
        </p:spPr>
        <p:txBody>
          <a:bodyPr>
            <a:normAutofit/>
          </a:bodyPr>
          <a:lstStyle/>
          <a:p>
            <a:pPr algn="just"/>
            <a:r>
              <a:rPr lang="en-US" dirty="0"/>
              <a:t>There are three constraints that may apply to a specialization/generalization: </a:t>
            </a:r>
            <a:r>
              <a:rPr lang="en-US" dirty="0">
                <a:solidFill>
                  <a:srgbClr val="C00000"/>
                </a:solidFill>
              </a:rPr>
              <a:t>membership constraints, disjoint constraints and completeness constraints.</a:t>
            </a:r>
          </a:p>
          <a:p>
            <a:pPr algn="just"/>
            <a:r>
              <a:rPr lang="en-US" dirty="0"/>
              <a:t>The first is the </a:t>
            </a:r>
            <a:r>
              <a:rPr lang="en-US" b="1" dirty="0" err="1"/>
              <a:t>disjointness</a:t>
            </a:r>
            <a:r>
              <a:rPr lang="en-US" dirty="0"/>
              <a:t> (or disjointedness) constraint, which specifies that the subclasses of the specialization must be disjoint.</a:t>
            </a:r>
          </a:p>
          <a:p>
            <a:pPr algn="just"/>
            <a:r>
              <a:rPr lang="en-US" dirty="0"/>
              <a:t>If the subclasses are not constrained to be dis-joint, their sets of entities may be overlapping; </a:t>
            </a:r>
          </a:p>
        </p:txBody>
      </p:sp>
    </p:spTree>
    <p:extLst>
      <p:ext uri="{BB962C8B-B14F-4D97-AF65-F5344CB8AC3E}">
        <p14:creationId xmlns:p14="http://schemas.microsoft.com/office/powerpoint/2010/main" val="2215093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350B9F-ABF7-2F9C-749C-62F6E84B43A8}"/>
              </a:ext>
            </a:extLst>
          </p:cNvPr>
          <p:cNvSpPr>
            <a:spLocks noGrp="1"/>
          </p:cNvSpPr>
          <p:nvPr>
            <p:ph idx="1"/>
          </p:nvPr>
        </p:nvSpPr>
        <p:spPr>
          <a:xfrm>
            <a:off x="766281" y="1075611"/>
            <a:ext cx="10515600" cy="4351338"/>
          </a:xfrm>
        </p:spPr>
        <p:txBody>
          <a:bodyPr/>
          <a:lstStyle/>
          <a:p>
            <a:pPr algn="just"/>
            <a:r>
              <a:rPr lang="en-US" dirty="0"/>
              <a:t>The second constraint on specialization is called the </a:t>
            </a:r>
            <a:r>
              <a:rPr lang="en-US" b="1" dirty="0"/>
              <a:t>completeness</a:t>
            </a:r>
            <a:r>
              <a:rPr lang="en-US" dirty="0"/>
              <a:t> (or </a:t>
            </a:r>
            <a:r>
              <a:rPr lang="en-US" dirty="0" err="1"/>
              <a:t>totalness</a:t>
            </a:r>
            <a:r>
              <a:rPr lang="en-US" dirty="0"/>
              <a:t>) constraint, which may be total or partial. A </a:t>
            </a:r>
            <a:r>
              <a:rPr lang="en-US" b="1" dirty="0"/>
              <a:t>total specialization</a:t>
            </a:r>
            <a:r>
              <a:rPr lang="en-US" dirty="0"/>
              <a:t> constraint specifies that every entity in the superclass must be a member of at least one subclass in the specialization.</a:t>
            </a:r>
          </a:p>
          <a:p>
            <a:pPr algn="just"/>
            <a:endParaRPr lang="en-US" dirty="0"/>
          </a:p>
          <a:p>
            <a:pPr algn="just"/>
            <a:r>
              <a:rPr lang="en-US" b="1" dirty="0"/>
              <a:t>Membership</a:t>
            </a:r>
            <a:r>
              <a:rPr lang="en-US" dirty="0"/>
              <a:t> in such a subclass is determined by the database users when they apply the operation to add an entity to the subclass; hence, membership is specified individually for each entity by the user, not by any condition that may be evaluated automatically.</a:t>
            </a:r>
            <a:endParaRPr lang="en-IN" dirty="0"/>
          </a:p>
        </p:txBody>
      </p:sp>
    </p:spTree>
    <p:extLst>
      <p:ext uri="{BB962C8B-B14F-4D97-AF65-F5344CB8AC3E}">
        <p14:creationId xmlns:p14="http://schemas.microsoft.com/office/powerpoint/2010/main" val="22919954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245</TotalTime>
  <Words>3011</Words>
  <Application>Microsoft Office PowerPoint</Application>
  <PresentationFormat>Widescreen</PresentationFormat>
  <Paragraphs>186</Paragraphs>
  <Slides>49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Calibri Light</vt:lpstr>
      <vt:lpstr>Nunito</vt:lpstr>
      <vt:lpstr>Source Sans 3</vt:lpstr>
      <vt:lpstr>Office Theme</vt:lpstr>
      <vt:lpstr>ER Model </vt:lpstr>
      <vt:lpstr>Symbols Used in ER Model</vt:lpstr>
      <vt:lpstr>PowerPoint Presentation</vt:lpstr>
      <vt:lpstr>Components of ER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Database Keys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1:</vt:lpstr>
      <vt:lpstr>Example 2:</vt:lpstr>
      <vt:lpstr>Integrity Constraints</vt:lpstr>
      <vt:lpstr>PowerPoint Presentation</vt:lpstr>
      <vt:lpstr>PowerPoint Presentation</vt:lpstr>
      <vt:lpstr>PowerPoint Presentation</vt:lpstr>
      <vt:lpstr>PowerPoint Presentation</vt:lpstr>
      <vt:lpstr>Referential integrity</vt:lpstr>
      <vt:lpstr>Extended ER Features</vt:lpstr>
      <vt:lpstr>PowerPoint Presentation</vt:lpstr>
      <vt:lpstr>PowerPoint Presentation</vt:lpstr>
      <vt:lpstr>PowerPoint Presentation</vt:lpstr>
      <vt:lpstr>PowerPoint Presentation</vt:lpstr>
      <vt:lpstr>PowerPoint Presentation</vt:lpstr>
      <vt:lpstr>PowerPoint Presentation</vt:lpstr>
      <vt:lpstr>Constraints on the generalization, specialization and aggregation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pratyashi create powerposatapathyint</dc:creator>
  <cp:lastModifiedBy>PC 46</cp:lastModifiedBy>
  <cp:revision>35</cp:revision>
  <dcterms:created xsi:type="dcterms:W3CDTF">2025-02-03T17:53:15Z</dcterms:created>
  <dcterms:modified xsi:type="dcterms:W3CDTF">2026-02-26T06:09:27Z</dcterms:modified>
</cp:coreProperties>
</file>