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ADA6-4624-CB68-5D07-6D3973F32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2B449-D9A2-9AED-3D86-9360FA86E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ADC0F-92FC-D25A-FB88-33201B46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87272-69F5-39F2-4B08-FC7C8AE7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4D20-5324-FFD8-EE27-254FCC76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87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9611-B8A0-D315-E086-0BE24954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8ADE-989E-4B52-2678-6CF2D3408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C10A0-A2FD-B2CD-F39B-DF3BE87A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98485-1ADE-95F3-4882-352500C5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26E46-44BE-1012-E4A6-2A37BE43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6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A1F9-4CAC-C98E-27F7-C8D86026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DA644-3B9C-73D2-8E00-BE2BDA9BF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A471-09C1-D345-4887-580881D3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D1C7D-6872-BD9A-5C7C-99068148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0831E-27F7-0B45-BEA8-B71EC6DA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940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6611-451F-E2C5-9E77-5D054D8D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210B2-0563-439C-3B2D-E7AC1D384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7DDD4-7BF8-9850-DC5B-14C706636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50658-9F17-E9EF-9C73-193ED9DC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33EFB-94F5-D0CB-35C4-79C52A6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61D8B-850F-BA99-F91C-064C1A52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45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D4DA-C6DF-C178-68D3-E0B681CD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57365-7734-78A4-31E8-3BDDE2FB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13006-AEDA-5AFC-AE16-531629263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5C2F9-77D2-95F0-E82A-697E24B26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7A9F6-47E5-316A-5A1F-D2B7486B5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866CA-D188-14E9-6F27-138C1C44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25B5D-0D22-DC79-0F4B-FAC08556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0806EC-D278-E14D-B42F-AF0DE791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78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6C9D-4E3E-32B5-BA6F-D830FEC9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A1141-9E01-4AFF-CB5E-FCCE4ABC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B1962-36B0-1984-22F5-31B8C07A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CE818-BFF5-1056-EDFF-269D8262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4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85044-57BC-F541-2ECA-03524B4C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F062AE-644A-250A-73B8-9F37FCEE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A5C1D-23E3-B73C-F3BF-477592FA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13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9B23-795B-B028-11D5-4E8CF148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192DA-1DF5-F386-937C-74865E7F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EBD0A-4F8E-9548-23D3-81E07ADA0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4D409-08E9-B562-CB38-45B9CA2C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DEAE0-80BC-5448-D7E3-614D2339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C6D33-4952-4980-E1F1-14D15F24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72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072E-BDDD-06DD-3DDE-226F414E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06355-F923-FC95-BBAD-E9AC4F409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9D29D-8F41-B0B8-DBB6-5A5281148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CAC7D-43D1-97AE-414B-2248A6C1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7A65E-0C16-3378-675B-C1BB8969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DC2F8-F0C8-3372-F1F6-D9FAA8AA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3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51C2-484D-C0A5-86E0-25AAE4A0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9B55F-FE5C-3413-BA0E-139D4768C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D1F-8784-C6F7-45F7-ED326F78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EF403-57A0-243C-0C85-7A871D89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C66E-ADAA-87ED-4932-B399520B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82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5CA742-B5CB-8350-CC8A-829D55187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AF2E4-2D1A-B4F2-8CF9-95E08994E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5244-43CE-A179-FFD2-24F1979E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07DD-5700-7F39-D030-F6CDE836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9C9ED-64B3-091F-9B06-65E64675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35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2F5CB-EBE7-7341-2DAB-C4B0AE02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F962F-747D-0550-D5AC-A3777BB6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B24E0-B70F-0451-3736-589D667B6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5F7F0-0922-4860-9CCF-B8D84BC29533}" type="datetimeFigureOut">
              <a:rPr lang="en-IN" smtClean="0"/>
              <a:t>06-04-2025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E8D1-6E9F-3FC9-65F5-21C2CA0E1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DA604-EA5A-59C2-123E-513809008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DD063-E918-46A0-A624-06455456E7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6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5D1B-1366-967A-5218-88F50FC45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SQL Constraints</a:t>
            </a:r>
          </a:p>
        </p:txBody>
      </p:sp>
    </p:spTree>
    <p:extLst>
      <p:ext uri="{BB962C8B-B14F-4D97-AF65-F5344CB8AC3E}">
        <p14:creationId xmlns:p14="http://schemas.microsoft.com/office/powerpoint/2010/main" val="195097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DAA51-2DB4-C782-4C1E-730D6E9AE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39" y="719191"/>
            <a:ext cx="10614061" cy="545777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C00000"/>
                </a:solidFill>
              </a:rPr>
              <a:t>SQL constraints </a:t>
            </a:r>
            <a:r>
              <a:rPr lang="en-US" dirty="0"/>
              <a:t>are used to specify rules for the data in a table.</a:t>
            </a:r>
          </a:p>
          <a:p>
            <a:pPr algn="just"/>
            <a:r>
              <a:rPr lang="en-US" dirty="0"/>
              <a:t>Constraints are used to limit the type of data that can go into a table. This ensures the accuracy and reliability of the data in the table. </a:t>
            </a:r>
          </a:p>
          <a:p>
            <a:pPr algn="just"/>
            <a:r>
              <a:rPr lang="en-US" dirty="0"/>
              <a:t>Constraints can be column level or table level. </a:t>
            </a:r>
          </a:p>
          <a:p>
            <a:pPr algn="just"/>
            <a:r>
              <a:rPr lang="en-US" dirty="0"/>
              <a:t>Column level constraints apply to a column, and table level constraints apply to the whole table.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07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0F3D-4C33-877B-889E-88B843E2E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562" y="626724"/>
            <a:ext cx="10583238" cy="5550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following constraints are commonly used in SQL: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NOT NULL </a:t>
            </a:r>
            <a:r>
              <a:rPr lang="en-US" dirty="0"/>
              <a:t>- Ensures that a column cannot have a NULL value</a:t>
            </a:r>
          </a:p>
          <a:p>
            <a:r>
              <a:rPr lang="en-US" dirty="0">
                <a:solidFill>
                  <a:srgbClr val="C00000"/>
                </a:solidFill>
              </a:rPr>
              <a:t>UNIQUE</a:t>
            </a:r>
            <a:r>
              <a:rPr lang="en-US" dirty="0"/>
              <a:t> - Ensures that all values in a column are different</a:t>
            </a:r>
          </a:p>
          <a:p>
            <a:r>
              <a:rPr lang="en-US" dirty="0">
                <a:solidFill>
                  <a:srgbClr val="C00000"/>
                </a:solidFill>
              </a:rPr>
              <a:t>PRIMARY KEY </a:t>
            </a:r>
            <a:r>
              <a:rPr lang="en-US" dirty="0"/>
              <a:t>- A combination of a NOT NULL and UNIQUE. Uniquely identifies each row in a table</a:t>
            </a:r>
          </a:p>
          <a:p>
            <a:r>
              <a:rPr lang="en-US" dirty="0">
                <a:solidFill>
                  <a:srgbClr val="C00000"/>
                </a:solidFill>
              </a:rPr>
              <a:t>FOREIGN KEY</a:t>
            </a:r>
            <a:r>
              <a:rPr lang="en-US" dirty="0"/>
              <a:t> - Prevents actions that would destroy links between tables</a:t>
            </a:r>
          </a:p>
          <a:p>
            <a:r>
              <a:rPr lang="en-US" dirty="0">
                <a:solidFill>
                  <a:srgbClr val="C00000"/>
                </a:solidFill>
              </a:rPr>
              <a:t>CHECK</a:t>
            </a:r>
            <a:r>
              <a:rPr lang="en-US" dirty="0"/>
              <a:t> - Ensures that the values in a column satisfies a specific condition</a:t>
            </a:r>
          </a:p>
          <a:p>
            <a:r>
              <a:rPr lang="en-US" dirty="0">
                <a:solidFill>
                  <a:srgbClr val="C00000"/>
                </a:solidFill>
              </a:rPr>
              <a:t>DEFAULT </a:t>
            </a:r>
            <a:r>
              <a:rPr lang="en-US" dirty="0"/>
              <a:t>- Sets a default value for a column if no value is specified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77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6A11-D097-EC1C-6D39-6AF4DD2E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5757"/>
            <a:ext cx="10439400" cy="934949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NOT NULL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EA97B-F08C-C550-404A-18829AB52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06"/>
            <a:ext cx="10515599" cy="502625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By default, a column can hold NULL values.</a:t>
            </a:r>
          </a:p>
          <a:p>
            <a:pPr algn="just"/>
            <a:r>
              <a:rPr lang="en-US" dirty="0"/>
              <a:t>The NOT NULL constraint enforces a column to NOT accept NULL values.</a:t>
            </a:r>
          </a:p>
          <a:p>
            <a:pPr algn="just"/>
            <a:r>
              <a:rPr lang="en-US" dirty="0"/>
              <a:t>This enforces a field to always contain a value, which means that you cannot insert a new record, or update a record without adding a value to this field.</a:t>
            </a:r>
          </a:p>
          <a:p>
            <a:pPr algn="just"/>
            <a:r>
              <a:rPr lang="en-US" dirty="0"/>
              <a:t>Example</a:t>
            </a:r>
          </a:p>
          <a:p>
            <a:pPr algn="just"/>
            <a:r>
              <a:rPr lang="en-US" dirty="0"/>
              <a:t>CREATE TABLE Persons (</a:t>
            </a:r>
          </a:p>
          <a:p>
            <a:pPr marL="0" indent="0" algn="just">
              <a:buNone/>
            </a:pPr>
            <a:r>
              <a:rPr lang="en-US" dirty="0"/>
              <a:t>    ID int </a:t>
            </a:r>
            <a:r>
              <a:rPr lang="en-US" dirty="0">
                <a:solidFill>
                  <a:schemeClr val="accent1"/>
                </a:solidFill>
              </a:rPr>
              <a:t>NOT NULL</a:t>
            </a:r>
            <a:r>
              <a:rPr lang="en-US" dirty="0"/>
              <a:t>,</a:t>
            </a:r>
          </a:p>
          <a:p>
            <a:pPr marL="0" indent="0" algn="just">
              <a:buNone/>
            </a:pPr>
            <a:r>
              <a:rPr lang="en-US" dirty="0"/>
              <a:t>    LastName varchar(255) </a:t>
            </a:r>
            <a:r>
              <a:rPr lang="en-US" dirty="0">
                <a:solidFill>
                  <a:schemeClr val="accent1"/>
                </a:solidFill>
              </a:rPr>
              <a:t>NOT NULL</a:t>
            </a:r>
            <a:r>
              <a:rPr lang="en-US" dirty="0"/>
              <a:t>,</a:t>
            </a:r>
          </a:p>
          <a:p>
            <a:pPr marL="0" indent="0" algn="just">
              <a:buNone/>
            </a:pPr>
            <a:r>
              <a:rPr lang="en-US" dirty="0"/>
              <a:t>    FirstName varchar(255) </a:t>
            </a:r>
            <a:r>
              <a:rPr lang="en-US" dirty="0">
                <a:solidFill>
                  <a:schemeClr val="accent1"/>
                </a:solidFill>
              </a:rPr>
              <a:t>NOT NULL</a:t>
            </a:r>
            <a:r>
              <a:rPr lang="en-US" dirty="0"/>
              <a:t>,</a:t>
            </a:r>
          </a:p>
          <a:p>
            <a:pPr marL="0" indent="0" algn="just">
              <a:buNone/>
            </a:pPr>
            <a:r>
              <a:rPr lang="en-US" dirty="0"/>
              <a:t>    Age int);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11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5F6F-E82C-57D3-59A5-51644A63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62"/>
            <a:ext cx="10515600" cy="945222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UNIQUE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EDF35-CB3A-5A3E-C0E2-AA798A8D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94" y="1202076"/>
            <a:ext cx="10839236" cy="4974887"/>
          </a:xfrm>
        </p:spPr>
        <p:txBody>
          <a:bodyPr/>
          <a:lstStyle/>
          <a:p>
            <a:r>
              <a:rPr lang="en-US" dirty="0"/>
              <a:t>The UNIQUE constraint ensures that all values in a column are different.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5CC5"/>
                </a:solidFill>
                <a:effectLst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ID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UNIQUE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LastName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FirstName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Age int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64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E615-6F91-7229-640D-A14A7F28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07"/>
            <a:ext cx="10515600" cy="883576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PRIMARY KEY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30A62-E800-C5C9-ADC5-C953B254F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23"/>
            <a:ext cx="10515600" cy="516790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PRIMARY KEY constraint uniquely identifies each record in a table.</a:t>
            </a:r>
          </a:p>
          <a:p>
            <a:pPr algn="just"/>
            <a:r>
              <a:rPr lang="en-US" dirty="0"/>
              <a:t>Primary keys must contain UNIQUE values, and cannot contain NULL values.</a:t>
            </a:r>
          </a:p>
          <a:p>
            <a:pPr algn="just"/>
            <a:r>
              <a:rPr lang="en-US" dirty="0"/>
              <a:t>A table can have only ONE primary key; and in the table, this primary key can consist of single or multiple columns (fields).</a:t>
            </a:r>
          </a:p>
          <a:p>
            <a:pPr algn="just"/>
            <a:endParaRPr lang="en-US" dirty="0"/>
          </a:p>
          <a:p>
            <a:r>
              <a:rPr lang="en-US" b="0" i="0" dirty="0">
                <a:solidFill>
                  <a:srgbClr val="005CC5"/>
                </a:solidFill>
                <a:effectLst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ID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LastName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FirstName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Age int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1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86BE-1D9E-1FF3-7454-C35DE70C0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225"/>
            <a:ext cx="10515600" cy="102741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FOREIGN KEY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EC43E-A55B-37F8-B644-EBD331F6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848"/>
            <a:ext cx="10515600" cy="4900773"/>
          </a:xfrm>
        </p:spPr>
        <p:txBody>
          <a:bodyPr/>
          <a:lstStyle/>
          <a:p>
            <a:r>
              <a:rPr lang="en-US" dirty="0"/>
              <a:t>A FOREIGN KEY is a field (or collection of fields) in one table, that refers to the PRIMARY KEY in another table.</a:t>
            </a:r>
          </a:p>
          <a:p>
            <a:r>
              <a:rPr lang="en-US" dirty="0"/>
              <a:t>The table with the foreign key is called the child table, and the table with the primary key is called the referenced or parent table.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5CC5"/>
                </a:solidFill>
                <a:effectLst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Orders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OrderID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PRIMARY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OrderNumber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FOREIGN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KEY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REFERENCES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Persons(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PersonID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715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5528-E2EF-594F-6E0A-3CFAA084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936"/>
            <a:ext cx="10515600" cy="116098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CHECK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A846-B156-D16A-4740-234BD614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916"/>
            <a:ext cx="10515600" cy="4831047"/>
          </a:xfrm>
        </p:spPr>
        <p:txBody>
          <a:bodyPr/>
          <a:lstStyle/>
          <a:p>
            <a:r>
              <a:rPr lang="en-US" dirty="0"/>
              <a:t>The CHECK constraint is used to limit the value range that can be placed in a column.</a:t>
            </a:r>
          </a:p>
          <a:p>
            <a:r>
              <a:rPr lang="en-US" dirty="0"/>
              <a:t>If you define a CHECK constraint on a column it will allow only certain values for this column.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5CC5"/>
                </a:solidFill>
                <a:effectLst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ID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LastName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FirstName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Age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CHECK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(Age&gt;=</a:t>
            </a:r>
            <a:r>
              <a:rPr lang="en-US" b="0" i="0" dirty="0">
                <a:solidFill>
                  <a:srgbClr val="990055"/>
                </a:solidFill>
                <a:effectLst/>
              </a:rPr>
              <a:t>18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);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80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35EF-FCB3-01FE-0004-AF0770ED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91"/>
            <a:ext cx="10515600" cy="120207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DEFAULT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533C-6096-AD05-B1E3-0E63663E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366"/>
            <a:ext cx="10515600" cy="4851597"/>
          </a:xfrm>
        </p:spPr>
        <p:txBody>
          <a:bodyPr/>
          <a:lstStyle/>
          <a:p>
            <a:r>
              <a:rPr lang="en-US" dirty="0"/>
              <a:t>The DEFAULT constraint is used to set a default value for a column.</a:t>
            </a:r>
          </a:p>
          <a:p>
            <a:r>
              <a:rPr lang="en-US" dirty="0"/>
              <a:t>The default value will be added to all new records, if no other value is specified.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05CC5"/>
                </a:solidFill>
                <a:effectLst/>
              </a:rPr>
              <a:t>CREATE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TABLE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Persons (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ID int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LastName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FirstName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Age int,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    City varchar(</a:t>
            </a:r>
            <a:r>
              <a:rPr lang="en-US" b="0" i="0" dirty="0">
                <a:solidFill>
                  <a:srgbClr val="990055"/>
                </a:solidFill>
                <a:effectLst/>
              </a:rPr>
              <a:t>255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 </a:t>
            </a:r>
            <a:r>
              <a:rPr lang="en-US" b="0" i="0" dirty="0">
                <a:solidFill>
                  <a:srgbClr val="005CC5"/>
                </a:solidFill>
                <a:effectLst/>
              </a:rPr>
              <a:t>DEFAULT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8000"/>
                </a:solidFill>
                <a:effectLst/>
              </a:rPr>
              <a:t>’Bhubaneswar'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995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640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SQL Constraints</vt:lpstr>
      <vt:lpstr>PowerPoint Presentation</vt:lpstr>
      <vt:lpstr>PowerPoint Presentation</vt:lpstr>
      <vt:lpstr>NOT NULL Constraint</vt:lpstr>
      <vt:lpstr>UNIQUE Constraint</vt:lpstr>
      <vt:lpstr>PRIMARY KEY Constraint</vt:lpstr>
      <vt:lpstr>FOREIGN KEY Constraint</vt:lpstr>
      <vt:lpstr>CHECK Constraint</vt:lpstr>
      <vt:lpstr>DEFAULT Constraint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pratyashi create powerposatapathyint</dc:creator>
  <cp:lastModifiedBy>pratyashi create powerposatapathyint</cp:lastModifiedBy>
  <cp:revision>6</cp:revision>
  <dcterms:created xsi:type="dcterms:W3CDTF">2025-04-06T07:00:07Z</dcterms:created>
  <dcterms:modified xsi:type="dcterms:W3CDTF">2025-04-06T08:52:03Z</dcterms:modified>
</cp:coreProperties>
</file>