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89"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1804B-1916-E279-DCBE-6151D9BE36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A9E880-90DB-B995-7DE2-4CA77C94DE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B9A7C6-77DC-CA33-E7D4-4030B7A0C6C2}"/>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5D46248A-23C3-A925-2DCF-D4D0DECD5D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AD4BE1-E5A5-6E5E-A4CB-0F0A247151D3}"/>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168344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53F2C-9EE3-9F91-8AA3-27F358E8CB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9E95F0-A0C1-2D74-88EE-AEA5EDFE1F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912920-485F-3240-7B49-EC4494093F14}"/>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1BA055F4-826F-A7CF-7A30-E49C8F3542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8B5FB-BD97-85A6-D91B-CEA3B70BF1DC}"/>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2354584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439AF-427D-85AD-0D38-67103399D3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65F2D2-7B91-B0EE-A96B-0F866EACFD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7306B8-8A4E-F5DC-E9E9-53778E5500C3}"/>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89D63697-6208-469D-C9AF-7969D58294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583111-F2E6-589E-9225-3E2BEFF13DBB}"/>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2162668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E8B0-CDE6-8F1D-8850-CDE1D16EF6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6404A0-B0A6-4A25-65EC-D1DD13B141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7FBF4B-1A7F-F31E-C292-06A77160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BDB89F-4995-5650-A3AE-9586B60B3734}"/>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6" name="Footer Placeholder 5">
            <a:extLst>
              <a:ext uri="{FF2B5EF4-FFF2-40B4-BE49-F238E27FC236}">
                <a16:creationId xmlns:a16="http://schemas.microsoft.com/office/drawing/2014/main" id="{1EEAB6FE-3927-9279-6606-C712E88C18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946592-0C97-11F8-FA1A-F11CCF1E123D}"/>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3039009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F2DED-D389-7823-3F66-741451B8B2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5C003F-30B6-8D1A-A055-19B025422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49BD7-B657-85A4-998B-8FE7C9729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D8B763-6560-C22E-7194-6101C6FD0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4EDEC0-B0F9-721E-2523-C5C68B773A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13E5E5-D5DA-E381-918A-A99C8AA6D369}"/>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8" name="Footer Placeholder 7">
            <a:extLst>
              <a:ext uri="{FF2B5EF4-FFF2-40B4-BE49-F238E27FC236}">
                <a16:creationId xmlns:a16="http://schemas.microsoft.com/office/drawing/2014/main" id="{D526672B-6D3F-95EA-8FD7-7BE5EA4146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E6667A-506C-F219-FBC4-1924E2EF34A2}"/>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1892118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48638-C527-9143-D8EB-11FA6A5CED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BFC364-FC3A-6E20-688D-58CAE6E90952}"/>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4" name="Footer Placeholder 3">
            <a:extLst>
              <a:ext uri="{FF2B5EF4-FFF2-40B4-BE49-F238E27FC236}">
                <a16:creationId xmlns:a16="http://schemas.microsoft.com/office/drawing/2014/main" id="{15CB31BF-8A31-F9AD-5509-A524243FC8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78B838-5CD4-A081-FF21-6E0E44167938}"/>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11108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AECB9-7BF3-CF21-0F65-5B505EBE855A}"/>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3" name="Footer Placeholder 2">
            <a:extLst>
              <a:ext uri="{FF2B5EF4-FFF2-40B4-BE49-F238E27FC236}">
                <a16:creationId xmlns:a16="http://schemas.microsoft.com/office/drawing/2014/main" id="{77ECC074-0245-72D8-107A-8B076295DE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3AA551-4639-A567-8F76-F448923B83E9}"/>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14381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401E-9C25-AA9C-4C4D-50D45DB21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8EDD15-DFC8-06AC-9946-F92C56F8E9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1B1097-4406-45E0-75EA-57CF74CF25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E0A3B-BB97-1CD9-B740-CE6F0FBC085D}"/>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6" name="Footer Placeholder 5">
            <a:extLst>
              <a:ext uri="{FF2B5EF4-FFF2-40B4-BE49-F238E27FC236}">
                <a16:creationId xmlns:a16="http://schemas.microsoft.com/office/drawing/2014/main" id="{0BB0AB27-EE9F-DD7B-605B-469FE8D354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4545B1-39E1-DAA1-5E7C-6DD9215B6B9D}"/>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152175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52ED3-5BE8-BFFA-5940-F3808FD357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EFAE11-A180-6ED7-9A41-787116528B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F344F9-B3FD-BD6A-3EE9-6A1584633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54DBE-87AA-BAD9-51B2-6462AAE56287}"/>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6" name="Footer Placeholder 5">
            <a:extLst>
              <a:ext uri="{FF2B5EF4-FFF2-40B4-BE49-F238E27FC236}">
                <a16:creationId xmlns:a16="http://schemas.microsoft.com/office/drawing/2014/main" id="{781620C4-2912-0BC5-F079-E84F16F60C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20F669-11B1-971D-3353-2CFBB57A83C8}"/>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378173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14B9-0FCC-5F2D-A6F2-E0AC647CB9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DD137A-4E41-0CB6-F689-B265E58605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41EB69-0934-D62C-4308-6971F7DA11EE}"/>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8DC47A85-A39E-954F-2261-219C52C2BE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77E04C-B6A0-8F98-60F9-79863FBAF45C}"/>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3794403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F0A96-AE14-85F1-53E5-8C3856B192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9985F8-518A-7963-A694-D6EA3155C7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0F5B1D-A475-C105-7435-9422DDBC3619}"/>
              </a:ext>
            </a:extLst>
          </p:cNvPr>
          <p:cNvSpPr>
            <a:spLocks noGrp="1"/>
          </p:cNvSpPr>
          <p:nvPr>
            <p:ph type="dt" sz="half" idx="10"/>
          </p:nvPr>
        </p:nvSpPr>
        <p:spPr/>
        <p:txBody>
          <a:body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205053B7-7BFF-0DE2-7C5C-B63F8D266E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A03FB-2A8C-B365-E04F-2ACEF3258BD2}"/>
              </a:ext>
            </a:extLst>
          </p:cNvPr>
          <p:cNvSpPr>
            <a:spLocks noGrp="1"/>
          </p:cNvSpPr>
          <p:nvPr>
            <p:ph type="sldNum" sz="quarter" idx="12"/>
          </p:nvPr>
        </p:nvSpPr>
        <p:spPr/>
        <p:txBody>
          <a:bodyPr/>
          <a:lstStyle/>
          <a:p>
            <a:fld id="{E4E6E91B-795A-4580-B3BA-CD4665E961E1}" type="slidenum">
              <a:rPr lang="en-IN" smtClean="0"/>
              <a:t>‹#›</a:t>
            </a:fld>
            <a:endParaRPr lang="en-IN"/>
          </a:p>
        </p:txBody>
      </p:sp>
    </p:spTree>
    <p:extLst>
      <p:ext uri="{BB962C8B-B14F-4D97-AF65-F5344CB8AC3E}">
        <p14:creationId xmlns:p14="http://schemas.microsoft.com/office/powerpoint/2010/main" val="918825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2E4622-5C37-7C9C-CA4E-3AA71F6CCB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94E30B-9215-1293-F08E-B9AF9FE68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D36E82-A9BF-2275-440B-C31D015014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E201B-28FB-4668-87E3-600BA7A56484}" type="datetimeFigureOut">
              <a:rPr lang="en-IN" smtClean="0"/>
              <a:t>09-05-2026</a:t>
            </a:fld>
            <a:endParaRPr lang="en-IN"/>
          </a:p>
        </p:txBody>
      </p:sp>
      <p:sp>
        <p:nvSpPr>
          <p:cNvPr id="5" name="Footer Placeholder 4">
            <a:extLst>
              <a:ext uri="{FF2B5EF4-FFF2-40B4-BE49-F238E27FC236}">
                <a16:creationId xmlns:a16="http://schemas.microsoft.com/office/drawing/2014/main" id="{59A9DF70-57D8-9C2F-3A06-BD7186EC58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4CEB0D-63A2-08A8-16F4-1061CB60B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E6E91B-795A-4580-B3BA-CD4665E961E1}" type="slidenum">
              <a:rPr lang="en-IN" smtClean="0"/>
              <a:t>‹#›</a:t>
            </a:fld>
            <a:endParaRPr lang="en-IN"/>
          </a:p>
        </p:txBody>
      </p:sp>
    </p:spTree>
    <p:extLst>
      <p:ext uri="{BB962C8B-B14F-4D97-AF65-F5344CB8AC3E}">
        <p14:creationId xmlns:p14="http://schemas.microsoft.com/office/powerpoint/2010/main" val="1480801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C901-FB61-5D03-1132-CFB29C7C31E4}"/>
              </a:ext>
            </a:extLst>
          </p:cNvPr>
          <p:cNvSpPr>
            <a:spLocks noGrp="1"/>
          </p:cNvSpPr>
          <p:nvPr>
            <p:ph type="ctrTitle"/>
          </p:nvPr>
        </p:nvSpPr>
        <p:spPr/>
        <p:txBody>
          <a:bodyPr>
            <a:normAutofit/>
          </a:bodyPr>
          <a:lstStyle/>
          <a:p>
            <a:r>
              <a:rPr lang="en-IN" sz="7200" b="1" dirty="0">
                <a:solidFill>
                  <a:srgbClr val="FF0000"/>
                </a:solidFill>
              </a:rPr>
              <a:t>Transaction</a:t>
            </a:r>
          </a:p>
        </p:txBody>
      </p:sp>
    </p:spTree>
    <p:extLst>
      <p:ext uri="{BB962C8B-B14F-4D97-AF65-F5344CB8AC3E}">
        <p14:creationId xmlns:p14="http://schemas.microsoft.com/office/powerpoint/2010/main" val="2062652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9F513-7D7F-00AC-C3CD-F709D8ADA279}"/>
              </a:ext>
            </a:extLst>
          </p:cNvPr>
          <p:cNvSpPr>
            <a:spLocks noGrp="1"/>
          </p:cNvSpPr>
          <p:nvPr>
            <p:ph idx="1"/>
          </p:nvPr>
        </p:nvSpPr>
        <p:spPr>
          <a:xfrm>
            <a:off x="636998" y="544530"/>
            <a:ext cx="10716802" cy="5632433"/>
          </a:xfrm>
        </p:spPr>
        <p:txBody>
          <a:bodyPr>
            <a:normAutofit fontScale="92500" lnSpcReduction="20000"/>
          </a:bodyPr>
          <a:lstStyle/>
          <a:p>
            <a:pPr algn="just"/>
            <a:r>
              <a:rPr lang="en-US" dirty="0"/>
              <a:t>A transaction refers to a sequence of one or more operations (such as read, write, update, or delete) performed on the database as a single logical unit of work.</a:t>
            </a:r>
          </a:p>
          <a:p>
            <a:pPr algn="just"/>
            <a:r>
              <a:rPr lang="en-US" dirty="0"/>
              <a:t>Collections of operations that form a single logical unit of work are called transactions</a:t>
            </a:r>
          </a:p>
          <a:p>
            <a:pPr algn="just"/>
            <a:r>
              <a:rPr lang="en-IN" b="1" dirty="0">
                <a:solidFill>
                  <a:srgbClr val="FF0000"/>
                </a:solidFill>
              </a:rPr>
              <a:t>Operations of Transaction</a:t>
            </a:r>
          </a:p>
          <a:p>
            <a:pPr algn="just"/>
            <a:r>
              <a:rPr lang="en-US" dirty="0"/>
              <a:t>A user can make different types of requests to access and modify the contents of a database. So, we have different types of operations relating to a transaction. They are discussed as follows:</a:t>
            </a:r>
          </a:p>
          <a:p>
            <a:pPr algn="just"/>
            <a:r>
              <a:rPr lang="en-US" b="1" dirty="0">
                <a:solidFill>
                  <a:srgbClr val="FF0000"/>
                </a:solidFill>
              </a:rPr>
              <a:t>1) Read(X): </a:t>
            </a:r>
            <a:r>
              <a:rPr lang="en-US" dirty="0"/>
              <a:t>A read operation is used to read the value of a particular database element X and stores it in a temporary buffer in the main memory for further actions such as displaying that value.</a:t>
            </a:r>
          </a:p>
          <a:p>
            <a:pPr algn="just"/>
            <a:r>
              <a:rPr lang="en-US" b="1" dirty="0">
                <a:solidFill>
                  <a:srgbClr val="FF0000"/>
                </a:solidFill>
              </a:rPr>
              <a:t>2) Write(X): </a:t>
            </a:r>
            <a:r>
              <a:rPr lang="en-US" dirty="0"/>
              <a:t>A write operation is used to write the value to the database from the buffer in the main memory. For a write operation to be performed, first a read operation is performed to bring its value in buffer, and then some changes are made to it,</a:t>
            </a:r>
            <a:endParaRPr lang="en-IN" dirty="0"/>
          </a:p>
        </p:txBody>
      </p:sp>
    </p:spTree>
    <p:extLst>
      <p:ext uri="{BB962C8B-B14F-4D97-AF65-F5344CB8AC3E}">
        <p14:creationId xmlns:p14="http://schemas.microsoft.com/office/powerpoint/2010/main" val="3594097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DCAB3-8925-B7BB-356B-2D224DBCA05F}"/>
              </a:ext>
            </a:extLst>
          </p:cNvPr>
          <p:cNvSpPr>
            <a:spLocks noGrp="1"/>
          </p:cNvSpPr>
          <p:nvPr>
            <p:ph idx="1"/>
          </p:nvPr>
        </p:nvSpPr>
        <p:spPr>
          <a:xfrm>
            <a:off x="657546" y="523982"/>
            <a:ext cx="10696254" cy="5652981"/>
          </a:xfrm>
        </p:spPr>
        <p:txBody>
          <a:bodyPr>
            <a:normAutofit lnSpcReduction="10000"/>
          </a:bodyPr>
          <a:lstStyle/>
          <a:p>
            <a:pPr algn="just"/>
            <a:r>
              <a:rPr lang="en-US" b="1" dirty="0">
                <a:solidFill>
                  <a:srgbClr val="FF0000"/>
                </a:solidFill>
              </a:rPr>
              <a:t>3) Commit: </a:t>
            </a:r>
            <a:r>
              <a:rPr lang="en-US" dirty="0"/>
              <a:t>This operation in transactions is used to maintain integrity in the database. Due to some failure of power, hardware, or software, etc., a transaction might get interrupted before all its operations are completed. This may cause ambiguity in the database, i.e. it might get inconsistent before and after the transaction.</a:t>
            </a:r>
          </a:p>
          <a:p>
            <a:pPr algn="just"/>
            <a:r>
              <a:rPr lang="en-US" dirty="0"/>
              <a:t>Once the transaction is committed, the changes to the database are permanent, and the transaction is considered successful.</a:t>
            </a:r>
          </a:p>
          <a:p>
            <a:pPr algn="just"/>
            <a:endParaRPr lang="en-US" dirty="0"/>
          </a:p>
          <a:p>
            <a:pPr algn="just"/>
            <a:r>
              <a:rPr lang="en-US" dirty="0">
                <a:solidFill>
                  <a:srgbClr val="FF0000"/>
                </a:solidFill>
              </a:rPr>
              <a:t>4) Rollback: </a:t>
            </a:r>
            <a:r>
              <a:rPr lang="en-US" dirty="0"/>
              <a:t>If an error occurs, the Rollback operation undoes all the changes made by the transaction, reverting the database to its last consistent state. In simple words, it can be said that a rollback operation does undo the operations of transactions that were performed before its interruption to achieve a safe state of the database and avoid any kind of ambiguity or inconsistency.</a:t>
            </a:r>
          </a:p>
        </p:txBody>
      </p:sp>
    </p:spTree>
    <p:extLst>
      <p:ext uri="{BB962C8B-B14F-4D97-AF65-F5344CB8AC3E}">
        <p14:creationId xmlns:p14="http://schemas.microsoft.com/office/powerpoint/2010/main" val="424856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7B8E-B4AC-2C84-90C9-500CCF4D2AE9}"/>
              </a:ext>
            </a:extLst>
          </p:cNvPr>
          <p:cNvSpPr>
            <a:spLocks noGrp="1"/>
          </p:cNvSpPr>
          <p:nvPr>
            <p:ph type="title"/>
          </p:nvPr>
        </p:nvSpPr>
        <p:spPr/>
        <p:txBody>
          <a:bodyPr/>
          <a:lstStyle/>
          <a:p>
            <a:pPr algn="ctr"/>
            <a:r>
              <a:rPr lang="en-IN" b="1" dirty="0">
                <a:solidFill>
                  <a:srgbClr val="FF0000"/>
                </a:solidFill>
              </a:rPr>
              <a:t>Properties of Transaction</a:t>
            </a:r>
          </a:p>
        </p:txBody>
      </p:sp>
      <p:sp>
        <p:nvSpPr>
          <p:cNvPr id="3" name="Content Placeholder 2">
            <a:extLst>
              <a:ext uri="{FF2B5EF4-FFF2-40B4-BE49-F238E27FC236}">
                <a16:creationId xmlns:a16="http://schemas.microsoft.com/office/drawing/2014/main" id="{F4A49FFC-02FA-F39F-E3BC-A8857672A38D}"/>
              </a:ext>
            </a:extLst>
          </p:cNvPr>
          <p:cNvSpPr>
            <a:spLocks noGrp="1"/>
          </p:cNvSpPr>
          <p:nvPr>
            <p:ph idx="1"/>
          </p:nvPr>
        </p:nvSpPr>
        <p:spPr/>
        <p:txBody>
          <a:bodyPr/>
          <a:lstStyle/>
          <a:p>
            <a:pPr algn="just"/>
            <a:r>
              <a:rPr lang="en-US" dirty="0"/>
              <a:t>As transactions deal with accessing and modifying the contents of the database, they must have some basic properties which help maintain the consistency and integrity of the database before and after the transaction. </a:t>
            </a:r>
          </a:p>
          <a:p>
            <a:pPr algn="just"/>
            <a:r>
              <a:rPr lang="en-US" dirty="0"/>
              <a:t>Transactions follow 4 properties, namely, Atomicity, Consistency, Isolation, and Durability.</a:t>
            </a:r>
          </a:p>
          <a:p>
            <a:pPr algn="just"/>
            <a:r>
              <a:rPr lang="en-US" dirty="0"/>
              <a:t>Generally, these are referred to as ACID properties of transactions in DBMS.</a:t>
            </a:r>
            <a:endParaRPr lang="en-IN" dirty="0"/>
          </a:p>
        </p:txBody>
      </p:sp>
    </p:spTree>
    <p:extLst>
      <p:ext uri="{BB962C8B-B14F-4D97-AF65-F5344CB8AC3E}">
        <p14:creationId xmlns:p14="http://schemas.microsoft.com/office/powerpoint/2010/main" val="222826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3F1CC3-0B5C-C4D2-B38B-FAC6365F88F7}"/>
              </a:ext>
            </a:extLst>
          </p:cNvPr>
          <p:cNvPicPr>
            <a:picLocks noChangeAspect="1"/>
          </p:cNvPicPr>
          <p:nvPr/>
        </p:nvPicPr>
        <p:blipFill>
          <a:blip r:embed="rId2"/>
          <a:srcRect l="4299"/>
          <a:stretch/>
        </p:blipFill>
        <p:spPr>
          <a:xfrm>
            <a:off x="2299089" y="752458"/>
            <a:ext cx="7593822" cy="5108952"/>
          </a:xfrm>
          <a:prstGeom prst="rect">
            <a:avLst/>
          </a:prstGeom>
        </p:spPr>
      </p:pic>
    </p:spTree>
    <p:extLst>
      <p:ext uri="{BB962C8B-B14F-4D97-AF65-F5344CB8AC3E}">
        <p14:creationId xmlns:p14="http://schemas.microsoft.com/office/powerpoint/2010/main" val="579704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48BCED-B83F-6FE5-1B33-74928CA37071}"/>
              </a:ext>
            </a:extLst>
          </p:cNvPr>
          <p:cNvSpPr>
            <a:spLocks noGrp="1"/>
          </p:cNvSpPr>
          <p:nvPr>
            <p:ph idx="1"/>
          </p:nvPr>
        </p:nvSpPr>
        <p:spPr>
          <a:xfrm>
            <a:off x="657546" y="565079"/>
            <a:ext cx="10696254" cy="5611884"/>
          </a:xfrm>
        </p:spPr>
        <p:txBody>
          <a:bodyPr>
            <a:normAutofit/>
          </a:bodyPr>
          <a:lstStyle/>
          <a:p>
            <a:pPr marL="0" indent="0">
              <a:buNone/>
            </a:pPr>
            <a:r>
              <a:rPr lang="en-US" b="1" dirty="0">
                <a:solidFill>
                  <a:srgbClr val="FF0000"/>
                </a:solidFill>
              </a:rPr>
              <a:t>1) Atomicity</a:t>
            </a:r>
          </a:p>
          <a:p>
            <a:pPr algn="just"/>
            <a:r>
              <a:rPr lang="en-US" dirty="0"/>
              <a:t>This property ensures that either all operations of a transaction are executed or it is aborted. In any case, a transaction can never be completed partially. </a:t>
            </a:r>
          </a:p>
          <a:p>
            <a:pPr algn="just"/>
            <a:r>
              <a:rPr lang="en-US" dirty="0"/>
              <a:t>Each transaction is treated as a single unit (like an atom).</a:t>
            </a:r>
          </a:p>
          <a:p>
            <a:pPr algn="just"/>
            <a:r>
              <a:rPr lang="en-US" dirty="0"/>
              <a:t>Atomicity is achieved through commit and rollback operations, i.e. changes are made to the database only if all operations related to a transaction are completed, and if it gets interrupted, any changes made are rolled back using rollback operation to bring the database to its last saved state.</a:t>
            </a:r>
            <a:endParaRPr lang="en-IN" dirty="0"/>
          </a:p>
        </p:txBody>
      </p:sp>
      <p:pic>
        <p:nvPicPr>
          <p:cNvPr id="4" name="Picture 3">
            <a:extLst>
              <a:ext uri="{FF2B5EF4-FFF2-40B4-BE49-F238E27FC236}">
                <a16:creationId xmlns:a16="http://schemas.microsoft.com/office/drawing/2014/main" id="{B8E5C30D-5376-32C3-8951-1AE3881DBE87}"/>
              </a:ext>
            </a:extLst>
          </p:cNvPr>
          <p:cNvPicPr>
            <a:picLocks noChangeAspect="1"/>
          </p:cNvPicPr>
          <p:nvPr/>
        </p:nvPicPr>
        <p:blipFill>
          <a:blip r:embed="rId2"/>
          <a:stretch>
            <a:fillRect/>
          </a:stretch>
        </p:blipFill>
        <p:spPr>
          <a:xfrm>
            <a:off x="4017130" y="4678304"/>
            <a:ext cx="5354311" cy="2092366"/>
          </a:xfrm>
          <a:prstGeom prst="rect">
            <a:avLst/>
          </a:prstGeom>
        </p:spPr>
      </p:pic>
    </p:spTree>
    <p:extLst>
      <p:ext uri="{BB962C8B-B14F-4D97-AF65-F5344CB8AC3E}">
        <p14:creationId xmlns:p14="http://schemas.microsoft.com/office/powerpoint/2010/main" val="2876102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FE566-A06B-5A2A-575E-A5249CD223E9}"/>
              </a:ext>
            </a:extLst>
          </p:cNvPr>
          <p:cNvSpPr>
            <a:spLocks noGrp="1"/>
          </p:cNvSpPr>
          <p:nvPr>
            <p:ph idx="1"/>
          </p:nvPr>
        </p:nvSpPr>
        <p:spPr>
          <a:xfrm>
            <a:off x="852754" y="565079"/>
            <a:ext cx="10501045" cy="5611884"/>
          </a:xfrm>
        </p:spPr>
        <p:txBody>
          <a:bodyPr>
            <a:normAutofit/>
          </a:bodyPr>
          <a:lstStyle/>
          <a:p>
            <a:pPr marL="0" indent="0">
              <a:buNone/>
            </a:pPr>
            <a:r>
              <a:rPr lang="en-US" b="1" dirty="0">
                <a:solidFill>
                  <a:srgbClr val="FF0000"/>
                </a:solidFill>
              </a:rPr>
              <a:t>2) Consistency</a:t>
            </a:r>
          </a:p>
          <a:p>
            <a:pPr algn="just"/>
            <a:r>
              <a:rPr lang="en-US" dirty="0"/>
              <a:t>This property of a transaction keeps the database consistent before and after a transaction is completed.</a:t>
            </a:r>
          </a:p>
          <a:p>
            <a:pPr algn="just"/>
            <a:r>
              <a:rPr lang="en-US" b="1" dirty="0">
                <a:solidFill>
                  <a:srgbClr val="FF0000"/>
                </a:solidFill>
              </a:rPr>
              <a:t>Example:</a:t>
            </a:r>
          </a:p>
          <a:p>
            <a:pPr algn="just"/>
            <a:r>
              <a:rPr lang="en-US" dirty="0"/>
              <a:t>If an account balance before the transaction is 1000, after a successful transaction of 200, the new balance should be 800, ensuring the database stays in a consistent state.</a:t>
            </a:r>
          </a:p>
          <a:p>
            <a:pPr algn="just"/>
            <a:r>
              <a:rPr lang="en-US" b="1" dirty="0">
                <a:solidFill>
                  <a:srgbClr val="FF0000"/>
                </a:solidFill>
              </a:rPr>
              <a:t>Example: </a:t>
            </a:r>
          </a:p>
          <a:p>
            <a:pPr algn="just"/>
            <a:r>
              <a:rPr lang="en-US" dirty="0"/>
              <a:t>Total before T occurs = 500 + 200 = 700. </a:t>
            </a:r>
          </a:p>
          <a:p>
            <a:pPr algn="just"/>
            <a:r>
              <a:rPr lang="en-US" dirty="0"/>
              <a:t>Total after T occurs = 400 + 300 = 700. </a:t>
            </a:r>
          </a:p>
          <a:p>
            <a:pPr algn="just"/>
            <a:r>
              <a:rPr lang="en-US" dirty="0"/>
              <a:t>Therefore, database is consistent. Inconsistency occurs in case T1 completes but T2 fails. As a result T is incomplete.</a:t>
            </a:r>
            <a:endParaRPr lang="en-IN" dirty="0"/>
          </a:p>
        </p:txBody>
      </p:sp>
    </p:spTree>
    <p:extLst>
      <p:ext uri="{BB962C8B-B14F-4D97-AF65-F5344CB8AC3E}">
        <p14:creationId xmlns:p14="http://schemas.microsoft.com/office/powerpoint/2010/main" val="401725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BD122-0BF8-E08F-E5DF-721A92363587}"/>
              </a:ext>
            </a:extLst>
          </p:cNvPr>
          <p:cNvSpPr>
            <a:spLocks noGrp="1"/>
          </p:cNvSpPr>
          <p:nvPr>
            <p:ph idx="1"/>
          </p:nvPr>
        </p:nvSpPr>
        <p:spPr>
          <a:xfrm>
            <a:off x="678095" y="595901"/>
            <a:ext cx="10675706" cy="6030930"/>
          </a:xfrm>
        </p:spPr>
        <p:txBody>
          <a:bodyPr>
            <a:normAutofit/>
          </a:bodyPr>
          <a:lstStyle/>
          <a:p>
            <a:pPr marL="0" indent="0" algn="just">
              <a:buNone/>
            </a:pPr>
            <a:r>
              <a:rPr lang="en-US" b="1" dirty="0">
                <a:solidFill>
                  <a:srgbClr val="FF0000"/>
                </a:solidFill>
              </a:rPr>
              <a:t>3) Isolation</a:t>
            </a:r>
          </a:p>
          <a:p>
            <a:pPr algn="just"/>
            <a:r>
              <a:rPr lang="en-US" dirty="0"/>
              <a:t>This property states that two transactions must not interfere with each other, i.e. if a transaction uses some data for its execution, then any other transaction can not concurrently access that data until the first transaction has completed. It ensures that the integrity of the database is maintained and we don't get any ambiguous values. Thus, any two transactions are isolated from each other.</a:t>
            </a:r>
          </a:p>
          <a:p>
            <a:pPr algn="just"/>
            <a:endParaRPr lang="en-US" dirty="0"/>
          </a:p>
          <a:p>
            <a:pPr algn="just"/>
            <a:endParaRPr lang="en-US" dirty="0"/>
          </a:p>
        </p:txBody>
      </p:sp>
      <p:pic>
        <p:nvPicPr>
          <p:cNvPr id="4" name="Picture 3">
            <a:extLst>
              <a:ext uri="{FF2B5EF4-FFF2-40B4-BE49-F238E27FC236}">
                <a16:creationId xmlns:a16="http://schemas.microsoft.com/office/drawing/2014/main" id="{24B81B9C-DC4C-4CAB-FFE2-1F38693A290A}"/>
              </a:ext>
            </a:extLst>
          </p:cNvPr>
          <p:cNvPicPr>
            <a:picLocks noChangeAspect="1"/>
          </p:cNvPicPr>
          <p:nvPr/>
        </p:nvPicPr>
        <p:blipFill>
          <a:blip r:embed="rId2"/>
          <a:stretch>
            <a:fillRect/>
          </a:stretch>
        </p:blipFill>
        <p:spPr>
          <a:xfrm>
            <a:off x="3698696" y="3744931"/>
            <a:ext cx="4520260" cy="2250039"/>
          </a:xfrm>
          <a:prstGeom prst="rect">
            <a:avLst/>
          </a:prstGeom>
        </p:spPr>
      </p:pic>
    </p:spTree>
    <p:extLst>
      <p:ext uri="{BB962C8B-B14F-4D97-AF65-F5344CB8AC3E}">
        <p14:creationId xmlns:p14="http://schemas.microsoft.com/office/powerpoint/2010/main" val="88896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CC1E5-2DED-E9FF-98E0-7E298565E0D8}"/>
              </a:ext>
            </a:extLst>
          </p:cNvPr>
          <p:cNvSpPr>
            <a:spLocks noGrp="1"/>
          </p:cNvSpPr>
          <p:nvPr>
            <p:ph idx="1"/>
          </p:nvPr>
        </p:nvSpPr>
        <p:spPr/>
        <p:txBody>
          <a:bodyPr/>
          <a:lstStyle/>
          <a:p>
            <a:r>
              <a:rPr lang="en-US" b="1" dirty="0">
                <a:solidFill>
                  <a:srgbClr val="FF0000"/>
                </a:solidFill>
              </a:rPr>
              <a:t>4) Durability  </a:t>
            </a:r>
          </a:p>
          <a:p>
            <a:r>
              <a:rPr lang="en-US" dirty="0"/>
              <a:t>The database should be durable enough to hold all its latest updates even if the system fails or restarts. These updates now become permanent and are stored in non-volatile memory. </a:t>
            </a:r>
          </a:p>
          <a:p>
            <a:r>
              <a:rPr lang="en-US" dirty="0"/>
              <a:t>The effects of the transaction, thus, are never lost. </a:t>
            </a:r>
          </a:p>
          <a:p>
            <a:endParaRPr lang="en-IN" dirty="0"/>
          </a:p>
        </p:txBody>
      </p:sp>
    </p:spTree>
    <p:extLst>
      <p:ext uri="{BB962C8B-B14F-4D97-AF65-F5344CB8AC3E}">
        <p14:creationId xmlns:p14="http://schemas.microsoft.com/office/powerpoint/2010/main" val="140959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5FFB-809B-C5A8-AED4-39AE8652EBEC}"/>
              </a:ext>
            </a:extLst>
          </p:cNvPr>
          <p:cNvSpPr>
            <a:spLocks noGrp="1"/>
          </p:cNvSpPr>
          <p:nvPr>
            <p:ph type="title"/>
          </p:nvPr>
        </p:nvSpPr>
        <p:spPr/>
        <p:txBody>
          <a:bodyPr/>
          <a:lstStyle/>
          <a:p>
            <a:pPr algn="ctr"/>
            <a:r>
              <a:rPr lang="en-IN" b="1" dirty="0">
                <a:solidFill>
                  <a:srgbClr val="FF0000"/>
                </a:solidFill>
              </a:rPr>
              <a:t>Transaction State Diagrams</a:t>
            </a:r>
          </a:p>
        </p:txBody>
      </p:sp>
      <p:pic>
        <p:nvPicPr>
          <p:cNvPr id="4" name="Content Placeholder 3">
            <a:extLst>
              <a:ext uri="{FF2B5EF4-FFF2-40B4-BE49-F238E27FC236}">
                <a16:creationId xmlns:a16="http://schemas.microsoft.com/office/drawing/2014/main" id="{C387755D-69C0-54C9-6BD2-64CF64C3A04B}"/>
              </a:ext>
            </a:extLst>
          </p:cNvPr>
          <p:cNvPicPr>
            <a:picLocks noGrp="1" noChangeAspect="1"/>
          </p:cNvPicPr>
          <p:nvPr>
            <p:ph idx="1"/>
          </p:nvPr>
        </p:nvPicPr>
        <p:blipFill>
          <a:blip r:embed="rId2"/>
          <a:stretch>
            <a:fillRect/>
          </a:stretch>
        </p:blipFill>
        <p:spPr>
          <a:xfrm>
            <a:off x="3498655" y="1825625"/>
            <a:ext cx="5194690" cy="4351338"/>
          </a:xfrm>
          <a:prstGeom prst="rect">
            <a:avLst/>
          </a:prstGeom>
        </p:spPr>
      </p:pic>
    </p:spTree>
    <p:extLst>
      <p:ext uri="{BB962C8B-B14F-4D97-AF65-F5344CB8AC3E}">
        <p14:creationId xmlns:p14="http://schemas.microsoft.com/office/powerpoint/2010/main" val="1514723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7A4C72-55DE-6926-8EF7-6830BE33B3D7}"/>
              </a:ext>
            </a:extLst>
          </p:cNvPr>
          <p:cNvSpPr>
            <a:spLocks noGrp="1"/>
          </p:cNvSpPr>
          <p:nvPr>
            <p:ph idx="1"/>
          </p:nvPr>
        </p:nvSpPr>
        <p:spPr>
          <a:xfrm>
            <a:off x="678095" y="585627"/>
            <a:ext cx="10675706" cy="6010382"/>
          </a:xfrm>
        </p:spPr>
        <p:txBody>
          <a:bodyPr>
            <a:normAutofit/>
          </a:bodyPr>
          <a:lstStyle/>
          <a:p>
            <a:r>
              <a:rPr lang="en-US" b="1" dirty="0">
                <a:solidFill>
                  <a:srgbClr val="FF0000"/>
                </a:solidFill>
              </a:rPr>
              <a:t>Active State: </a:t>
            </a:r>
          </a:p>
          <a:p>
            <a:pPr algn="just"/>
            <a:r>
              <a:rPr lang="en-US" dirty="0"/>
              <a:t>When the operations of a transaction are running then the transaction is said to be active state. </a:t>
            </a:r>
          </a:p>
          <a:p>
            <a:pPr algn="just"/>
            <a:r>
              <a:rPr lang="en-US" dirty="0"/>
              <a:t>It is the first stage of any transaction when it has begun to execute. The execution of the transaction takes place in this state.</a:t>
            </a:r>
          </a:p>
          <a:p>
            <a:pPr algn="just"/>
            <a:r>
              <a:rPr lang="en-US" dirty="0"/>
              <a:t>Operations such as insertion, deletion, or </a:t>
            </a:r>
            <a:r>
              <a:rPr lang="en-US" dirty="0" err="1"/>
              <a:t>updation</a:t>
            </a:r>
            <a:r>
              <a:rPr lang="en-US" dirty="0"/>
              <a:t> are performed during this state.</a:t>
            </a:r>
          </a:p>
          <a:p>
            <a:pPr algn="just"/>
            <a:r>
              <a:rPr lang="en-US" dirty="0"/>
              <a:t>During this state, the data records are under manipulation and they are not saved to the database, rather they remain somewhere in a buffer in the main memory.</a:t>
            </a:r>
          </a:p>
        </p:txBody>
      </p:sp>
    </p:spTree>
    <p:extLst>
      <p:ext uri="{BB962C8B-B14F-4D97-AF65-F5344CB8AC3E}">
        <p14:creationId xmlns:p14="http://schemas.microsoft.com/office/powerpoint/2010/main" val="3770187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682AF5-66CE-F4CD-8AED-0D5DCE250728}"/>
              </a:ext>
            </a:extLst>
          </p:cNvPr>
          <p:cNvSpPr>
            <a:spLocks noGrp="1"/>
          </p:cNvSpPr>
          <p:nvPr>
            <p:ph idx="1"/>
          </p:nvPr>
        </p:nvSpPr>
        <p:spPr>
          <a:xfrm>
            <a:off x="904126" y="482885"/>
            <a:ext cx="10449674" cy="5694078"/>
          </a:xfrm>
        </p:spPr>
        <p:txBody>
          <a:bodyPr>
            <a:normAutofit/>
          </a:bodyPr>
          <a:lstStyle/>
          <a:p>
            <a:r>
              <a:rPr lang="en-US" b="1" dirty="0">
                <a:solidFill>
                  <a:srgbClr val="FF0000"/>
                </a:solidFill>
              </a:rPr>
              <a:t>Partially Committed:</a:t>
            </a:r>
          </a:p>
          <a:p>
            <a:r>
              <a:rPr lang="en-US" dirty="0"/>
              <a:t>If all the read and write operations are performed without any error then it progresses to the partially committed state, if somehow any operation fails, then it goes to a state known as failed state.</a:t>
            </a:r>
          </a:p>
          <a:p>
            <a:r>
              <a:rPr lang="en-US" dirty="0"/>
              <a:t>The transaction has finished its final operation, but the changes are still not saved to the database.</a:t>
            </a:r>
          </a:p>
          <a:p>
            <a:r>
              <a:rPr lang="en-US" dirty="0"/>
              <a:t>After completing all read and write operations, the modifications are initially stored in main memory or a local buffer. </a:t>
            </a:r>
          </a:p>
          <a:p>
            <a:r>
              <a:rPr lang="en-US" b="1" dirty="0">
                <a:solidFill>
                  <a:srgbClr val="FF0000"/>
                </a:solidFill>
              </a:rPr>
              <a:t>Failed State:</a:t>
            </a:r>
            <a:r>
              <a:rPr lang="en-US" dirty="0"/>
              <a:t> </a:t>
            </a:r>
          </a:p>
          <a:p>
            <a:pPr algn="just"/>
            <a:r>
              <a:rPr lang="en-US" dirty="0"/>
              <a:t>If any of the transaction-related operations cause an error during the active or partially committed state, further execution of the transaction is stopped and it is brought into a failed state.</a:t>
            </a:r>
          </a:p>
          <a:p>
            <a:endParaRPr lang="en-IN" dirty="0"/>
          </a:p>
        </p:txBody>
      </p:sp>
    </p:spTree>
    <p:extLst>
      <p:ext uri="{BB962C8B-B14F-4D97-AF65-F5344CB8AC3E}">
        <p14:creationId xmlns:p14="http://schemas.microsoft.com/office/powerpoint/2010/main" val="3852611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6714A-A738-5F90-3165-5765C0264C7C}"/>
              </a:ext>
            </a:extLst>
          </p:cNvPr>
          <p:cNvSpPr>
            <a:spLocks noGrp="1"/>
          </p:cNvSpPr>
          <p:nvPr>
            <p:ph idx="1"/>
          </p:nvPr>
        </p:nvSpPr>
        <p:spPr>
          <a:xfrm>
            <a:off x="842480" y="267128"/>
            <a:ext cx="10511319" cy="5909835"/>
          </a:xfrm>
        </p:spPr>
        <p:txBody>
          <a:bodyPr>
            <a:normAutofit lnSpcReduction="10000"/>
          </a:bodyPr>
          <a:lstStyle/>
          <a:p>
            <a:r>
              <a:rPr lang="en-US" b="1" dirty="0">
                <a:solidFill>
                  <a:srgbClr val="FF0000"/>
                </a:solidFill>
              </a:rPr>
              <a:t>Aborted State:</a:t>
            </a:r>
          </a:p>
          <a:p>
            <a:pPr algn="just"/>
            <a:r>
              <a:rPr lang="en-US" dirty="0"/>
              <a:t>If a transaction reaches the failed state due to a failed check, the database recovery system will attempt to restore it to a consistent state. </a:t>
            </a:r>
          </a:p>
          <a:p>
            <a:pPr algn="just"/>
            <a:r>
              <a:rPr lang="en-US" dirty="0"/>
              <a:t>If recovery is not possible, the transaction is either rolled back or cancelled to ensure the database remains consistent.</a:t>
            </a:r>
          </a:p>
          <a:p>
            <a:pPr algn="just"/>
            <a:r>
              <a:rPr lang="en-US" dirty="0"/>
              <a:t>In the aborted state, the DBMS recovery system performs one of two actions:</a:t>
            </a:r>
          </a:p>
          <a:p>
            <a:pPr algn="just"/>
            <a:endParaRPr lang="en-US" dirty="0"/>
          </a:p>
          <a:p>
            <a:pPr algn="just"/>
            <a:r>
              <a:rPr lang="en-US" dirty="0">
                <a:solidFill>
                  <a:srgbClr val="0070C0"/>
                </a:solidFill>
              </a:rPr>
              <a:t>Kill the transaction:</a:t>
            </a:r>
            <a:r>
              <a:rPr lang="en-US" dirty="0"/>
              <a:t> The system terminates the transaction to prevent it from affecting other operations.</a:t>
            </a:r>
          </a:p>
          <a:p>
            <a:pPr algn="just"/>
            <a:r>
              <a:rPr lang="en-US" dirty="0">
                <a:solidFill>
                  <a:srgbClr val="0070C0"/>
                </a:solidFill>
              </a:rPr>
              <a:t>Restart the transaction: </a:t>
            </a:r>
            <a:r>
              <a:rPr lang="en-US" dirty="0"/>
              <a:t>After making necessary adjustments, the system reverts the transaction to an active state and attempts to continue its execution.</a:t>
            </a:r>
            <a:endParaRPr lang="en-IN" dirty="0"/>
          </a:p>
        </p:txBody>
      </p:sp>
    </p:spTree>
    <p:extLst>
      <p:ext uri="{BB962C8B-B14F-4D97-AF65-F5344CB8AC3E}">
        <p14:creationId xmlns:p14="http://schemas.microsoft.com/office/powerpoint/2010/main" val="3863585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B5C6B-48D9-63D5-CB9C-FBB4E9EF8350}"/>
              </a:ext>
            </a:extLst>
          </p:cNvPr>
          <p:cNvSpPr>
            <a:spLocks noGrp="1"/>
          </p:cNvSpPr>
          <p:nvPr>
            <p:ph idx="1"/>
          </p:nvPr>
        </p:nvSpPr>
        <p:spPr/>
        <p:txBody>
          <a:bodyPr/>
          <a:lstStyle/>
          <a:p>
            <a:r>
              <a:rPr lang="en-US" b="1" dirty="0">
                <a:solidFill>
                  <a:srgbClr val="FF0000"/>
                </a:solidFill>
              </a:rPr>
              <a:t>Committed:</a:t>
            </a:r>
          </a:p>
          <a:p>
            <a:pPr algn="just"/>
            <a:r>
              <a:rPr lang="en-US" dirty="0"/>
              <a:t>This state of transaction is achieved when all the transaction-related operations have been executed successfully along with the Commit operation, i.e. data is saved into the database after the required manipulations in this state. This marks the successful completion of a transaction.</a:t>
            </a:r>
            <a:endParaRPr lang="en-IN" dirty="0"/>
          </a:p>
        </p:txBody>
      </p:sp>
    </p:spTree>
    <p:extLst>
      <p:ext uri="{BB962C8B-B14F-4D97-AF65-F5344CB8AC3E}">
        <p14:creationId xmlns:p14="http://schemas.microsoft.com/office/powerpoint/2010/main" val="3522331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4A6F-9256-50F8-E2B1-3DF570B08A83}"/>
              </a:ext>
            </a:extLst>
          </p:cNvPr>
          <p:cNvSpPr>
            <a:spLocks noGrp="1"/>
          </p:cNvSpPr>
          <p:nvPr>
            <p:ph type="title"/>
          </p:nvPr>
        </p:nvSpPr>
        <p:spPr>
          <a:xfrm>
            <a:off x="838200" y="61448"/>
            <a:ext cx="10515600" cy="1325563"/>
          </a:xfrm>
        </p:spPr>
        <p:txBody>
          <a:bodyPr/>
          <a:lstStyle/>
          <a:p>
            <a:pPr algn="ctr"/>
            <a:r>
              <a:rPr lang="en-IN" b="1" dirty="0">
                <a:solidFill>
                  <a:srgbClr val="FF0000"/>
                </a:solidFill>
              </a:rPr>
              <a:t>Transaction Schedule</a:t>
            </a:r>
          </a:p>
        </p:txBody>
      </p:sp>
      <p:sp>
        <p:nvSpPr>
          <p:cNvPr id="3" name="Content Placeholder 2">
            <a:extLst>
              <a:ext uri="{FF2B5EF4-FFF2-40B4-BE49-F238E27FC236}">
                <a16:creationId xmlns:a16="http://schemas.microsoft.com/office/drawing/2014/main" id="{0BA9E54F-90D6-9A9C-CA08-036EAFB40D3A}"/>
              </a:ext>
            </a:extLst>
          </p:cNvPr>
          <p:cNvSpPr>
            <a:spLocks noGrp="1"/>
          </p:cNvSpPr>
          <p:nvPr>
            <p:ph idx="1"/>
          </p:nvPr>
        </p:nvSpPr>
        <p:spPr>
          <a:xfrm>
            <a:off x="838200" y="1387011"/>
            <a:ext cx="10515600" cy="4789952"/>
          </a:xfrm>
        </p:spPr>
        <p:txBody>
          <a:bodyPr/>
          <a:lstStyle/>
          <a:p>
            <a:r>
              <a:rPr lang="en-US" dirty="0"/>
              <a:t>A series of operations from one transaction to another transaction is known as a </a:t>
            </a:r>
            <a:r>
              <a:rPr lang="en-US" dirty="0">
                <a:solidFill>
                  <a:srgbClr val="FF0000"/>
                </a:solidFill>
              </a:rPr>
              <a:t>schedule</a:t>
            </a:r>
            <a:r>
              <a:rPr lang="en-US" dirty="0"/>
              <a:t>.</a:t>
            </a:r>
          </a:p>
          <a:p>
            <a:r>
              <a:rPr lang="en-US" dirty="0">
                <a:solidFill>
                  <a:srgbClr val="FF0000"/>
                </a:solidFill>
              </a:rPr>
              <a:t>Scheduling</a:t>
            </a:r>
            <a:r>
              <a:rPr lang="en-US" dirty="0"/>
              <a:t> is the technique of preserving the order of the operations from one transaction to another while executing such concurrent transactions. </a:t>
            </a:r>
            <a:endParaRPr lang="en-IN" dirty="0"/>
          </a:p>
        </p:txBody>
      </p:sp>
    </p:spTree>
    <p:extLst>
      <p:ext uri="{BB962C8B-B14F-4D97-AF65-F5344CB8AC3E}">
        <p14:creationId xmlns:p14="http://schemas.microsoft.com/office/powerpoint/2010/main" val="2170395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C7C88A-028E-705C-D8AB-59B1D4872276}"/>
              </a:ext>
            </a:extLst>
          </p:cNvPr>
          <p:cNvPicPr>
            <a:picLocks noChangeAspect="1"/>
          </p:cNvPicPr>
          <p:nvPr/>
        </p:nvPicPr>
        <p:blipFill>
          <a:blip r:embed="rId2"/>
          <a:srcRect l="6417" t="4494" r="4328" b="13708"/>
          <a:stretch/>
        </p:blipFill>
        <p:spPr>
          <a:xfrm>
            <a:off x="3326034" y="0"/>
            <a:ext cx="6619352" cy="6858000"/>
          </a:xfrm>
          <a:prstGeom prst="rect">
            <a:avLst/>
          </a:prstGeom>
        </p:spPr>
      </p:pic>
    </p:spTree>
    <p:extLst>
      <p:ext uri="{BB962C8B-B14F-4D97-AF65-F5344CB8AC3E}">
        <p14:creationId xmlns:p14="http://schemas.microsoft.com/office/powerpoint/2010/main" val="4093737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A9897-CC8C-9B6F-EE70-1BD7922A1006}"/>
              </a:ext>
            </a:extLst>
          </p:cNvPr>
          <p:cNvSpPr>
            <a:spLocks noGrp="1"/>
          </p:cNvSpPr>
          <p:nvPr>
            <p:ph idx="1"/>
          </p:nvPr>
        </p:nvSpPr>
        <p:spPr>
          <a:xfrm>
            <a:off x="667820" y="380144"/>
            <a:ext cx="10685980" cy="5796819"/>
          </a:xfrm>
        </p:spPr>
        <p:txBody>
          <a:bodyPr/>
          <a:lstStyle/>
          <a:p>
            <a:pPr marL="0" indent="0">
              <a:buNone/>
            </a:pPr>
            <a:r>
              <a:rPr lang="en-US" sz="3200" b="1" dirty="0">
                <a:solidFill>
                  <a:srgbClr val="C00000"/>
                </a:solidFill>
              </a:rPr>
              <a:t>Serial Schedules:</a:t>
            </a:r>
          </a:p>
          <a:p>
            <a:r>
              <a:rPr lang="en-US" dirty="0"/>
              <a:t>In serial schedules,</a:t>
            </a:r>
          </a:p>
          <a:p>
            <a:pPr lvl="1"/>
            <a:r>
              <a:rPr lang="en-US" dirty="0"/>
              <a:t>All the transactions are executed serially, one after the other.</a:t>
            </a:r>
          </a:p>
          <a:p>
            <a:pPr lvl="1"/>
            <a:r>
              <a:rPr lang="en-US" dirty="0"/>
              <a:t>When one transaction executes, no other transaction is allowed to execute.</a:t>
            </a:r>
          </a:p>
          <a:p>
            <a:pPr lvl="1"/>
            <a:r>
              <a:rPr lang="en-US" dirty="0"/>
              <a:t>Serial Schedules are always recoverable, </a:t>
            </a:r>
            <a:r>
              <a:rPr lang="en-US" dirty="0" err="1"/>
              <a:t>cascadeless</a:t>
            </a:r>
            <a:r>
              <a:rPr lang="en-US" dirty="0"/>
              <a:t>, strict, and consistent. A serial schedule always gives the correct result.</a:t>
            </a:r>
          </a:p>
          <a:p>
            <a:pPr lvl="1"/>
            <a:endParaRPr lang="en-US" dirty="0"/>
          </a:p>
          <a:p>
            <a:pPr marL="457200" lvl="1" indent="0">
              <a:buNone/>
            </a:pPr>
            <a:r>
              <a:rPr lang="en-US" dirty="0"/>
              <a:t>In this schedule, there are two transactions </a:t>
            </a:r>
          </a:p>
          <a:p>
            <a:pPr marL="457200" lvl="1" indent="0">
              <a:buNone/>
            </a:pPr>
            <a:r>
              <a:rPr lang="en-US" dirty="0"/>
              <a:t>T1 and T2 executing serially one after the other.</a:t>
            </a:r>
          </a:p>
          <a:p>
            <a:pPr marL="457200" lvl="1" indent="0">
              <a:buNone/>
            </a:pPr>
            <a:r>
              <a:rPr lang="en-US" dirty="0"/>
              <a:t>Transaction T1 executes first. After T1 completes </a:t>
            </a:r>
          </a:p>
          <a:p>
            <a:pPr marL="457200" lvl="1" indent="0">
              <a:buNone/>
            </a:pPr>
            <a:r>
              <a:rPr lang="en-US" dirty="0"/>
              <a:t>its execution, transaction T2 executes. So, this </a:t>
            </a:r>
          </a:p>
          <a:p>
            <a:pPr marL="457200" lvl="1" indent="0">
              <a:buNone/>
            </a:pPr>
            <a:r>
              <a:rPr lang="en-US" dirty="0"/>
              <a:t>schedule is an example of a Serial Schedule.</a:t>
            </a:r>
            <a:endParaRPr lang="en-IN" dirty="0"/>
          </a:p>
        </p:txBody>
      </p:sp>
      <p:pic>
        <p:nvPicPr>
          <p:cNvPr id="4" name="Picture 3">
            <a:extLst>
              <a:ext uri="{FF2B5EF4-FFF2-40B4-BE49-F238E27FC236}">
                <a16:creationId xmlns:a16="http://schemas.microsoft.com/office/drawing/2014/main" id="{EEADBEF0-7C63-DADD-0F69-1D658B1A8DDE}"/>
              </a:ext>
            </a:extLst>
          </p:cNvPr>
          <p:cNvPicPr>
            <a:picLocks noChangeAspect="1"/>
          </p:cNvPicPr>
          <p:nvPr/>
        </p:nvPicPr>
        <p:blipFill>
          <a:blip r:embed="rId2"/>
          <a:srcRect l="9486" r="7321"/>
          <a:stretch/>
        </p:blipFill>
        <p:spPr>
          <a:xfrm>
            <a:off x="7744968" y="2856001"/>
            <a:ext cx="4090861" cy="3899258"/>
          </a:xfrm>
          <a:prstGeom prst="rect">
            <a:avLst/>
          </a:prstGeom>
        </p:spPr>
      </p:pic>
    </p:spTree>
    <p:extLst>
      <p:ext uri="{BB962C8B-B14F-4D97-AF65-F5344CB8AC3E}">
        <p14:creationId xmlns:p14="http://schemas.microsoft.com/office/powerpoint/2010/main" val="1482227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127C3-68B3-5481-0E94-1008679C4408}"/>
              </a:ext>
            </a:extLst>
          </p:cNvPr>
          <p:cNvSpPr>
            <a:spLocks noGrp="1"/>
          </p:cNvSpPr>
          <p:nvPr>
            <p:ph idx="1"/>
          </p:nvPr>
        </p:nvSpPr>
        <p:spPr>
          <a:xfrm>
            <a:off x="421242" y="390418"/>
            <a:ext cx="8024116" cy="5591336"/>
          </a:xfrm>
        </p:spPr>
        <p:txBody>
          <a:bodyPr/>
          <a:lstStyle/>
          <a:p>
            <a:pPr marL="0" indent="0">
              <a:buNone/>
            </a:pPr>
            <a:r>
              <a:rPr lang="en-IN" sz="3200" b="1" dirty="0">
                <a:solidFill>
                  <a:srgbClr val="C00000"/>
                </a:solidFill>
              </a:rPr>
              <a:t>Non-Serial / Concurrent Schedules:</a:t>
            </a:r>
            <a:endParaRPr lang="en-IN" b="1" dirty="0">
              <a:solidFill>
                <a:srgbClr val="C00000"/>
              </a:solidFill>
            </a:endParaRPr>
          </a:p>
          <a:p>
            <a:r>
              <a:rPr lang="en-US" dirty="0"/>
              <a:t>In non-serial schedules,</a:t>
            </a:r>
          </a:p>
          <a:p>
            <a:pPr lvl="1"/>
            <a:r>
              <a:rPr lang="en-US" dirty="0"/>
              <a:t>Multiple transactions execute concurrently.</a:t>
            </a:r>
          </a:p>
          <a:p>
            <a:pPr lvl="1"/>
            <a:r>
              <a:rPr lang="en-US" dirty="0"/>
              <a:t>Operations of all the transactions are interleaved or mixed.</a:t>
            </a:r>
          </a:p>
          <a:p>
            <a:pPr lvl="1"/>
            <a:r>
              <a:rPr lang="en-US" dirty="0"/>
              <a:t>In the non-serial schedule, the other transaction proceeds without waiting for the previous transaction to complete. </a:t>
            </a:r>
          </a:p>
          <a:p>
            <a:pPr lvl="1"/>
            <a:r>
              <a:rPr lang="en-US" dirty="0"/>
              <a:t>Non-serial schedules are </a:t>
            </a:r>
            <a:r>
              <a:rPr lang="en-US" dirty="0">
                <a:solidFill>
                  <a:srgbClr val="C00000"/>
                </a:solidFill>
              </a:rPr>
              <a:t>NOT always </a:t>
            </a:r>
            <a:r>
              <a:rPr lang="en-US" dirty="0"/>
              <a:t>recoverable, </a:t>
            </a:r>
            <a:r>
              <a:rPr lang="en-US" dirty="0" err="1"/>
              <a:t>Cascadeless</a:t>
            </a:r>
            <a:r>
              <a:rPr lang="en-US" dirty="0"/>
              <a:t>, strict, and consistent.</a:t>
            </a:r>
          </a:p>
          <a:p>
            <a:pPr lvl="1"/>
            <a:r>
              <a:rPr lang="en-US" dirty="0"/>
              <a:t>Non-serial schedules are further categorized into </a:t>
            </a:r>
            <a:r>
              <a:rPr lang="en-US" dirty="0">
                <a:solidFill>
                  <a:srgbClr val="C00000"/>
                </a:solidFill>
              </a:rPr>
              <a:t>serializable </a:t>
            </a:r>
            <a:r>
              <a:rPr lang="en-US" dirty="0"/>
              <a:t>and </a:t>
            </a:r>
            <a:r>
              <a:rPr lang="en-US" dirty="0">
                <a:solidFill>
                  <a:srgbClr val="C00000"/>
                </a:solidFill>
              </a:rPr>
              <a:t>non-serializable schedules</a:t>
            </a:r>
            <a:r>
              <a:rPr lang="en-US" dirty="0"/>
              <a:t>. </a:t>
            </a:r>
            <a:endParaRPr lang="en-IN" dirty="0"/>
          </a:p>
        </p:txBody>
      </p:sp>
      <p:pic>
        <p:nvPicPr>
          <p:cNvPr id="4" name="Picture 3">
            <a:extLst>
              <a:ext uri="{FF2B5EF4-FFF2-40B4-BE49-F238E27FC236}">
                <a16:creationId xmlns:a16="http://schemas.microsoft.com/office/drawing/2014/main" id="{B78EF9BA-3F0C-40CC-F603-E47223BB639F}"/>
              </a:ext>
            </a:extLst>
          </p:cNvPr>
          <p:cNvPicPr>
            <a:picLocks noChangeAspect="1"/>
          </p:cNvPicPr>
          <p:nvPr/>
        </p:nvPicPr>
        <p:blipFill>
          <a:blip r:embed="rId2"/>
          <a:srcRect l="26065" t="8540" r="27082" b="19550"/>
          <a:stretch/>
        </p:blipFill>
        <p:spPr>
          <a:xfrm>
            <a:off x="7870004" y="1266664"/>
            <a:ext cx="4058294" cy="5518359"/>
          </a:xfrm>
          <a:prstGeom prst="rect">
            <a:avLst/>
          </a:prstGeom>
        </p:spPr>
      </p:pic>
    </p:spTree>
    <p:extLst>
      <p:ext uri="{BB962C8B-B14F-4D97-AF65-F5344CB8AC3E}">
        <p14:creationId xmlns:p14="http://schemas.microsoft.com/office/powerpoint/2010/main" val="2344253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A5F03-1F70-DDED-0C41-F15A8C451C72}"/>
              </a:ext>
            </a:extLst>
          </p:cNvPr>
          <p:cNvSpPr>
            <a:spLocks noGrp="1"/>
          </p:cNvSpPr>
          <p:nvPr>
            <p:ph type="title"/>
          </p:nvPr>
        </p:nvSpPr>
        <p:spPr>
          <a:xfrm>
            <a:off x="838200" y="143839"/>
            <a:ext cx="10515600" cy="914399"/>
          </a:xfrm>
        </p:spPr>
        <p:txBody>
          <a:bodyPr/>
          <a:lstStyle/>
          <a:p>
            <a:pPr algn="ctr"/>
            <a:r>
              <a:rPr lang="en-IN" b="1" dirty="0">
                <a:solidFill>
                  <a:srgbClr val="C00000"/>
                </a:solidFill>
              </a:rPr>
              <a:t>Serializability in DBMS</a:t>
            </a:r>
          </a:p>
        </p:txBody>
      </p:sp>
      <p:sp>
        <p:nvSpPr>
          <p:cNvPr id="3" name="Content Placeholder 2">
            <a:extLst>
              <a:ext uri="{FF2B5EF4-FFF2-40B4-BE49-F238E27FC236}">
                <a16:creationId xmlns:a16="http://schemas.microsoft.com/office/drawing/2014/main" id="{9F14B573-2192-574F-A9A8-C1B7A7C8C9C3}"/>
              </a:ext>
            </a:extLst>
          </p:cNvPr>
          <p:cNvSpPr>
            <a:spLocks noGrp="1"/>
          </p:cNvSpPr>
          <p:nvPr>
            <p:ph idx="1"/>
          </p:nvPr>
        </p:nvSpPr>
        <p:spPr>
          <a:xfrm>
            <a:off x="760288" y="1181528"/>
            <a:ext cx="10593512" cy="4995435"/>
          </a:xfrm>
        </p:spPr>
        <p:txBody>
          <a:bodyPr/>
          <a:lstStyle/>
          <a:p>
            <a:pPr algn="just"/>
            <a:r>
              <a:rPr lang="en-US" dirty="0"/>
              <a:t>A non-serial schedule of </a:t>
            </a:r>
            <a:r>
              <a:rPr lang="en-US" i="1" dirty="0"/>
              <a:t>n</a:t>
            </a:r>
            <a:r>
              <a:rPr lang="en-US" dirty="0"/>
              <a:t> transactions is said to be a serializable schedule, if it is equivalent to the serial Schedule of those </a:t>
            </a:r>
            <a:r>
              <a:rPr lang="en-US" i="1" dirty="0"/>
              <a:t>n</a:t>
            </a:r>
            <a:r>
              <a:rPr lang="en-US" dirty="0"/>
              <a:t> transactions. A serial schedule does not allow concurrency; only one transaction executes at a time, and the other starts when the already running transaction is finished.</a:t>
            </a:r>
          </a:p>
          <a:p>
            <a:pPr algn="just"/>
            <a:r>
              <a:rPr lang="en-US" dirty="0"/>
              <a:t>Types of Serializability:</a:t>
            </a:r>
          </a:p>
          <a:p>
            <a:pPr lvl="1" algn="just"/>
            <a:r>
              <a:rPr lang="en-US" dirty="0"/>
              <a:t>Conflict Serializability</a:t>
            </a:r>
          </a:p>
          <a:p>
            <a:pPr lvl="1" algn="just"/>
            <a:r>
              <a:rPr lang="en-US" dirty="0"/>
              <a:t>View Serializability</a:t>
            </a:r>
            <a:endParaRPr lang="en-IN" dirty="0"/>
          </a:p>
        </p:txBody>
      </p:sp>
    </p:spTree>
    <p:extLst>
      <p:ext uri="{BB962C8B-B14F-4D97-AF65-F5344CB8AC3E}">
        <p14:creationId xmlns:p14="http://schemas.microsoft.com/office/powerpoint/2010/main" val="1673152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BCAB081-4A75-010C-9491-363EB3E5EA52}"/>
              </a:ext>
            </a:extLst>
          </p:cNvPr>
          <p:cNvPicPr>
            <a:picLocks noGrp="1" noChangeAspect="1"/>
          </p:cNvPicPr>
          <p:nvPr>
            <p:ph idx="1"/>
          </p:nvPr>
        </p:nvPicPr>
        <p:blipFill>
          <a:blip r:embed="rId2"/>
          <a:srcRect t="8822" b="17051"/>
          <a:stretch/>
        </p:blipFill>
        <p:spPr>
          <a:xfrm>
            <a:off x="1714621" y="904126"/>
            <a:ext cx="9412291" cy="5438942"/>
          </a:xfrm>
          <a:prstGeom prst="rect">
            <a:avLst/>
          </a:prstGeom>
        </p:spPr>
      </p:pic>
    </p:spTree>
    <p:extLst>
      <p:ext uri="{BB962C8B-B14F-4D97-AF65-F5344CB8AC3E}">
        <p14:creationId xmlns:p14="http://schemas.microsoft.com/office/powerpoint/2010/main" val="252783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D52C-A7FD-3E8A-AD1B-B268A9873519}"/>
              </a:ext>
            </a:extLst>
          </p:cNvPr>
          <p:cNvSpPr>
            <a:spLocks noGrp="1"/>
          </p:cNvSpPr>
          <p:nvPr>
            <p:ph type="title"/>
          </p:nvPr>
        </p:nvSpPr>
        <p:spPr>
          <a:xfrm>
            <a:off x="694362" y="267128"/>
            <a:ext cx="10515600" cy="801385"/>
          </a:xfrm>
        </p:spPr>
        <p:txBody>
          <a:bodyPr/>
          <a:lstStyle/>
          <a:p>
            <a:pPr algn="ctr"/>
            <a:r>
              <a:rPr lang="en-IN" b="1" dirty="0">
                <a:solidFill>
                  <a:srgbClr val="C00000"/>
                </a:solidFill>
              </a:rPr>
              <a:t>Conflict Serializability</a:t>
            </a:r>
          </a:p>
        </p:txBody>
      </p:sp>
      <p:sp>
        <p:nvSpPr>
          <p:cNvPr id="3" name="Content Placeholder 2">
            <a:extLst>
              <a:ext uri="{FF2B5EF4-FFF2-40B4-BE49-F238E27FC236}">
                <a16:creationId xmlns:a16="http://schemas.microsoft.com/office/drawing/2014/main" id="{FB62FC7C-A92F-20F7-6E66-E13487DD62CE}"/>
              </a:ext>
            </a:extLst>
          </p:cNvPr>
          <p:cNvSpPr>
            <a:spLocks noGrp="1"/>
          </p:cNvSpPr>
          <p:nvPr>
            <p:ph idx="1"/>
          </p:nvPr>
        </p:nvSpPr>
        <p:spPr>
          <a:xfrm>
            <a:off x="838200" y="1294544"/>
            <a:ext cx="10515600" cy="5211192"/>
          </a:xfrm>
        </p:spPr>
        <p:txBody>
          <a:bodyPr>
            <a:normAutofit/>
          </a:bodyPr>
          <a:lstStyle/>
          <a:p>
            <a:pPr algn="just"/>
            <a:r>
              <a:rPr lang="en-US" dirty="0"/>
              <a:t>Conflict Serializability checks if a non-serial schedule is conflict serializable or not. A non-serial schedule is conflict-serializable if it can convert into a serial schedule by swapping its non-conflicting operations.</a:t>
            </a:r>
          </a:p>
          <a:p>
            <a:pPr algn="just"/>
            <a:r>
              <a:rPr lang="en-US" dirty="0">
                <a:solidFill>
                  <a:srgbClr val="C00000"/>
                </a:solidFill>
              </a:rPr>
              <a:t>Conflicting Operations:</a:t>
            </a:r>
          </a:p>
          <a:p>
            <a:pPr algn="just"/>
            <a:r>
              <a:rPr lang="en-US" dirty="0"/>
              <a:t>A pair of operations are said to be conflicting operations if they follow the set of conditions given below:</a:t>
            </a:r>
          </a:p>
          <a:p>
            <a:pPr lvl="1" algn="just"/>
            <a:r>
              <a:rPr lang="en-US" dirty="0"/>
              <a:t>Each operation is a part of different transactions.</a:t>
            </a:r>
          </a:p>
          <a:p>
            <a:pPr lvl="1" algn="just"/>
            <a:r>
              <a:rPr lang="en-US" dirty="0"/>
              <a:t>Both operations are performed on the same data item.</a:t>
            </a:r>
          </a:p>
          <a:p>
            <a:pPr lvl="1" algn="just"/>
            <a:r>
              <a:rPr lang="en-US" dirty="0"/>
              <a:t>One of the performed must be a write operation.</a:t>
            </a:r>
          </a:p>
        </p:txBody>
      </p:sp>
    </p:spTree>
    <p:extLst>
      <p:ext uri="{BB962C8B-B14F-4D97-AF65-F5344CB8AC3E}">
        <p14:creationId xmlns:p14="http://schemas.microsoft.com/office/powerpoint/2010/main" val="2299087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2A8D5-36F6-3DE3-0C3E-874CBD683B4D}"/>
              </a:ext>
            </a:extLst>
          </p:cNvPr>
          <p:cNvSpPr>
            <a:spLocks noGrp="1"/>
          </p:cNvSpPr>
          <p:nvPr>
            <p:ph idx="1"/>
          </p:nvPr>
        </p:nvSpPr>
        <p:spPr>
          <a:xfrm>
            <a:off x="714910" y="685193"/>
            <a:ext cx="10515600" cy="4351338"/>
          </a:xfrm>
        </p:spPr>
        <p:txBody>
          <a:bodyPr/>
          <a:lstStyle/>
          <a:p>
            <a:r>
              <a:rPr lang="en-US" dirty="0"/>
              <a:t>Let's consider two different transactions, </a:t>
            </a:r>
            <a:r>
              <a:rPr lang="en-US" i="1" dirty="0"/>
              <a:t>Ti​</a:t>
            </a:r>
            <a:r>
              <a:rPr lang="en-US" dirty="0"/>
              <a:t> and </a:t>
            </a:r>
            <a:r>
              <a:rPr lang="en-US" i="1" dirty="0" err="1"/>
              <a:t>Tj</a:t>
            </a:r>
            <a:r>
              <a:rPr lang="en-US" dirty="0"/>
              <a:t>. Then, considering the above conditions, the following table follows:</a:t>
            </a:r>
          </a:p>
          <a:p>
            <a:endParaRPr lang="en-IN" dirty="0"/>
          </a:p>
        </p:txBody>
      </p:sp>
      <p:pic>
        <p:nvPicPr>
          <p:cNvPr id="5" name="Picture 4">
            <a:extLst>
              <a:ext uri="{FF2B5EF4-FFF2-40B4-BE49-F238E27FC236}">
                <a16:creationId xmlns:a16="http://schemas.microsoft.com/office/drawing/2014/main" id="{053BBB21-3682-96C5-3B21-A220BA71F2D4}"/>
              </a:ext>
            </a:extLst>
          </p:cNvPr>
          <p:cNvPicPr>
            <a:picLocks noChangeAspect="1"/>
          </p:cNvPicPr>
          <p:nvPr/>
        </p:nvPicPr>
        <p:blipFill>
          <a:blip r:embed="rId2"/>
          <a:srcRect l="6079" r="8702"/>
          <a:stretch/>
        </p:blipFill>
        <p:spPr>
          <a:xfrm>
            <a:off x="520544" y="1722863"/>
            <a:ext cx="6441736" cy="4336928"/>
          </a:xfrm>
          <a:prstGeom prst="rect">
            <a:avLst/>
          </a:prstGeom>
        </p:spPr>
      </p:pic>
      <p:pic>
        <p:nvPicPr>
          <p:cNvPr id="6" name="Picture 5">
            <a:extLst>
              <a:ext uri="{FF2B5EF4-FFF2-40B4-BE49-F238E27FC236}">
                <a16:creationId xmlns:a16="http://schemas.microsoft.com/office/drawing/2014/main" id="{8AD3421A-9650-F13A-B2A8-C3B86AEC4A7F}"/>
              </a:ext>
            </a:extLst>
          </p:cNvPr>
          <p:cNvPicPr>
            <a:picLocks noChangeAspect="1"/>
          </p:cNvPicPr>
          <p:nvPr/>
        </p:nvPicPr>
        <p:blipFill>
          <a:blip r:embed="rId3"/>
          <a:srcRect l="25717" t="11817" r="22731" b="29438"/>
          <a:stretch/>
        </p:blipFill>
        <p:spPr>
          <a:xfrm>
            <a:off x="7187533" y="2020823"/>
            <a:ext cx="4691373" cy="3015708"/>
          </a:xfrm>
          <a:prstGeom prst="rect">
            <a:avLst/>
          </a:prstGeom>
        </p:spPr>
      </p:pic>
    </p:spTree>
    <p:extLst>
      <p:ext uri="{BB962C8B-B14F-4D97-AF65-F5344CB8AC3E}">
        <p14:creationId xmlns:p14="http://schemas.microsoft.com/office/powerpoint/2010/main" val="146623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2F6C78-F016-27B2-2F6D-E63891E0745E}"/>
              </a:ext>
            </a:extLst>
          </p:cNvPr>
          <p:cNvSpPr>
            <a:spLocks noGrp="1"/>
          </p:cNvSpPr>
          <p:nvPr>
            <p:ph idx="1"/>
          </p:nvPr>
        </p:nvSpPr>
        <p:spPr>
          <a:xfrm>
            <a:off x="431515" y="380144"/>
            <a:ext cx="6365152" cy="5870700"/>
          </a:xfrm>
        </p:spPr>
        <p:txBody>
          <a:bodyPr>
            <a:normAutofit fontScale="92500" lnSpcReduction="20000"/>
          </a:bodyPr>
          <a:lstStyle/>
          <a:p>
            <a:pPr marL="0" indent="0">
              <a:buNone/>
            </a:pPr>
            <a:r>
              <a:rPr lang="en-IN" sz="3200" b="1" dirty="0">
                <a:solidFill>
                  <a:srgbClr val="C00000"/>
                </a:solidFill>
              </a:rPr>
              <a:t>Example:</a:t>
            </a:r>
          </a:p>
          <a:p>
            <a:pPr algn="just"/>
            <a:r>
              <a:rPr lang="en-US" sz="2400" dirty="0"/>
              <a:t>In the above schedule, we can notice that:</a:t>
            </a:r>
          </a:p>
          <a:p>
            <a:pPr marL="0" indent="0" algn="just">
              <a:buNone/>
            </a:pPr>
            <a:r>
              <a:rPr lang="en-US" sz="2400" dirty="0"/>
              <a:t>W1(A) and R2(A) are part of different transactions. Both apply to the same data item, i.e., A. W1(A) is a write operation. </a:t>
            </a:r>
          </a:p>
          <a:p>
            <a:pPr marL="0" indent="0" algn="just">
              <a:buNone/>
            </a:pPr>
            <a:r>
              <a:rPr lang="en-US" sz="2400" dirty="0"/>
              <a:t>W1(A) and R2(A) are </a:t>
            </a:r>
            <a:r>
              <a:rPr lang="en-US" sz="2400" dirty="0">
                <a:solidFill>
                  <a:srgbClr val="C00000"/>
                </a:solidFill>
              </a:rPr>
              <a:t>conflicting</a:t>
            </a:r>
            <a:r>
              <a:rPr lang="en-US" sz="2400" dirty="0"/>
              <a:t> operations as they satisfy all the above conditions.</a:t>
            </a:r>
          </a:p>
          <a:p>
            <a:pPr marL="0" indent="0" algn="just">
              <a:buNone/>
            </a:pPr>
            <a:r>
              <a:rPr lang="en-US" sz="2400" dirty="0"/>
              <a:t>W1(A) and W2(B) are </a:t>
            </a:r>
            <a:r>
              <a:rPr lang="en-US" sz="2400" dirty="0">
                <a:solidFill>
                  <a:srgbClr val="C00000"/>
                </a:solidFill>
              </a:rPr>
              <a:t>non-conflicting</a:t>
            </a:r>
            <a:r>
              <a:rPr lang="en-US" sz="2400" dirty="0"/>
              <a:t> operations as they work on different data items and thus do not satisfy all the given conditions.</a:t>
            </a:r>
          </a:p>
          <a:p>
            <a:pPr marL="0" indent="0" algn="just">
              <a:buNone/>
            </a:pPr>
            <a:endParaRPr lang="en-US" sz="2400" dirty="0"/>
          </a:p>
          <a:p>
            <a:pPr marL="0" indent="0" algn="just">
              <a:buNone/>
            </a:pPr>
            <a:r>
              <a:rPr lang="en-US" sz="2400" dirty="0"/>
              <a:t>R1(A) and R2(A) are </a:t>
            </a:r>
            <a:r>
              <a:rPr lang="en-US" sz="2400" dirty="0">
                <a:solidFill>
                  <a:srgbClr val="C00000"/>
                </a:solidFill>
              </a:rPr>
              <a:t>non-conflicting</a:t>
            </a:r>
            <a:r>
              <a:rPr lang="en-US" sz="2400" dirty="0"/>
              <a:t> operations as neither of them is a write operation and thus does not satisfy the third condition.</a:t>
            </a:r>
          </a:p>
          <a:p>
            <a:pPr marL="0" indent="0" algn="just">
              <a:buNone/>
            </a:pPr>
            <a:endParaRPr lang="en-US" sz="2400" dirty="0"/>
          </a:p>
          <a:p>
            <a:pPr marL="0" indent="0" algn="just">
              <a:buNone/>
            </a:pPr>
            <a:r>
              <a:rPr lang="en-US" sz="2400" dirty="0"/>
              <a:t>W1(A) and R1(A) are </a:t>
            </a:r>
            <a:r>
              <a:rPr lang="en-US" sz="2400" dirty="0">
                <a:solidFill>
                  <a:srgbClr val="C00000"/>
                </a:solidFill>
              </a:rPr>
              <a:t>non-conflicting</a:t>
            </a:r>
            <a:r>
              <a:rPr lang="en-US" sz="2400" dirty="0"/>
              <a:t> as they belong to the same transactions and thus do not satisfy the first condition.</a:t>
            </a:r>
            <a:endParaRPr lang="en-IN" sz="2400" dirty="0"/>
          </a:p>
        </p:txBody>
      </p:sp>
      <p:pic>
        <p:nvPicPr>
          <p:cNvPr id="4" name="Picture 3">
            <a:extLst>
              <a:ext uri="{FF2B5EF4-FFF2-40B4-BE49-F238E27FC236}">
                <a16:creationId xmlns:a16="http://schemas.microsoft.com/office/drawing/2014/main" id="{F7C4A579-D8D4-4A77-DD6F-9B658B1C4047}"/>
              </a:ext>
            </a:extLst>
          </p:cNvPr>
          <p:cNvPicPr>
            <a:picLocks noChangeAspect="1"/>
          </p:cNvPicPr>
          <p:nvPr/>
        </p:nvPicPr>
        <p:blipFill>
          <a:blip r:embed="rId2"/>
          <a:stretch>
            <a:fillRect/>
          </a:stretch>
        </p:blipFill>
        <p:spPr>
          <a:xfrm>
            <a:off x="6796667" y="1756881"/>
            <a:ext cx="5252824" cy="3925096"/>
          </a:xfrm>
          <a:prstGeom prst="rect">
            <a:avLst/>
          </a:prstGeom>
        </p:spPr>
      </p:pic>
    </p:spTree>
    <p:extLst>
      <p:ext uri="{BB962C8B-B14F-4D97-AF65-F5344CB8AC3E}">
        <p14:creationId xmlns:p14="http://schemas.microsoft.com/office/powerpoint/2010/main" val="3511898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65DD-8278-9F93-859B-57539FBAEA2B}"/>
              </a:ext>
            </a:extLst>
          </p:cNvPr>
          <p:cNvSpPr>
            <a:spLocks noGrp="1"/>
          </p:cNvSpPr>
          <p:nvPr>
            <p:ph type="title"/>
          </p:nvPr>
        </p:nvSpPr>
        <p:spPr>
          <a:xfrm>
            <a:off x="838200" y="478142"/>
            <a:ext cx="10515600" cy="610920"/>
          </a:xfrm>
        </p:spPr>
        <p:txBody>
          <a:bodyPr>
            <a:normAutofit fontScale="90000"/>
          </a:bodyPr>
          <a:lstStyle/>
          <a:p>
            <a:pPr algn="ctr"/>
            <a:r>
              <a:rPr lang="en-IN" sz="4900" b="1" dirty="0">
                <a:solidFill>
                  <a:srgbClr val="C00000"/>
                </a:solidFill>
              </a:rPr>
              <a:t>Precedence Graph</a:t>
            </a:r>
            <a:br>
              <a:rPr lang="en-IN" dirty="0"/>
            </a:br>
            <a:endParaRPr lang="en-IN" dirty="0"/>
          </a:p>
        </p:txBody>
      </p:sp>
      <p:sp>
        <p:nvSpPr>
          <p:cNvPr id="3" name="Content Placeholder 2">
            <a:extLst>
              <a:ext uri="{FF2B5EF4-FFF2-40B4-BE49-F238E27FC236}">
                <a16:creationId xmlns:a16="http://schemas.microsoft.com/office/drawing/2014/main" id="{7248AFBF-7D0F-6038-ED3C-D2F390A3D17F}"/>
              </a:ext>
            </a:extLst>
          </p:cNvPr>
          <p:cNvSpPr>
            <a:spLocks noGrp="1"/>
          </p:cNvSpPr>
          <p:nvPr>
            <p:ph idx="1"/>
          </p:nvPr>
        </p:nvSpPr>
        <p:spPr>
          <a:xfrm>
            <a:off x="838200" y="1171254"/>
            <a:ext cx="10515600" cy="5005709"/>
          </a:xfrm>
        </p:spPr>
        <p:txBody>
          <a:bodyPr>
            <a:normAutofit/>
          </a:bodyPr>
          <a:lstStyle/>
          <a:p>
            <a:pPr algn="just"/>
            <a:r>
              <a:rPr lang="en-US" dirty="0"/>
              <a:t>A precedence graph, also known as </a:t>
            </a:r>
            <a:r>
              <a:rPr lang="en-US" dirty="0">
                <a:solidFill>
                  <a:srgbClr val="C00000"/>
                </a:solidFill>
              </a:rPr>
              <a:t>serialization graph </a:t>
            </a:r>
            <a:r>
              <a:rPr lang="en-US" dirty="0"/>
              <a:t>or </a:t>
            </a:r>
            <a:r>
              <a:rPr lang="en-US" dirty="0">
                <a:solidFill>
                  <a:srgbClr val="C00000"/>
                </a:solidFill>
              </a:rPr>
              <a:t>conflict graph</a:t>
            </a:r>
            <a:r>
              <a:rPr lang="en-US" dirty="0"/>
              <a:t>, is used for testing Conflict Serializability of a schedule in the condition that forms the setting of concurrency control in databases.</a:t>
            </a:r>
          </a:p>
          <a:p>
            <a:pPr algn="just"/>
            <a:r>
              <a:rPr lang="en-US" dirty="0"/>
              <a:t>It is always a directed acyclic graph.</a:t>
            </a:r>
          </a:p>
          <a:p>
            <a:pPr algn="just"/>
            <a:r>
              <a:rPr lang="en-US" dirty="0"/>
              <a:t>This graph consists of a pair </a:t>
            </a:r>
            <a:r>
              <a:rPr lang="en-US" i="1" dirty="0"/>
              <a:t>G = (V, E), </a:t>
            </a:r>
            <a:r>
              <a:rPr lang="en-US" dirty="0"/>
              <a:t>where </a:t>
            </a:r>
            <a:r>
              <a:rPr lang="en-US" i="1" dirty="0"/>
              <a:t>V</a:t>
            </a:r>
            <a:r>
              <a:rPr lang="en-US" dirty="0"/>
              <a:t> is a set of vertices and </a:t>
            </a:r>
            <a:r>
              <a:rPr lang="en-US" i="1" dirty="0"/>
              <a:t>E</a:t>
            </a:r>
            <a:r>
              <a:rPr lang="en-US" dirty="0"/>
              <a:t> is a set of edges. The set of vertices consists of all the transactions participating in the schedule.</a:t>
            </a:r>
          </a:p>
          <a:p>
            <a:pPr algn="just"/>
            <a:r>
              <a:rPr lang="en-US" dirty="0"/>
              <a:t>The precedence graph is one of the most important tools in database management. It is used to test the conflict serialization of transaction schedules. The graph identifies cycles in the execution sequence of transactions to determine if the schedule is conflict serializable.</a:t>
            </a:r>
            <a:endParaRPr lang="en-IN" dirty="0"/>
          </a:p>
        </p:txBody>
      </p:sp>
    </p:spTree>
    <p:extLst>
      <p:ext uri="{BB962C8B-B14F-4D97-AF65-F5344CB8AC3E}">
        <p14:creationId xmlns:p14="http://schemas.microsoft.com/office/powerpoint/2010/main" val="1531252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067E04D-7D84-052B-02D6-BEE1B4C442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05415" y="81961"/>
            <a:ext cx="6206414"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15C7066-1D35-3686-F5A7-96CAD993DD6E}"/>
              </a:ext>
            </a:extLst>
          </p:cNvPr>
          <p:cNvSpPr txBox="1"/>
          <p:nvPr/>
        </p:nvSpPr>
        <p:spPr>
          <a:xfrm>
            <a:off x="515848" y="4303455"/>
            <a:ext cx="11160303" cy="2246769"/>
          </a:xfrm>
          <a:prstGeom prst="rect">
            <a:avLst/>
          </a:prstGeom>
          <a:noFill/>
        </p:spPr>
        <p:txBody>
          <a:bodyPr wrap="square">
            <a:spAutoFit/>
          </a:bodyPr>
          <a:lstStyle/>
          <a:p>
            <a:pPr marL="285750" indent="-285750">
              <a:buFont typeface="Arial" panose="020B0604020202020204" pitchFamily="34" charset="0"/>
              <a:buChar char="•"/>
            </a:pPr>
            <a:r>
              <a:rPr lang="en-US" sz="2000" dirty="0"/>
              <a:t>Let, the Conflict Serial Schedule be   S: R2(A) W2(A) R3(C) W2(B) W3(A) W3(C) R1(A) R2(B) W1(A) W2(B)</a:t>
            </a:r>
          </a:p>
          <a:p>
            <a:pPr marL="285750" indent="-285750">
              <a:buFont typeface="Arial" panose="020B0604020202020204" pitchFamily="34" charset="0"/>
              <a:buChar char="•"/>
            </a:pPr>
            <a:r>
              <a:rPr lang="en-US" sz="2000" dirty="0"/>
              <a:t>Here node T2 has indegree 0.</a:t>
            </a:r>
          </a:p>
          <a:p>
            <a:pPr marL="285750" indent="-285750">
              <a:buFont typeface="Arial" panose="020B0604020202020204" pitchFamily="34" charset="0"/>
              <a:buChar char="•"/>
            </a:pPr>
            <a:r>
              <a:rPr lang="en-US" sz="2000" dirty="0"/>
              <a:t>So, select T2 and remove T2 and all edges connecting from it.</a:t>
            </a:r>
          </a:p>
          <a:p>
            <a:pPr marL="285750" indent="-285750">
              <a:buFont typeface="Arial" panose="020B0604020202020204" pitchFamily="34" charset="0"/>
              <a:buChar char="•"/>
            </a:pPr>
            <a:r>
              <a:rPr lang="en-US" sz="2000" dirty="0"/>
              <a:t>Now T3 has indegree 0. So, select T3 and remove the edge T3→T1.</a:t>
            </a:r>
          </a:p>
          <a:p>
            <a:pPr marL="285750" indent="-285750">
              <a:buFont typeface="Arial" panose="020B0604020202020204" pitchFamily="34" charset="0"/>
              <a:buChar char="•"/>
            </a:pPr>
            <a:r>
              <a:rPr lang="en-US" sz="2000" dirty="0"/>
              <a:t>At the end select T3. So the topological Sorting is T2, T3, T1.</a:t>
            </a:r>
          </a:p>
          <a:p>
            <a:pPr marL="285750" indent="-285750">
              <a:buFont typeface="Arial" panose="020B0604020202020204" pitchFamily="34" charset="0"/>
              <a:buChar char="•"/>
            </a:pPr>
            <a:r>
              <a:rPr lang="en-US" sz="2000" dirty="0"/>
              <a:t>Hence, the equivalent serial schedule of given conflict serializable schedule is </a:t>
            </a:r>
            <a:r>
              <a:rPr lang="en-US" sz="2000" dirty="0">
                <a:solidFill>
                  <a:srgbClr val="C00000"/>
                </a:solidFill>
              </a:rPr>
              <a:t>T2→T3→T1</a:t>
            </a:r>
            <a:r>
              <a:rPr lang="en-US" sz="2000" dirty="0"/>
              <a:t>, i.e., </a:t>
            </a:r>
          </a:p>
          <a:p>
            <a:r>
              <a:rPr lang="en-US" sz="2000" dirty="0"/>
              <a:t>     </a:t>
            </a:r>
            <a:r>
              <a:rPr lang="en-US" sz="2000" dirty="0">
                <a:solidFill>
                  <a:srgbClr val="C00000"/>
                </a:solidFill>
              </a:rPr>
              <a:t>S2: R2(A) W2(A) W2(B) R3(C) W3(A) W3(C) R1(A) R2(B) W1(A) W1(B).</a:t>
            </a:r>
            <a:endParaRPr lang="en-IN" sz="2000" dirty="0">
              <a:solidFill>
                <a:srgbClr val="C00000"/>
              </a:solidFill>
            </a:endParaRPr>
          </a:p>
        </p:txBody>
      </p:sp>
    </p:spTree>
    <p:extLst>
      <p:ext uri="{BB962C8B-B14F-4D97-AF65-F5344CB8AC3E}">
        <p14:creationId xmlns:p14="http://schemas.microsoft.com/office/powerpoint/2010/main" val="1080940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52822A6-1740-5FD7-1391-5F54BCB7A822}"/>
              </a:ext>
            </a:extLst>
          </p:cNvPr>
          <p:cNvPicPr>
            <a:picLocks noGrp="1" noChangeAspect="1"/>
          </p:cNvPicPr>
          <p:nvPr>
            <p:ph idx="1"/>
          </p:nvPr>
        </p:nvPicPr>
        <p:blipFill>
          <a:blip r:embed="rId2"/>
          <a:stretch>
            <a:fillRect/>
          </a:stretch>
        </p:blipFill>
        <p:spPr>
          <a:xfrm>
            <a:off x="1931542" y="842482"/>
            <a:ext cx="8604714" cy="4274866"/>
          </a:xfrm>
          <a:prstGeom prst="rect">
            <a:avLst/>
          </a:prstGeom>
        </p:spPr>
      </p:pic>
    </p:spTree>
    <p:extLst>
      <p:ext uri="{BB962C8B-B14F-4D97-AF65-F5344CB8AC3E}">
        <p14:creationId xmlns:p14="http://schemas.microsoft.com/office/powerpoint/2010/main" val="242733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F952D4-11DB-700C-79C3-84A6E3AF1DF9}"/>
              </a:ext>
            </a:extLst>
          </p:cNvPr>
          <p:cNvSpPr>
            <a:spLocks noGrp="1"/>
          </p:cNvSpPr>
          <p:nvPr>
            <p:ph idx="1"/>
          </p:nvPr>
        </p:nvSpPr>
        <p:spPr>
          <a:xfrm>
            <a:off x="647272" y="811658"/>
            <a:ext cx="10706528" cy="5365305"/>
          </a:xfrm>
        </p:spPr>
        <p:txBody>
          <a:bodyPr/>
          <a:lstStyle/>
          <a:p>
            <a:pPr marL="0" indent="0">
              <a:buNone/>
            </a:pPr>
            <a:r>
              <a:rPr lang="en-US" sz="3600" b="1" dirty="0">
                <a:solidFill>
                  <a:srgbClr val="C00000"/>
                </a:solidFill>
              </a:rPr>
              <a:t>Non-Serializability</a:t>
            </a:r>
            <a:r>
              <a:rPr lang="en-US" dirty="0"/>
              <a:t> </a:t>
            </a:r>
          </a:p>
          <a:p>
            <a:pPr algn="just"/>
            <a:r>
              <a:rPr lang="en-US" dirty="0"/>
              <a:t>A non-serial schedule that is not serializable is called a non-serializable schedule. </a:t>
            </a:r>
          </a:p>
          <a:p>
            <a:pPr algn="just"/>
            <a:r>
              <a:rPr lang="en-US" dirty="0"/>
              <a:t>Non-serializable schedules </a:t>
            </a:r>
            <a:r>
              <a:rPr lang="en-US" dirty="0">
                <a:solidFill>
                  <a:srgbClr val="FF0000"/>
                </a:solidFill>
              </a:rPr>
              <a:t>may/may not be consistent or recoverable</a:t>
            </a:r>
            <a:r>
              <a:rPr lang="en-US" dirty="0"/>
              <a:t>.</a:t>
            </a:r>
          </a:p>
          <a:p>
            <a:pPr algn="just"/>
            <a:r>
              <a:rPr lang="en-US" dirty="0"/>
              <a:t>Non-serializable Schedule is divided into types:</a:t>
            </a:r>
          </a:p>
          <a:p>
            <a:pPr lvl="1" algn="just"/>
            <a:r>
              <a:rPr lang="en-US" dirty="0"/>
              <a:t>Recoverable Schedule</a:t>
            </a:r>
          </a:p>
          <a:p>
            <a:pPr lvl="1" algn="just"/>
            <a:r>
              <a:rPr lang="en-US" dirty="0"/>
              <a:t>Non-recoverable Schedule</a:t>
            </a:r>
            <a:endParaRPr lang="en-IN" dirty="0"/>
          </a:p>
        </p:txBody>
      </p:sp>
    </p:spTree>
    <p:extLst>
      <p:ext uri="{BB962C8B-B14F-4D97-AF65-F5344CB8AC3E}">
        <p14:creationId xmlns:p14="http://schemas.microsoft.com/office/powerpoint/2010/main" val="243701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CE3BC-0908-F493-9AAA-7123BA83DCA2}"/>
              </a:ext>
            </a:extLst>
          </p:cNvPr>
          <p:cNvSpPr>
            <a:spLocks noGrp="1"/>
          </p:cNvSpPr>
          <p:nvPr>
            <p:ph idx="1"/>
          </p:nvPr>
        </p:nvSpPr>
        <p:spPr>
          <a:xfrm>
            <a:off x="698642" y="441788"/>
            <a:ext cx="10655157" cy="6236413"/>
          </a:xfrm>
        </p:spPr>
        <p:txBody>
          <a:bodyPr>
            <a:normAutofit lnSpcReduction="10000"/>
          </a:bodyPr>
          <a:lstStyle/>
          <a:p>
            <a:pPr marL="0" indent="0">
              <a:buNone/>
            </a:pPr>
            <a:r>
              <a:rPr lang="en-US" sz="3200" b="1" dirty="0">
                <a:solidFill>
                  <a:srgbClr val="C00000"/>
                </a:solidFill>
              </a:rPr>
              <a:t>Recoverable Schedule</a:t>
            </a:r>
          </a:p>
          <a:p>
            <a:pPr algn="just"/>
            <a:r>
              <a:rPr lang="en-US" dirty="0"/>
              <a:t>Recoverability refers to the ability of a system to restore data to its original, consistent state after a failure or interruption.</a:t>
            </a:r>
          </a:p>
          <a:p>
            <a:pPr algn="just"/>
            <a:r>
              <a:rPr lang="en-US" dirty="0"/>
              <a:t> Recoverability involves mechanisms such as </a:t>
            </a:r>
            <a:r>
              <a:rPr lang="en-US" dirty="0">
                <a:solidFill>
                  <a:srgbClr val="0070C0"/>
                </a:solidFill>
              </a:rPr>
              <a:t>transaction logging, checkpointing, and transaction rollback</a:t>
            </a:r>
            <a:r>
              <a:rPr lang="en-US" dirty="0"/>
              <a:t> to ensure that, in the event of a system crash or failure, the database can be restored to a consistent state without losing any committed transactions. </a:t>
            </a:r>
          </a:p>
          <a:p>
            <a:pPr algn="just"/>
            <a:r>
              <a:rPr lang="en-US" dirty="0"/>
              <a:t>It ensures that data remains durable and consistent despite unforeseen events, maintaining the integrity and reliability of the database system.</a:t>
            </a:r>
          </a:p>
          <a:p>
            <a:pPr algn="just"/>
            <a:r>
              <a:rPr lang="en-US" dirty="0"/>
              <a:t>A schedule is recoverable if each transaction commits only after all the transactions from which it has read have committed. In other words, if some transaction Ty reads a value that has been updated/written by some other transaction Tx, then the commit of Ty must occur after the commit of Tx.</a:t>
            </a:r>
            <a:endParaRPr lang="en-IN" dirty="0"/>
          </a:p>
        </p:txBody>
      </p:sp>
    </p:spTree>
    <p:extLst>
      <p:ext uri="{BB962C8B-B14F-4D97-AF65-F5344CB8AC3E}">
        <p14:creationId xmlns:p14="http://schemas.microsoft.com/office/powerpoint/2010/main" val="1753338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6BF684-06B1-912C-FF1C-E726F6C0B735}"/>
              </a:ext>
            </a:extLst>
          </p:cNvPr>
          <p:cNvSpPr txBox="1"/>
          <p:nvPr/>
        </p:nvSpPr>
        <p:spPr>
          <a:xfrm>
            <a:off x="500865" y="4991465"/>
            <a:ext cx="11519899" cy="1477328"/>
          </a:xfrm>
          <a:prstGeom prst="rect">
            <a:avLst/>
          </a:prstGeom>
          <a:noFill/>
        </p:spPr>
        <p:txBody>
          <a:bodyPr wrap="square">
            <a:spAutoFit/>
          </a:bodyPr>
          <a:lstStyle/>
          <a:p>
            <a:r>
              <a:rPr lang="en-US" sz="2400" dirty="0"/>
              <a:t>The schedules shown above are </a:t>
            </a:r>
            <a:r>
              <a:rPr lang="en-US" sz="2400" dirty="0">
                <a:solidFill>
                  <a:srgbClr val="FF0000"/>
                </a:solidFill>
              </a:rPr>
              <a:t>Recoverable</a:t>
            </a:r>
            <a:r>
              <a:rPr lang="en-US" sz="2400" dirty="0"/>
              <a:t> since T1 commits before T2, which makes the value read by T2 correct.</a:t>
            </a:r>
          </a:p>
          <a:p>
            <a:endParaRPr lang="en-US" sz="2400" dirty="0"/>
          </a:p>
          <a:p>
            <a:endParaRPr lang="en-IN" dirty="0"/>
          </a:p>
        </p:txBody>
      </p:sp>
      <p:pic>
        <p:nvPicPr>
          <p:cNvPr id="3" name="Picture 2">
            <a:extLst>
              <a:ext uri="{FF2B5EF4-FFF2-40B4-BE49-F238E27FC236}">
                <a16:creationId xmlns:a16="http://schemas.microsoft.com/office/drawing/2014/main" id="{BB249BDE-DF2E-BF08-79C9-91FFB6FF7F6C}"/>
              </a:ext>
            </a:extLst>
          </p:cNvPr>
          <p:cNvPicPr>
            <a:picLocks noChangeAspect="1"/>
          </p:cNvPicPr>
          <p:nvPr/>
        </p:nvPicPr>
        <p:blipFill>
          <a:blip r:embed="rId2"/>
          <a:stretch>
            <a:fillRect/>
          </a:stretch>
        </p:blipFill>
        <p:spPr>
          <a:xfrm>
            <a:off x="2000507" y="486081"/>
            <a:ext cx="1771897" cy="3801005"/>
          </a:xfrm>
          <a:prstGeom prst="rect">
            <a:avLst/>
          </a:prstGeom>
        </p:spPr>
      </p:pic>
      <p:pic>
        <p:nvPicPr>
          <p:cNvPr id="5" name="Content Placeholder 4">
            <a:extLst>
              <a:ext uri="{FF2B5EF4-FFF2-40B4-BE49-F238E27FC236}">
                <a16:creationId xmlns:a16="http://schemas.microsoft.com/office/drawing/2014/main" id="{77F95047-E633-E5CA-354C-AC165668C8CE}"/>
              </a:ext>
            </a:extLst>
          </p:cNvPr>
          <p:cNvPicPr>
            <a:picLocks noGrp="1" noChangeAspect="1"/>
          </p:cNvPicPr>
          <p:nvPr>
            <p:ph idx="1"/>
          </p:nvPr>
        </p:nvPicPr>
        <p:blipFill>
          <a:blip r:embed="rId3"/>
          <a:srcRect l="15252" t="1139" r="15252"/>
          <a:stretch>
            <a:fillRect/>
          </a:stretch>
        </p:blipFill>
        <p:spPr>
          <a:xfrm>
            <a:off x="5376672" y="486081"/>
            <a:ext cx="5541264" cy="3766598"/>
          </a:xfrm>
          <a:prstGeom prst="rect">
            <a:avLst/>
          </a:prstGeom>
        </p:spPr>
      </p:pic>
    </p:spTree>
    <p:extLst>
      <p:ext uri="{BB962C8B-B14F-4D97-AF65-F5344CB8AC3E}">
        <p14:creationId xmlns:p14="http://schemas.microsoft.com/office/powerpoint/2010/main" val="6914197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002C8-B7F0-A08A-E5D9-03D698ECE7A1}"/>
              </a:ext>
            </a:extLst>
          </p:cNvPr>
          <p:cNvSpPr>
            <a:spLocks noGrp="1"/>
          </p:cNvSpPr>
          <p:nvPr>
            <p:ph idx="1"/>
          </p:nvPr>
        </p:nvSpPr>
        <p:spPr>
          <a:xfrm>
            <a:off x="840340" y="1191802"/>
            <a:ext cx="10511319" cy="4718033"/>
          </a:xfrm>
        </p:spPr>
        <p:txBody>
          <a:bodyPr/>
          <a:lstStyle/>
          <a:p>
            <a:r>
              <a:rPr lang="en-US" dirty="0"/>
              <a:t>Recoverable schedules are further categorized into 3 types:</a:t>
            </a:r>
          </a:p>
          <a:p>
            <a:pPr marL="514350" indent="-514350">
              <a:buFont typeface="+mj-lt"/>
              <a:buAutoNum type="arabicPeriod"/>
            </a:pPr>
            <a:r>
              <a:rPr lang="en-US" dirty="0"/>
              <a:t>Cascading Schedule</a:t>
            </a:r>
          </a:p>
          <a:p>
            <a:pPr marL="514350" indent="-514350">
              <a:buFont typeface="+mj-lt"/>
              <a:buAutoNum type="arabicPeriod"/>
            </a:pPr>
            <a:r>
              <a:rPr lang="en-US" dirty="0" err="1"/>
              <a:t>Cascadeless</a:t>
            </a:r>
            <a:r>
              <a:rPr lang="en-US" dirty="0"/>
              <a:t> Schedule</a:t>
            </a:r>
          </a:p>
          <a:p>
            <a:pPr marL="514350" indent="-514350">
              <a:buFont typeface="+mj-lt"/>
              <a:buAutoNum type="arabicPeriod"/>
            </a:pPr>
            <a:r>
              <a:rPr lang="en-US" dirty="0"/>
              <a:t>Strict Schedule</a:t>
            </a:r>
            <a:endParaRPr lang="en-IN" dirty="0"/>
          </a:p>
        </p:txBody>
      </p:sp>
      <p:pic>
        <p:nvPicPr>
          <p:cNvPr id="4" name="Picture 3">
            <a:extLst>
              <a:ext uri="{FF2B5EF4-FFF2-40B4-BE49-F238E27FC236}">
                <a16:creationId xmlns:a16="http://schemas.microsoft.com/office/drawing/2014/main" id="{F4DE0D1A-97F3-798B-7C7F-3E48A0129F66}"/>
              </a:ext>
            </a:extLst>
          </p:cNvPr>
          <p:cNvPicPr>
            <a:picLocks noChangeAspect="1"/>
          </p:cNvPicPr>
          <p:nvPr/>
        </p:nvPicPr>
        <p:blipFill>
          <a:blip r:embed="rId2"/>
          <a:stretch>
            <a:fillRect/>
          </a:stretch>
        </p:blipFill>
        <p:spPr>
          <a:xfrm>
            <a:off x="6245504" y="2509810"/>
            <a:ext cx="5183640" cy="2616271"/>
          </a:xfrm>
          <a:prstGeom prst="rect">
            <a:avLst/>
          </a:prstGeom>
        </p:spPr>
      </p:pic>
    </p:spTree>
    <p:extLst>
      <p:ext uri="{BB962C8B-B14F-4D97-AF65-F5344CB8AC3E}">
        <p14:creationId xmlns:p14="http://schemas.microsoft.com/office/powerpoint/2010/main" val="3165965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DEBEE-CC50-7F2D-7248-4B6D32059247}"/>
              </a:ext>
            </a:extLst>
          </p:cNvPr>
          <p:cNvSpPr>
            <a:spLocks noGrp="1"/>
          </p:cNvSpPr>
          <p:nvPr>
            <p:ph idx="1"/>
          </p:nvPr>
        </p:nvSpPr>
        <p:spPr>
          <a:xfrm>
            <a:off x="673814" y="592725"/>
            <a:ext cx="10515600" cy="5376559"/>
          </a:xfrm>
        </p:spPr>
        <p:txBody>
          <a:bodyPr>
            <a:normAutofit fontScale="92500" lnSpcReduction="10000"/>
          </a:bodyPr>
          <a:lstStyle/>
          <a:p>
            <a:r>
              <a:rPr lang="en-US" sz="3000" b="1" dirty="0">
                <a:solidFill>
                  <a:srgbClr val="C00000"/>
                </a:solidFill>
              </a:rPr>
              <a:t>Cascading Schedule</a:t>
            </a:r>
          </a:p>
          <a:p>
            <a:pPr algn="just"/>
            <a:r>
              <a:rPr lang="en-US" dirty="0"/>
              <a:t>If in a schedule, several other dependent transactions are forced to rollback/abort because of the failure of one transaction, then such a schedule is called a Cascading Schedule or </a:t>
            </a:r>
            <a:r>
              <a:rPr lang="en-US" dirty="0">
                <a:solidFill>
                  <a:srgbClr val="C00000"/>
                </a:solidFill>
              </a:rPr>
              <a:t>Cascading Rollback </a:t>
            </a:r>
            <a:r>
              <a:rPr lang="en-US" dirty="0"/>
              <a:t>or Cascading Abort. It simply leads to the wastage of CPU time.</a:t>
            </a:r>
          </a:p>
          <a:p>
            <a:pPr marL="0" indent="0" algn="just">
              <a:buNone/>
            </a:pPr>
            <a:endParaRPr lang="en-US" dirty="0"/>
          </a:p>
          <a:p>
            <a:pPr algn="just"/>
            <a:r>
              <a:rPr lang="en-US" dirty="0"/>
              <a:t>Cascading refers to a situation where the failure of one transaction causes a chain reaction of rollbacks in other dependent transactions. </a:t>
            </a:r>
          </a:p>
          <a:p>
            <a:pPr algn="just"/>
            <a:r>
              <a:rPr lang="en-US" dirty="0"/>
              <a:t>The phenomenon, in which a single transaction failure leads to a series of transaction rollbacks, is called </a:t>
            </a:r>
            <a:r>
              <a:rPr lang="en-US" b="1" dirty="0">
                <a:solidFill>
                  <a:srgbClr val="C00000"/>
                </a:solidFill>
              </a:rPr>
              <a:t>cascading rollback.</a:t>
            </a:r>
          </a:p>
          <a:p>
            <a:pPr algn="just"/>
            <a:r>
              <a:rPr lang="en-US" dirty="0"/>
              <a:t>This happens because the dependent transactions rely on data or changes made by the failed transaction. If the changes are rolled back, the dependent transactions also need to roll back to maintain consistency.</a:t>
            </a:r>
          </a:p>
          <a:p>
            <a:endParaRPr lang="en-IN" dirty="0"/>
          </a:p>
        </p:txBody>
      </p:sp>
    </p:spTree>
    <p:extLst>
      <p:ext uri="{BB962C8B-B14F-4D97-AF65-F5344CB8AC3E}">
        <p14:creationId xmlns:p14="http://schemas.microsoft.com/office/powerpoint/2010/main" val="3764221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C9DA1AF-7148-CA15-AEC4-218F74278791}"/>
              </a:ext>
            </a:extLst>
          </p:cNvPr>
          <p:cNvPicPr>
            <a:picLocks noGrp="1" noChangeAspect="1"/>
          </p:cNvPicPr>
          <p:nvPr>
            <p:ph idx="1"/>
          </p:nvPr>
        </p:nvPicPr>
        <p:blipFill>
          <a:blip r:embed="rId2"/>
          <a:stretch>
            <a:fillRect/>
          </a:stretch>
        </p:blipFill>
        <p:spPr>
          <a:xfrm>
            <a:off x="318926" y="188081"/>
            <a:ext cx="5375953" cy="3843652"/>
          </a:xfrm>
          <a:prstGeom prst="rect">
            <a:avLst/>
          </a:prstGeom>
        </p:spPr>
      </p:pic>
      <p:sp>
        <p:nvSpPr>
          <p:cNvPr id="6" name="TextBox 5">
            <a:extLst>
              <a:ext uri="{FF2B5EF4-FFF2-40B4-BE49-F238E27FC236}">
                <a16:creationId xmlns:a16="http://schemas.microsoft.com/office/drawing/2014/main" id="{BA0C475A-3FF0-11BF-DF58-E4FC835A6503}"/>
              </a:ext>
            </a:extLst>
          </p:cNvPr>
          <p:cNvSpPr txBox="1"/>
          <p:nvPr/>
        </p:nvSpPr>
        <p:spPr>
          <a:xfrm>
            <a:off x="6094288" y="325719"/>
            <a:ext cx="6097712"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Cascading occurs when a transaction reads uncommitted data (also called dirty data) from another transaction. </a:t>
            </a:r>
          </a:p>
          <a:p>
            <a:pPr marL="285750" indent="-285750" algn="just">
              <a:buFont typeface="Arial" panose="020B0604020202020204" pitchFamily="34" charset="0"/>
              <a:buChar char="•"/>
            </a:pPr>
            <a:r>
              <a:rPr lang="en-US" dirty="0"/>
              <a:t>If the first transaction fails or is rolled back, the data read by the second transaction becomes invalid, forcing the rollback of the dependent transaction as well.</a:t>
            </a:r>
          </a:p>
          <a:p>
            <a:pPr algn="just"/>
            <a:endParaRPr lang="en-US" dirty="0"/>
          </a:p>
          <a:p>
            <a:pPr algn="just"/>
            <a:r>
              <a:rPr lang="en-US" dirty="0"/>
              <a:t>Here,</a:t>
            </a:r>
          </a:p>
          <a:p>
            <a:pPr algn="just"/>
            <a:r>
              <a:rPr lang="en-US" dirty="0"/>
              <a:t>Transaction T2 depends on transaction T1.</a:t>
            </a:r>
          </a:p>
          <a:p>
            <a:pPr algn="just"/>
            <a:r>
              <a:rPr lang="en-US" dirty="0"/>
              <a:t>Transaction T3 depends on transaction T2.</a:t>
            </a:r>
          </a:p>
          <a:p>
            <a:pPr algn="just"/>
            <a:r>
              <a:rPr lang="en-US" dirty="0"/>
              <a:t>Transaction T4 depends on transaction T3.</a:t>
            </a:r>
          </a:p>
          <a:p>
            <a:pPr algn="just"/>
            <a:endParaRPr lang="en-US" dirty="0"/>
          </a:p>
          <a:p>
            <a:pPr algn="just"/>
            <a:r>
              <a:rPr lang="en-US" dirty="0"/>
              <a:t>In this schedule,</a:t>
            </a:r>
          </a:p>
          <a:p>
            <a:pPr algn="just"/>
            <a:r>
              <a:rPr lang="en-US" dirty="0"/>
              <a:t>The failure of T1 causes the transaction T2 to rollback.</a:t>
            </a:r>
          </a:p>
          <a:p>
            <a:pPr algn="just"/>
            <a:r>
              <a:rPr lang="en-US" dirty="0"/>
              <a:t>The rollback of T2 causes the transaction T3 to rollback.</a:t>
            </a:r>
          </a:p>
          <a:p>
            <a:pPr algn="just"/>
            <a:r>
              <a:rPr lang="en-US" dirty="0"/>
              <a:t>The rollback of 13 causes the transaction T4 to rollback.</a:t>
            </a:r>
            <a:endParaRPr lang="en-IN" dirty="0"/>
          </a:p>
        </p:txBody>
      </p:sp>
      <p:sp>
        <p:nvSpPr>
          <p:cNvPr id="8" name="TextBox 7">
            <a:extLst>
              <a:ext uri="{FF2B5EF4-FFF2-40B4-BE49-F238E27FC236}">
                <a16:creationId xmlns:a16="http://schemas.microsoft.com/office/drawing/2014/main" id="{1C0E9161-2A59-BACC-02CC-0478F3ABFC66}"/>
              </a:ext>
            </a:extLst>
          </p:cNvPr>
          <p:cNvSpPr txBox="1"/>
          <p:nvPr/>
        </p:nvSpPr>
        <p:spPr>
          <a:xfrm>
            <a:off x="318926" y="4859341"/>
            <a:ext cx="11291299" cy="1569660"/>
          </a:xfrm>
          <a:prstGeom prst="rect">
            <a:avLst/>
          </a:prstGeom>
          <a:noFill/>
        </p:spPr>
        <p:txBody>
          <a:bodyPr wrap="square">
            <a:spAutoFit/>
          </a:bodyPr>
          <a:lstStyle/>
          <a:p>
            <a:pPr marL="342900" indent="-342900">
              <a:buFont typeface="Arial" panose="020B0604020202020204" pitchFamily="34" charset="0"/>
              <a:buChar char="•"/>
            </a:pPr>
            <a:r>
              <a:rPr lang="en-US" sz="2400" dirty="0"/>
              <a:t>When a Transaction reads data from an uncommitted write in another transaction, then it is known as </a:t>
            </a:r>
            <a:r>
              <a:rPr lang="en-US" sz="2400" b="1" dirty="0">
                <a:solidFill>
                  <a:srgbClr val="C00000"/>
                </a:solidFill>
              </a:rPr>
              <a:t>Dirty Read</a:t>
            </a:r>
            <a:r>
              <a:rPr lang="en-US" sz="2400" dirty="0"/>
              <a:t>. </a:t>
            </a:r>
          </a:p>
          <a:p>
            <a:pPr marL="342900" indent="-342900">
              <a:buFont typeface="Arial" panose="020B0604020202020204" pitchFamily="34" charset="0"/>
              <a:buChar char="•"/>
            </a:pPr>
            <a:r>
              <a:rPr lang="en-US" sz="2400" dirty="0"/>
              <a:t>If that writing transaction failed, the written data may be updated again. Therefore, this causes the Dirty Read Problem.</a:t>
            </a:r>
            <a:endParaRPr lang="en-IN" sz="2400" dirty="0"/>
          </a:p>
        </p:txBody>
      </p:sp>
    </p:spTree>
    <p:extLst>
      <p:ext uri="{BB962C8B-B14F-4D97-AF65-F5344CB8AC3E}">
        <p14:creationId xmlns:p14="http://schemas.microsoft.com/office/powerpoint/2010/main" val="1595626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01D6C9-353D-3FB5-426E-B8F32DCBFF56}"/>
              </a:ext>
            </a:extLst>
          </p:cNvPr>
          <p:cNvSpPr>
            <a:spLocks noGrp="1"/>
          </p:cNvSpPr>
          <p:nvPr>
            <p:ph idx="1"/>
          </p:nvPr>
        </p:nvSpPr>
        <p:spPr>
          <a:xfrm>
            <a:off x="565079" y="626724"/>
            <a:ext cx="10788721" cy="5550239"/>
          </a:xfrm>
        </p:spPr>
        <p:txBody>
          <a:bodyPr/>
          <a:lstStyle/>
          <a:p>
            <a:r>
              <a:rPr lang="en-US" dirty="0" err="1">
                <a:solidFill>
                  <a:srgbClr val="C00000"/>
                </a:solidFill>
              </a:rPr>
              <a:t>Cascadeless</a:t>
            </a:r>
            <a:r>
              <a:rPr lang="en-US" dirty="0">
                <a:solidFill>
                  <a:srgbClr val="C00000"/>
                </a:solidFill>
              </a:rPr>
              <a:t> Schedule </a:t>
            </a:r>
            <a:endParaRPr lang="en-US" dirty="0"/>
          </a:p>
          <a:p>
            <a:pPr algn="just"/>
            <a:r>
              <a:rPr lang="en-US" dirty="0"/>
              <a:t>A </a:t>
            </a:r>
            <a:r>
              <a:rPr lang="en-US" dirty="0" err="1"/>
              <a:t>cascadeless</a:t>
            </a:r>
            <a:r>
              <a:rPr lang="en-US" dirty="0"/>
              <a:t> schedule is a type of transaction schedule in a database where no transaction is allowed to read data that has been modified by another transaction until that transaction has either committed or aborted. </a:t>
            </a:r>
          </a:p>
          <a:p>
            <a:pPr lvl="1" algn="just"/>
            <a:r>
              <a:rPr lang="en-US" dirty="0"/>
              <a:t>It allows only committed read operations</a:t>
            </a:r>
          </a:p>
          <a:p>
            <a:pPr lvl="1" algn="just"/>
            <a:r>
              <a:rPr lang="en-US" dirty="0"/>
              <a:t>Thus avoids cascading rollback and saves CPU time</a:t>
            </a:r>
          </a:p>
          <a:p>
            <a:pPr lvl="1" algn="just"/>
            <a:r>
              <a:rPr lang="en-US" dirty="0"/>
              <a:t>However, it allows uncommitted write operations.</a:t>
            </a:r>
          </a:p>
          <a:p>
            <a:pPr algn="just"/>
            <a:r>
              <a:rPr lang="en-US" dirty="0"/>
              <a:t>This ensures that transactions only work with stable, reliable data, avoiding problems caused by uncommitted changes.</a:t>
            </a:r>
          </a:p>
        </p:txBody>
      </p:sp>
    </p:spTree>
    <p:extLst>
      <p:ext uri="{BB962C8B-B14F-4D97-AF65-F5344CB8AC3E}">
        <p14:creationId xmlns:p14="http://schemas.microsoft.com/office/powerpoint/2010/main" val="167352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77A3BD-0EBF-C5AC-7BEF-6225A6E12C9B}"/>
              </a:ext>
            </a:extLst>
          </p:cNvPr>
          <p:cNvPicPr>
            <a:picLocks noGrp="1" noChangeAspect="1"/>
          </p:cNvPicPr>
          <p:nvPr>
            <p:ph idx="1"/>
          </p:nvPr>
        </p:nvPicPr>
        <p:blipFill>
          <a:blip r:embed="rId2"/>
          <a:stretch>
            <a:fillRect/>
          </a:stretch>
        </p:blipFill>
        <p:spPr>
          <a:xfrm>
            <a:off x="164020" y="252857"/>
            <a:ext cx="4256152" cy="4351338"/>
          </a:xfrm>
          <a:prstGeom prst="rect">
            <a:avLst/>
          </a:prstGeom>
        </p:spPr>
      </p:pic>
      <p:pic>
        <p:nvPicPr>
          <p:cNvPr id="7" name="Picture 6">
            <a:extLst>
              <a:ext uri="{FF2B5EF4-FFF2-40B4-BE49-F238E27FC236}">
                <a16:creationId xmlns:a16="http://schemas.microsoft.com/office/drawing/2014/main" id="{91BE5E17-022A-D10C-E40C-D692A74F0EAB}"/>
              </a:ext>
            </a:extLst>
          </p:cNvPr>
          <p:cNvPicPr>
            <a:picLocks noChangeAspect="1"/>
          </p:cNvPicPr>
          <p:nvPr/>
        </p:nvPicPr>
        <p:blipFill>
          <a:blip r:embed="rId3"/>
          <a:stretch>
            <a:fillRect/>
          </a:stretch>
        </p:blipFill>
        <p:spPr>
          <a:xfrm>
            <a:off x="5969128" y="563753"/>
            <a:ext cx="4401312" cy="2972315"/>
          </a:xfrm>
          <a:prstGeom prst="rect">
            <a:avLst/>
          </a:prstGeom>
        </p:spPr>
      </p:pic>
      <p:sp>
        <p:nvSpPr>
          <p:cNvPr id="9" name="TextBox 8">
            <a:extLst>
              <a:ext uri="{FF2B5EF4-FFF2-40B4-BE49-F238E27FC236}">
                <a16:creationId xmlns:a16="http://schemas.microsoft.com/office/drawing/2014/main" id="{AC617DE4-7376-1FAA-86C9-B65E90930522}"/>
              </a:ext>
            </a:extLst>
          </p:cNvPr>
          <p:cNvSpPr txBox="1"/>
          <p:nvPr/>
        </p:nvSpPr>
        <p:spPr>
          <a:xfrm>
            <a:off x="4946904" y="4279011"/>
            <a:ext cx="6885432" cy="1200329"/>
          </a:xfrm>
          <a:prstGeom prst="rect">
            <a:avLst/>
          </a:prstGeom>
          <a:noFill/>
        </p:spPr>
        <p:txBody>
          <a:bodyPr wrap="square">
            <a:spAutoFit/>
          </a:bodyPr>
          <a:lstStyle/>
          <a:p>
            <a:pPr algn="just"/>
            <a:r>
              <a:rPr lang="en-US" b="1" dirty="0"/>
              <a:t>Write-Write (W-W) Conflicts: </a:t>
            </a:r>
            <a:r>
              <a:rPr lang="en-US" dirty="0"/>
              <a:t>While </a:t>
            </a:r>
            <a:r>
              <a:rPr lang="en-US" dirty="0" err="1"/>
              <a:t>cascadeless</a:t>
            </a:r>
            <a:r>
              <a:rPr lang="en-US" dirty="0"/>
              <a:t> schedules prevent Read-Write (R-W) conflicts (dirty reads), they do not prevent Write-Write conflicts. A transaction might overwrite data written by another uncommitted transaction (a lost update).</a:t>
            </a:r>
            <a:endParaRPr lang="en-IN" dirty="0"/>
          </a:p>
        </p:txBody>
      </p:sp>
    </p:spTree>
    <p:extLst>
      <p:ext uri="{BB962C8B-B14F-4D97-AF65-F5344CB8AC3E}">
        <p14:creationId xmlns:p14="http://schemas.microsoft.com/office/powerpoint/2010/main" val="19263649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795DE-698E-6132-B53E-DEB2D0C928A3}"/>
              </a:ext>
            </a:extLst>
          </p:cNvPr>
          <p:cNvSpPr>
            <a:spLocks noGrp="1"/>
          </p:cNvSpPr>
          <p:nvPr>
            <p:ph idx="1"/>
          </p:nvPr>
        </p:nvSpPr>
        <p:spPr>
          <a:xfrm>
            <a:off x="688369" y="616449"/>
            <a:ext cx="10665431" cy="5560514"/>
          </a:xfrm>
        </p:spPr>
        <p:txBody>
          <a:bodyPr/>
          <a:lstStyle/>
          <a:p>
            <a:pPr algn="just"/>
            <a:r>
              <a:rPr lang="en-US" b="1" dirty="0">
                <a:solidFill>
                  <a:srgbClr val="C00000"/>
                </a:solidFill>
              </a:rPr>
              <a:t>How a </a:t>
            </a:r>
            <a:r>
              <a:rPr lang="en-US" b="1" dirty="0" err="1">
                <a:solidFill>
                  <a:srgbClr val="C00000"/>
                </a:solidFill>
              </a:rPr>
              <a:t>Cascadeless</a:t>
            </a:r>
            <a:r>
              <a:rPr lang="en-US" b="1" dirty="0">
                <a:solidFill>
                  <a:srgbClr val="C00000"/>
                </a:solidFill>
              </a:rPr>
              <a:t> Schedule Works?</a:t>
            </a:r>
          </a:p>
          <a:p>
            <a:pPr algn="just"/>
            <a:r>
              <a:rPr lang="en-US" dirty="0"/>
              <a:t>When a transaction modifies a data item, other transactions are restricted from accessing (reading) that data until the first transaction has finalized its changes.</a:t>
            </a:r>
          </a:p>
          <a:p>
            <a:pPr algn="just"/>
            <a:r>
              <a:rPr lang="en-US" dirty="0"/>
              <a:t>This means the data is only accessible after the transaction has either:</a:t>
            </a:r>
          </a:p>
          <a:p>
            <a:pPr lvl="1" algn="just"/>
            <a:r>
              <a:rPr lang="en-US" dirty="0"/>
              <a:t>Committed: Confirmed and saved its changes permanently.</a:t>
            </a:r>
          </a:p>
          <a:p>
            <a:pPr lvl="1" algn="just"/>
            <a:r>
              <a:rPr lang="en-US" dirty="0"/>
              <a:t>Aborted: Rolled back its changes, returning the data to its previous state.</a:t>
            </a:r>
            <a:endParaRPr lang="en-IN" dirty="0"/>
          </a:p>
        </p:txBody>
      </p:sp>
    </p:spTree>
    <p:extLst>
      <p:ext uri="{BB962C8B-B14F-4D97-AF65-F5344CB8AC3E}">
        <p14:creationId xmlns:p14="http://schemas.microsoft.com/office/powerpoint/2010/main" val="3868344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BA61D-76D7-1B23-DD74-D5600342BF57}"/>
              </a:ext>
            </a:extLst>
          </p:cNvPr>
          <p:cNvSpPr>
            <a:spLocks noGrp="1"/>
          </p:cNvSpPr>
          <p:nvPr>
            <p:ph type="title"/>
          </p:nvPr>
        </p:nvSpPr>
        <p:spPr/>
        <p:txBody>
          <a:bodyPr/>
          <a:lstStyle/>
          <a:p>
            <a:r>
              <a:rPr lang="en-US" b="1" dirty="0">
                <a:solidFill>
                  <a:srgbClr val="C00000"/>
                </a:solidFill>
              </a:rPr>
              <a:t>Non-recoverable Schedule</a:t>
            </a:r>
            <a:br>
              <a:rPr lang="en-US" b="1" dirty="0">
                <a:solidFill>
                  <a:srgbClr val="C00000"/>
                </a:solidFill>
              </a:rPr>
            </a:br>
            <a:endParaRPr lang="en-IN" dirty="0"/>
          </a:p>
        </p:txBody>
      </p:sp>
      <p:sp>
        <p:nvSpPr>
          <p:cNvPr id="3" name="Content Placeholder 2">
            <a:extLst>
              <a:ext uri="{FF2B5EF4-FFF2-40B4-BE49-F238E27FC236}">
                <a16:creationId xmlns:a16="http://schemas.microsoft.com/office/drawing/2014/main" id="{0B2B9DEA-0676-625B-720A-818681AC1DCA}"/>
              </a:ext>
            </a:extLst>
          </p:cNvPr>
          <p:cNvSpPr>
            <a:spLocks noGrp="1"/>
          </p:cNvSpPr>
          <p:nvPr>
            <p:ph idx="1"/>
          </p:nvPr>
        </p:nvSpPr>
        <p:spPr>
          <a:xfrm>
            <a:off x="557784" y="1252728"/>
            <a:ext cx="10796016" cy="4924235"/>
          </a:xfrm>
        </p:spPr>
        <p:txBody>
          <a:bodyPr/>
          <a:lstStyle/>
          <a:p>
            <a:pPr algn="just"/>
            <a:r>
              <a:rPr lang="en-US" dirty="0"/>
              <a:t>If a transaction reads the value of an operation from an uncommitted transaction and commits before the transaction from where it has read the value, then such a schedule is called a </a:t>
            </a:r>
            <a:r>
              <a:rPr lang="en-US" dirty="0">
                <a:solidFill>
                  <a:srgbClr val="FF0000"/>
                </a:solidFill>
              </a:rPr>
              <a:t>Non-Recoverable schedule. </a:t>
            </a:r>
          </a:p>
          <a:p>
            <a:pPr algn="just"/>
            <a:r>
              <a:rPr lang="en-US" dirty="0"/>
              <a:t>A non-recoverable schedule means when there is a system failure, we may not be able to recover to a consistent database state. </a:t>
            </a:r>
            <a:endParaRPr lang="en-IN" dirty="0"/>
          </a:p>
        </p:txBody>
      </p:sp>
      <p:pic>
        <p:nvPicPr>
          <p:cNvPr id="5" name="Picture 4">
            <a:extLst>
              <a:ext uri="{FF2B5EF4-FFF2-40B4-BE49-F238E27FC236}">
                <a16:creationId xmlns:a16="http://schemas.microsoft.com/office/drawing/2014/main" id="{08E0F7CE-67B5-8FE6-BD2A-CC2E9BADE36C}"/>
              </a:ext>
            </a:extLst>
          </p:cNvPr>
          <p:cNvPicPr>
            <a:picLocks noChangeAspect="1"/>
          </p:cNvPicPr>
          <p:nvPr/>
        </p:nvPicPr>
        <p:blipFill>
          <a:blip r:embed="rId2"/>
          <a:srcRect l="26651" t="9931" r="26278" b="22400"/>
          <a:stretch>
            <a:fillRect/>
          </a:stretch>
        </p:blipFill>
        <p:spPr>
          <a:xfrm>
            <a:off x="3714504" y="3546207"/>
            <a:ext cx="2581820" cy="2830082"/>
          </a:xfrm>
          <a:prstGeom prst="rect">
            <a:avLst/>
          </a:prstGeom>
        </p:spPr>
      </p:pic>
      <p:pic>
        <p:nvPicPr>
          <p:cNvPr id="7" name="Picture 6">
            <a:extLst>
              <a:ext uri="{FF2B5EF4-FFF2-40B4-BE49-F238E27FC236}">
                <a16:creationId xmlns:a16="http://schemas.microsoft.com/office/drawing/2014/main" id="{3104D4A5-81FD-6614-D11D-778B7506908B}"/>
              </a:ext>
            </a:extLst>
          </p:cNvPr>
          <p:cNvPicPr>
            <a:picLocks noChangeAspect="1"/>
          </p:cNvPicPr>
          <p:nvPr/>
        </p:nvPicPr>
        <p:blipFill>
          <a:blip r:embed="rId3"/>
          <a:stretch>
            <a:fillRect/>
          </a:stretch>
        </p:blipFill>
        <p:spPr>
          <a:xfrm>
            <a:off x="7312154" y="3561588"/>
            <a:ext cx="3216402" cy="2389327"/>
          </a:xfrm>
          <a:prstGeom prst="rect">
            <a:avLst/>
          </a:prstGeom>
        </p:spPr>
      </p:pic>
    </p:spTree>
    <p:extLst>
      <p:ext uri="{BB962C8B-B14F-4D97-AF65-F5344CB8AC3E}">
        <p14:creationId xmlns:p14="http://schemas.microsoft.com/office/powerpoint/2010/main" val="3351621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2703</Words>
  <Application>Microsoft Office PowerPoint</Application>
  <PresentationFormat>Widescreen</PresentationFormat>
  <Paragraphs>159</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Transaction</vt:lpstr>
      <vt:lpstr>PowerPoint Presentation</vt:lpstr>
      <vt:lpstr>PowerPoint Presentation</vt:lpstr>
      <vt:lpstr>Properties of Transaction</vt:lpstr>
      <vt:lpstr>PowerPoint Presentation</vt:lpstr>
      <vt:lpstr>PowerPoint Presentation</vt:lpstr>
      <vt:lpstr>PowerPoint Presentation</vt:lpstr>
      <vt:lpstr>PowerPoint Presentation</vt:lpstr>
      <vt:lpstr>PowerPoint Presentation</vt:lpstr>
      <vt:lpstr>Transaction State Diagrams</vt:lpstr>
      <vt:lpstr>PowerPoint Presentation</vt:lpstr>
      <vt:lpstr>PowerPoint Presentation</vt:lpstr>
      <vt:lpstr>PowerPoint Presentation</vt:lpstr>
      <vt:lpstr>PowerPoint Presentation</vt:lpstr>
      <vt:lpstr>Transaction Schedule</vt:lpstr>
      <vt:lpstr>PowerPoint Presentation</vt:lpstr>
      <vt:lpstr>PowerPoint Presentation</vt:lpstr>
      <vt:lpstr>PowerPoint Presentation</vt:lpstr>
      <vt:lpstr>Serializability in DBMS</vt:lpstr>
      <vt:lpstr>PowerPoint Presentation</vt:lpstr>
      <vt:lpstr>Conflict Serializability</vt:lpstr>
      <vt:lpstr>PowerPoint Presentation</vt:lpstr>
      <vt:lpstr>PowerPoint Presentation</vt:lpstr>
      <vt:lpstr>Precedence Graph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Non-recoverable Schedule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pratyashi create powerposatapathyint</dc:creator>
  <cp:lastModifiedBy>PC 46</cp:lastModifiedBy>
  <cp:revision>37</cp:revision>
  <dcterms:created xsi:type="dcterms:W3CDTF">2025-05-09T02:25:51Z</dcterms:created>
  <dcterms:modified xsi:type="dcterms:W3CDTF">2026-05-09T10:33:47Z</dcterms:modified>
</cp:coreProperties>
</file>