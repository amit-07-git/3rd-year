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14"/>
  </p:notesMasterIdLst>
  <p:sldIdLst>
    <p:sldId id="256" r:id="rId2"/>
    <p:sldId id="268" r:id="rId3"/>
    <p:sldId id="264" r:id="rId4"/>
    <p:sldId id="269" r:id="rId5"/>
    <p:sldId id="259" r:id="rId6"/>
    <p:sldId id="257" r:id="rId7"/>
    <p:sldId id="258" r:id="rId8"/>
    <p:sldId id="261" r:id="rId9"/>
    <p:sldId id="270" r:id="rId10"/>
    <p:sldId id="262" r:id="rId11"/>
    <p:sldId id="263" r:id="rId12"/>
    <p:sldId id="260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71ECF18-8374-44D7-8771-91BAD610C09F}" type="datetimeFigureOut">
              <a:rPr lang="en-IN" smtClean="0"/>
              <a:t>26-02-2026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0EF4104-D409-43DF-865F-9ADDE36AD3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88140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EF4104-D409-43DF-865F-9ADDE36AD384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7621626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EF4104-D409-43DF-865F-9ADDE36AD384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530615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A97FAE-39BB-CF23-8DBC-FA8F777060D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0BDD8C5-1AEF-9E94-3741-3CAB9AF230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EDCF7A-3A7A-B4ED-ADCB-EB2E11C32C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0EB695-4750-4A2D-B9D6-AF5467B4D630}" type="datetimeFigureOut">
              <a:rPr lang="en-IN" smtClean="0"/>
              <a:t>26-02-2026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4D9363-D88C-B74C-7B1A-3C8A7057DD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8BABE5-A568-D48B-610C-F7AB95CDA5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9CDE94-A8B2-4650-B5C3-C4CF03EAC0B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315320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DCC3B8-D6BF-71AE-88AA-E92476E318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B027F1-6D77-4CCE-8925-17E4CD5B82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26E739-5074-0F3B-A963-0F57B5FE50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0EB695-4750-4A2D-B9D6-AF5467B4D630}" type="datetimeFigureOut">
              <a:rPr lang="en-IN" smtClean="0"/>
              <a:t>26-02-2026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9FAD6A-2B98-CA0D-C68A-62702049C6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E96A6B-3F39-07BB-8B19-90A7755CA6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9CDE94-A8B2-4650-B5C3-C4CF03EAC0B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308058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F2BBC4-503B-BBD7-76A6-0739651237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2CB6302-C0BE-D66D-765D-B076E75C55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F82A7E-096B-2EC0-EB09-9B766E7935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0EB695-4750-4A2D-B9D6-AF5467B4D630}" type="datetimeFigureOut">
              <a:rPr lang="en-IN" smtClean="0"/>
              <a:t>26-02-2026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DFF93E-5407-3BE6-07CA-30B286E18B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93B669-1E88-2E0C-35FC-2DB5AC57EB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9CDE94-A8B2-4650-B5C3-C4CF03EAC0B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419419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AB1728-2EE5-330E-018E-617AC07ED2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B320F2-4462-EC02-7FDB-170CE842BEF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341706C-5512-D3D2-190F-ABD683B16C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CCB8622-1844-E496-48F1-322CE8A45C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0EB695-4750-4A2D-B9D6-AF5467B4D630}" type="datetimeFigureOut">
              <a:rPr lang="en-IN" smtClean="0"/>
              <a:t>26-02-2026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F0215BF-6A8A-EB56-9B46-2EAB36D6ED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69DE31-1ACB-CAD4-1FB0-334A6B42A4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9CDE94-A8B2-4650-B5C3-C4CF03EAC0B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436348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B10AC2-A18F-A75E-8F4C-EE83E56696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DC54E9-10D1-C6ED-708E-F415C11356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A86842-0A75-0871-E938-21A79D85DA2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A0F2450-00FA-180D-D434-7B171476124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7EAD83D-6AF3-4281-F258-0E182572F64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4F39F08-F3D0-8E12-2B40-1DC9BB1755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0EB695-4750-4A2D-B9D6-AF5467B4D630}" type="datetimeFigureOut">
              <a:rPr lang="en-IN" smtClean="0"/>
              <a:t>26-02-2026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A9B1E42-A35A-7A79-495D-018351C64B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1DF1BE5-793E-3F91-0E29-FA16EA4DF1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9CDE94-A8B2-4650-B5C3-C4CF03EAC0B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173755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A59658-64DF-9B87-05D8-929001A8AF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4AC4AA8-6586-8D86-DBF8-25D3AEF10B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0EB695-4750-4A2D-B9D6-AF5467B4D630}" type="datetimeFigureOut">
              <a:rPr lang="en-IN" smtClean="0"/>
              <a:t>26-02-2026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5A681CF-68E6-A9F7-378C-FF74E75373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179C490-362E-FB56-9CB4-FB0D5C665E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9CDE94-A8B2-4650-B5C3-C4CF03EAC0B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812800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193F49D-083E-AC97-D119-18ED1528C2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0EB695-4750-4A2D-B9D6-AF5467B4D630}" type="datetimeFigureOut">
              <a:rPr lang="en-IN" smtClean="0"/>
              <a:t>26-02-2026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FCA73EC-88D3-6843-9DF3-8D304E8360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0FEE5C-01C5-FFEC-1195-09DE944A92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9CDE94-A8B2-4650-B5C3-C4CF03EAC0B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572623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49FE0C-38CC-445B-95F5-7E07B0F963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3F9D41-7F83-2AC7-273A-213C88511F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F78753-D624-A79A-9AD9-8147226742A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393639D-5B5D-1BB2-4B31-B05BF5AD08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0EB695-4750-4A2D-B9D6-AF5467B4D630}" type="datetimeFigureOut">
              <a:rPr lang="en-IN" smtClean="0"/>
              <a:t>26-02-2026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4061C67-13D8-BC8F-5B29-F6D7380939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928017-F292-C2EB-EC5E-36CA80BAC5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9CDE94-A8B2-4650-B5C3-C4CF03EAC0B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621110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D04125-9DEA-23F3-C7FC-04BAF58504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8F84882-F93C-CC16-F5EA-E07EAA4A597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9D4974D-5D16-FB20-1E57-5D29AC70134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6EEA335-6BCB-E463-A4B4-EC59766030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0EB695-4750-4A2D-B9D6-AF5467B4D630}" type="datetimeFigureOut">
              <a:rPr lang="en-IN" smtClean="0"/>
              <a:t>26-02-2026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941C6D-F2A1-E9C2-51E4-8EF5C20BB0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FB85BB-64F8-054E-110E-497C6AE38F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9CDE94-A8B2-4650-B5C3-C4CF03EAC0B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055176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EF6178-835D-4032-C6FE-A7484935C6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924EB88-BA02-1B7A-0E39-CE859E2BBC0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BF0680-7649-9408-8684-C6570356C8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0EB695-4750-4A2D-B9D6-AF5467B4D630}" type="datetimeFigureOut">
              <a:rPr lang="en-IN" smtClean="0"/>
              <a:t>26-02-2026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E9FCDF-7571-E14C-CB97-7AC6EDFA43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85649D-AC0A-6311-2BD2-299317462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9CDE94-A8B2-4650-B5C3-C4CF03EAC0B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889610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F41F410-25D6-2E53-BE29-5CDBD461B7D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3A186EF-ECD5-7C1C-9309-E9810ED55C0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50ACAA-A7B3-59F5-989C-1D45C3A1DC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0EB695-4750-4A2D-B9D6-AF5467B4D630}" type="datetimeFigureOut">
              <a:rPr lang="en-IN" smtClean="0"/>
              <a:t>26-02-2026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61D12C-182C-FC59-F2BC-14E209E8B7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4B2D0E-A450-C724-C917-46C8C47043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9CDE94-A8B2-4650-B5C3-C4CF03EAC0B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996364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9A89774-4113-5C0E-FB49-4D1EEF644C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24CB39-D99D-4672-FC4E-37CD7CD1B1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145FAA-495D-C56E-45C1-756962AB11B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0EB695-4750-4A2D-B9D6-AF5467B4D630}" type="datetimeFigureOut">
              <a:rPr lang="en-IN" smtClean="0"/>
              <a:t>26-02-2026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5976AD-67F0-10F3-159B-A2C2D31CAD1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0E4579-32C9-7C6F-64E4-656EAFCB4B2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49CDE94-A8B2-4650-B5C3-C4CF03EAC0B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779481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D6AD06-453C-65C5-D301-798C47479D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8113" y="1122363"/>
            <a:ext cx="11748051" cy="2387600"/>
          </a:xfrm>
        </p:spPr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Database Design Using the E-R Model</a:t>
            </a:r>
            <a:endParaRPr lang="en-IN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193422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AED4D536-33DE-040C-9373-E3AC73AB8AA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3"/>
          <a:srcRect l="26830" t="20175" r="26530" b="15641"/>
          <a:stretch/>
        </p:blipFill>
        <p:spPr>
          <a:xfrm>
            <a:off x="2037522" y="397566"/>
            <a:ext cx="7215810" cy="55857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99893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33819A97-0BC2-BA75-3FF9-54DC3EA1692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29528" t="63801" r="28201" b="9246"/>
          <a:stretch/>
        </p:blipFill>
        <p:spPr>
          <a:xfrm>
            <a:off x="2940747" y="4353338"/>
            <a:ext cx="6512236" cy="2335696"/>
          </a:xfrm>
          <a:prstGeom prst="rect">
            <a:avLst/>
          </a:prstGeom>
        </p:spPr>
      </p:pic>
      <p:pic>
        <p:nvPicPr>
          <p:cNvPr id="5" name="Content Placeholder 3">
            <a:extLst>
              <a:ext uri="{FF2B5EF4-FFF2-40B4-BE49-F238E27FC236}">
                <a16:creationId xmlns:a16="http://schemas.microsoft.com/office/drawing/2014/main" id="{08D38629-0EE9-73E6-5DAD-B99F2624961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3640" t="50324" r="24988" b="27063"/>
          <a:stretch/>
        </p:blipFill>
        <p:spPr>
          <a:xfrm>
            <a:off x="2940747" y="1918253"/>
            <a:ext cx="6255330" cy="19232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5050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09BCA1C3-B3E4-CDAA-F9F7-F3124DC2B61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25183" t="38903" r="28714" b="19753"/>
          <a:stretch/>
        </p:blipFill>
        <p:spPr>
          <a:xfrm>
            <a:off x="2257649" y="1470991"/>
            <a:ext cx="6896291" cy="34786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98132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D5B6BA8D-A504-C84A-107E-B459A89DD95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30428" t="14692" r="21005" b="21581"/>
          <a:stretch/>
        </p:blipFill>
        <p:spPr>
          <a:xfrm>
            <a:off x="2484782" y="465245"/>
            <a:ext cx="8030817" cy="59275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66545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8C9AB01A-E7F3-A6DE-986D-A824A43F696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3"/>
          <a:srcRect l="28963" t="15112" r="22394" b="5064"/>
          <a:stretch/>
        </p:blipFill>
        <p:spPr>
          <a:xfrm>
            <a:off x="2345634" y="39756"/>
            <a:ext cx="7297807" cy="673643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B2D9A0D-0204-1785-8782-034ECCE9D6DC}"/>
              </a:ext>
            </a:extLst>
          </p:cNvPr>
          <p:cNvSpPr txBox="1"/>
          <p:nvPr/>
        </p:nvSpPr>
        <p:spPr>
          <a:xfrm rot="16200000">
            <a:off x="-2218911" y="2081455"/>
            <a:ext cx="60976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E-R diagram for the University Enterprise</a:t>
            </a:r>
          </a:p>
        </p:txBody>
      </p:sp>
    </p:spTree>
    <p:extLst>
      <p:ext uri="{BB962C8B-B14F-4D97-AF65-F5344CB8AC3E}">
        <p14:creationId xmlns:p14="http://schemas.microsoft.com/office/powerpoint/2010/main" val="28300422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FA805F-1C3E-DA71-6CA8-03EC82BF0F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29069" y="444639"/>
            <a:ext cx="7878417" cy="817632"/>
          </a:xfrm>
        </p:spPr>
        <p:txBody>
          <a:bodyPr>
            <a:normAutofit/>
          </a:bodyPr>
          <a:lstStyle/>
          <a:p>
            <a:pPr algn="ctr"/>
            <a:r>
              <a:rPr lang="en-IN" dirty="0"/>
              <a:t>Reduction to Relational Schemas</a:t>
            </a:r>
          </a:p>
        </p:txBody>
      </p:sp>
      <p:pic>
        <p:nvPicPr>
          <p:cNvPr id="5" name="Content Placeholder 3">
            <a:extLst>
              <a:ext uri="{FF2B5EF4-FFF2-40B4-BE49-F238E27FC236}">
                <a16:creationId xmlns:a16="http://schemas.microsoft.com/office/drawing/2014/main" id="{35D8E4CC-0074-CC6C-DF86-C628793379F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8629" t="40501" r="20363" b="9932"/>
          <a:stretch/>
        </p:blipFill>
        <p:spPr>
          <a:xfrm>
            <a:off x="1647834" y="1391477"/>
            <a:ext cx="9187501" cy="50218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23883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3">
            <a:extLst>
              <a:ext uri="{FF2B5EF4-FFF2-40B4-BE49-F238E27FC236}">
                <a16:creationId xmlns:a16="http://schemas.microsoft.com/office/drawing/2014/main" id="{3D37B987-DE6D-18A5-E82B-98E914AA518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30171" t="33878" r="28586" b="24322"/>
          <a:stretch/>
        </p:blipFill>
        <p:spPr>
          <a:xfrm>
            <a:off x="1768147" y="877276"/>
            <a:ext cx="7842991" cy="4471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56254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D8EB67-E39E-9477-3556-FB61F480FE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336" y="374903"/>
            <a:ext cx="10951464" cy="1315785"/>
          </a:xfrm>
        </p:spPr>
        <p:txBody>
          <a:bodyPr>
            <a:normAutofit/>
          </a:bodyPr>
          <a:lstStyle/>
          <a:p>
            <a:r>
              <a:rPr lang="en-IN" sz="3600" dirty="0">
                <a:solidFill>
                  <a:srgbClr val="FF0000"/>
                </a:solidFill>
              </a:rPr>
              <a:t>Creating a relational database schema from a ER diagram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8CFAA0B-C3F6-8CEB-D94F-C08E6BAFB6F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73608" y="2230184"/>
            <a:ext cx="5486400" cy="362902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DEF3CD3-9D4C-D5F7-F188-BAD47E6769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0920" y="2111121"/>
            <a:ext cx="3325368" cy="37410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09652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E2C763-9CFB-74CB-7F1C-DCE8FBA5AE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83835" y="106707"/>
            <a:ext cx="4538870" cy="837510"/>
          </a:xfrm>
        </p:spPr>
        <p:txBody>
          <a:bodyPr/>
          <a:lstStyle/>
          <a:p>
            <a:r>
              <a:rPr lang="en-IN" dirty="0"/>
              <a:t>Schema Diagrams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78925D33-7EAD-01F5-EE9C-CFC59B22473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24904" t="21315" r="12140" b="6048"/>
          <a:stretch/>
        </p:blipFill>
        <p:spPr>
          <a:xfrm>
            <a:off x="1991139" y="1155777"/>
            <a:ext cx="8209722" cy="53279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01034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ED93FB-51A9-9113-419A-2B985B1E7D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5488" y="365760"/>
            <a:ext cx="10878312" cy="5811203"/>
          </a:xfrm>
        </p:spPr>
        <p:txBody>
          <a:bodyPr>
            <a:normAutofit/>
          </a:bodyPr>
          <a:lstStyle/>
          <a:p>
            <a:pPr algn="just"/>
            <a:r>
              <a:rPr lang="en-US" dirty="0"/>
              <a:t>Primary-key attributes are shown underlined. </a:t>
            </a:r>
          </a:p>
          <a:p>
            <a:pPr algn="just"/>
            <a:r>
              <a:rPr lang="en-US" dirty="0"/>
              <a:t>Foreign-key constraints appear as arrows from the foreign-key attributes of the referencing relation to the primary key of the referenced relation. </a:t>
            </a:r>
          </a:p>
          <a:p>
            <a:pPr algn="just"/>
            <a:r>
              <a:rPr lang="en-US" dirty="0"/>
              <a:t>We use a two-headed arrow, instead of a single-headed arrow, to indicate a referential integrity constraint that is not a foreign-key constraints. </a:t>
            </a:r>
          </a:p>
          <a:p>
            <a:pPr algn="just"/>
            <a:r>
              <a:rPr lang="en-US" dirty="0"/>
              <a:t>In Figure 2.9, the line with a two-headed arrow from </a:t>
            </a:r>
            <a:r>
              <a:rPr lang="en-US" i="1" dirty="0"/>
              <a:t>time slot id</a:t>
            </a:r>
            <a:r>
              <a:rPr lang="en-US" dirty="0"/>
              <a:t> in the </a:t>
            </a:r>
            <a:r>
              <a:rPr lang="en-US" b="1" dirty="0"/>
              <a:t>section</a:t>
            </a:r>
            <a:r>
              <a:rPr lang="en-US" dirty="0"/>
              <a:t> relation to </a:t>
            </a:r>
            <a:r>
              <a:rPr lang="en-US" i="1" dirty="0"/>
              <a:t>time slot id </a:t>
            </a:r>
            <a:r>
              <a:rPr lang="en-US" dirty="0"/>
              <a:t>in the </a:t>
            </a:r>
            <a:r>
              <a:rPr lang="en-US" b="1" dirty="0"/>
              <a:t>time slot </a:t>
            </a:r>
            <a:r>
              <a:rPr lang="en-US" dirty="0"/>
              <a:t>relation represents the referential integrity constraint from section. </a:t>
            </a:r>
            <a:r>
              <a:rPr lang="en-US" i="1" dirty="0"/>
              <a:t>time slot id </a:t>
            </a:r>
            <a:r>
              <a:rPr lang="en-US" dirty="0"/>
              <a:t>to time </a:t>
            </a:r>
            <a:r>
              <a:rPr lang="en-US" dirty="0" err="1"/>
              <a:t>slot.</a:t>
            </a:r>
            <a:r>
              <a:rPr lang="en-US" i="1" dirty="0" err="1"/>
              <a:t>time</a:t>
            </a:r>
            <a:r>
              <a:rPr lang="en-US" i="1" dirty="0"/>
              <a:t> slot id.</a:t>
            </a:r>
            <a:endParaRPr lang="en-IN" i="1" dirty="0"/>
          </a:p>
        </p:txBody>
      </p:sp>
    </p:spTree>
    <p:extLst>
      <p:ext uri="{BB962C8B-B14F-4D97-AF65-F5344CB8AC3E}">
        <p14:creationId xmlns:p14="http://schemas.microsoft.com/office/powerpoint/2010/main" val="21849961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B9366D-431C-EF01-512E-DF950F0AE4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7B523D-4D00-5E78-9DC9-A4F51B5789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95789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72</TotalTime>
  <Words>128</Words>
  <Application>Microsoft Office PowerPoint</Application>
  <PresentationFormat>Widescreen</PresentationFormat>
  <Paragraphs>11</Paragraphs>
  <Slides>12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Calibri Light</vt:lpstr>
      <vt:lpstr>Office Theme</vt:lpstr>
      <vt:lpstr>Database Design Using the E-R Model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Reduction to Relational Schemas</vt:lpstr>
      <vt:lpstr>PowerPoint Presentation</vt:lpstr>
      <vt:lpstr>Creating a relational database schema from a ER diagram</vt:lpstr>
      <vt:lpstr>Schema Diagrams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pratyashi create powerposatapathyint</dc:creator>
  <cp:lastModifiedBy>PC 46</cp:lastModifiedBy>
  <cp:revision>8</cp:revision>
  <dcterms:created xsi:type="dcterms:W3CDTF">2024-04-07T15:43:48Z</dcterms:created>
  <dcterms:modified xsi:type="dcterms:W3CDTF">2026-02-26T06:24:00Z</dcterms:modified>
</cp:coreProperties>
</file>