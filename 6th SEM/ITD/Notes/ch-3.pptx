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3"/>
  </p:notesMasterIdLst>
  <p:sldIdLst>
    <p:sldId id="256" r:id="rId2"/>
    <p:sldId id="257" r:id="rId3"/>
    <p:sldId id="258" r:id="rId4"/>
    <p:sldId id="259" r:id="rId5"/>
    <p:sldId id="260" r:id="rId6"/>
    <p:sldId id="286" r:id="rId7"/>
    <p:sldId id="287" r:id="rId8"/>
    <p:sldId id="261" r:id="rId9"/>
    <p:sldId id="288" r:id="rId10"/>
    <p:sldId id="289" r:id="rId11"/>
    <p:sldId id="290" r:id="rId12"/>
    <p:sldId id="262" r:id="rId13"/>
    <p:sldId id="263" r:id="rId14"/>
    <p:sldId id="264" r:id="rId15"/>
    <p:sldId id="266" r:id="rId16"/>
    <p:sldId id="267" r:id="rId17"/>
    <p:sldId id="265" r:id="rId18"/>
    <p:sldId id="268" r:id="rId19"/>
    <p:sldId id="269" r:id="rId20"/>
    <p:sldId id="270" r:id="rId21"/>
    <p:sldId id="272" r:id="rId22"/>
    <p:sldId id="276" r:id="rId23"/>
    <p:sldId id="271" r:id="rId24"/>
    <p:sldId id="273" r:id="rId25"/>
    <p:sldId id="274" r:id="rId26"/>
    <p:sldId id="275" r:id="rId27"/>
    <p:sldId id="277" r:id="rId28"/>
    <p:sldId id="278" r:id="rId29"/>
    <p:sldId id="279" r:id="rId30"/>
    <p:sldId id="281" r:id="rId31"/>
    <p:sldId id="280" r:id="rId32"/>
    <p:sldId id="282" r:id="rId33"/>
    <p:sldId id="283" r:id="rId34"/>
    <p:sldId id="284" r:id="rId35"/>
    <p:sldId id="292" r:id="rId36"/>
    <p:sldId id="293" r:id="rId37"/>
    <p:sldId id="294" r:id="rId38"/>
    <p:sldId id="295" r:id="rId39"/>
    <p:sldId id="296" r:id="rId40"/>
    <p:sldId id="297" r:id="rId41"/>
    <p:sldId id="298" r:id="rId42"/>
    <p:sldId id="299" r:id="rId43"/>
    <p:sldId id="300" r:id="rId44"/>
    <p:sldId id="301" r:id="rId45"/>
    <p:sldId id="291" r:id="rId46"/>
    <p:sldId id="302" r:id="rId47"/>
    <p:sldId id="303" r:id="rId48"/>
    <p:sldId id="304" r:id="rId49"/>
    <p:sldId id="306" r:id="rId50"/>
    <p:sldId id="305" r:id="rId51"/>
    <p:sldId id="307" r:id="rId52"/>
    <p:sldId id="310" r:id="rId53"/>
    <p:sldId id="308" r:id="rId54"/>
    <p:sldId id="309" r:id="rId55"/>
    <p:sldId id="314" r:id="rId56"/>
    <p:sldId id="311" r:id="rId57"/>
    <p:sldId id="315" r:id="rId58"/>
    <p:sldId id="312" r:id="rId59"/>
    <p:sldId id="313" r:id="rId60"/>
    <p:sldId id="317" r:id="rId61"/>
    <p:sldId id="318"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53145D-49B7-45E6-9AA3-C78BA6CD3B29}" type="datetimeFigureOut">
              <a:rPr lang="en-IN" smtClean="0"/>
              <a:t>18-03-2025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24EC95-12EA-457E-89CC-7077EAF9EF7E}" type="slidenum">
              <a:rPr lang="en-IN" smtClean="0"/>
              <a:t>‹#›</a:t>
            </a:fld>
            <a:endParaRPr lang="en-IN"/>
          </a:p>
        </p:txBody>
      </p:sp>
    </p:spTree>
    <p:extLst>
      <p:ext uri="{BB962C8B-B14F-4D97-AF65-F5344CB8AC3E}">
        <p14:creationId xmlns:p14="http://schemas.microsoft.com/office/powerpoint/2010/main" val="36511405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A24EC95-12EA-457E-89CC-7077EAF9EF7E}" type="slidenum">
              <a:rPr lang="en-IN" smtClean="0"/>
              <a:t>20</a:t>
            </a:fld>
            <a:endParaRPr lang="en-IN"/>
          </a:p>
        </p:txBody>
      </p:sp>
    </p:spTree>
    <p:extLst>
      <p:ext uri="{BB962C8B-B14F-4D97-AF65-F5344CB8AC3E}">
        <p14:creationId xmlns:p14="http://schemas.microsoft.com/office/powerpoint/2010/main" val="3568260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708F398-1356-43FD-999A-E7879C969B3F}" type="slidenum">
              <a:rPr lang="en-IN" smtClean="0"/>
              <a:t>40</a:t>
            </a:fld>
            <a:endParaRPr lang="en-IN"/>
          </a:p>
        </p:txBody>
      </p:sp>
    </p:spTree>
    <p:extLst>
      <p:ext uri="{BB962C8B-B14F-4D97-AF65-F5344CB8AC3E}">
        <p14:creationId xmlns:p14="http://schemas.microsoft.com/office/powerpoint/2010/main" val="6850872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B3E0F-A330-9257-7B75-11F56F4CB38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749F346-199E-F947-E0A0-8B6EE0101F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65C2F7E-B1E2-1644-0267-BAA0BFA79E2E}"/>
              </a:ext>
            </a:extLst>
          </p:cNvPr>
          <p:cNvSpPr>
            <a:spLocks noGrp="1"/>
          </p:cNvSpPr>
          <p:nvPr>
            <p:ph type="dt" sz="half" idx="10"/>
          </p:nvPr>
        </p:nvSpPr>
        <p:spPr/>
        <p:txBody>
          <a:bodyPr/>
          <a:lstStyle/>
          <a:p>
            <a:fld id="{673BBF07-161E-4D46-9181-A6AAE5789AF6}" type="datetimeFigureOut">
              <a:rPr lang="en-IN" smtClean="0"/>
              <a:t>18-03-2025</a:t>
            </a:fld>
            <a:endParaRPr lang="en-IN"/>
          </a:p>
        </p:txBody>
      </p:sp>
      <p:sp>
        <p:nvSpPr>
          <p:cNvPr id="5" name="Footer Placeholder 4">
            <a:extLst>
              <a:ext uri="{FF2B5EF4-FFF2-40B4-BE49-F238E27FC236}">
                <a16:creationId xmlns:a16="http://schemas.microsoft.com/office/drawing/2014/main" id="{A14A9136-511C-E422-D3F0-CD3FD52DA6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909C7A-0F47-902E-89B5-17EDB3A8868C}"/>
              </a:ext>
            </a:extLst>
          </p:cNvPr>
          <p:cNvSpPr>
            <a:spLocks noGrp="1"/>
          </p:cNvSpPr>
          <p:nvPr>
            <p:ph type="sldNum" sz="quarter" idx="12"/>
          </p:nvPr>
        </p:nvSpPr>
        <p:spPr/>
        <p:txBody>
          <a:bodyPr/>
          <a:lstStyle/>
          <a:p>
            <a:fld id="{5068EF33-B656-4E4D-ABCD-0A29C78922F9}" type="slidenum">
              <a:rPr lang="en-IN" smtClean="0"/>
              <a:t>‹#›</a:t>
            </a:fld>
            <a:endParaRPr lang="en-IN"/>
          </a:p>
        </p:txBody>
      </p:sp>
    </p:spTree>
    <p:extLst>
      <p:ext uri="{BB962C8B-B14F-4D97-AF65-F5344CB8AC3E}">
        <p14:creationId xmlns:p14="http://schemas.microsoft.com/office/powerpoint/2010/main" val="23160435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94D33-2E5E-6CC7-75C9-DAEE5944597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0AD1AAB-BEBE-45C2-255E-2EF9863F17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124F53-08CB-5980-B714-3B95B61A2803}"/>
              </a:ext>
            </a:extLst>
          </p:cNvPr>
          <p:cNvSpPr>
            <a:spLocks noGrp="1"/>
          </p:cNvSpPr>
          <p:nvPr>
            <p:ph type="dt" sz="half" idx="10"/>
          </p:nvPr>
        </p:nvSpPr>
        <p:spPr/>
        <p:txBody>
          <a:bodyPr/>
          <a:lstStyle/>
          <a:p>
            <a:fld id="{673BBF07-161E-4D46-9181-A6AAE5789AF6}" type="datetimeFigureOut">
              <a:rPr lang="en-IN" smtClean="0"/>
              <a:t>18-03-2025</a:t>
            </a:fld>
            <a:endParaRPr lang="en-IN"/>
          </a:p>
        </p:txBody>
      </p:sp>
      <p:sp>
        <p:nvSpPr>
          <p:cNvPr id="5" name="Footer Placeholder 4">
            <a:extLst>
              <a:ext uri="{FF2B5EF4-FFF2-40B4-BE49-F238E27FC236}">
                <a16:creationId xmlns:a16="http://schemas.microsoft.com/office/drawing/2014/main" id="{036D99E9-05F1-9699-691D-321E518991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C9D19B-B2B6-0BD4-6E46-E84883C058C6}"/>
              </a:ext>
            </a:extLst>
          </p:cNvPr>
          <p:cNvSpPr>
            <a:spLocks noGrp="1"/>
          </p:cNvSpPr>
          <p:nvPr>
            <p:ph type="sldNum" sz="quarter" idx="12"/>
          </p:nvPr>
        </p:nvSpPr>
        <p:spPr/>
        <p:txBody>
          <a:bodyPr/>
          <a:lstStyle/>
          <a:p>
            <a:fld id="{5068EF33-B656-4E4D-ABCD-0A29C78922F9}" type="slidenum">
              <a:rPr lang="en-IN" smtClean="0"/>
              <a:t>‹#›</a:t>
            </a:fld>
            <a:endParaRPr lang="en-IN"/>
          </a:p>
        </p:txBody>
      </p:sp>
    </p:spTree>
    <p:extLst>
      <p:ext uri="{BB962C8B-B14F-4D97-AF65-F5344CB8AC3E}">
        <p14:creationId xmlns:p14="http://schemas.microsoft.com/office/powerpoint/2010/main" val="34061434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68E68-BBF0-305A-34B0-3462D9A69A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91EBF85-9D77-3E30-FEC6-CC67460FC32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E6CD8D-D617-E3F9-2A27-0348DA73A231}"/>
              </a:ext>
            </a:extLst>
          </p:cNvPr>
          <p:cNvSpPr>
            <a:spLocks noGrp="1"/>
          </p:cNvSpPr>
          <p:nvPr>
            <p:ph type="dt" sz="half" idx="10"/>
          </p:nvPr>
        </p:nvSpPr>
        <p:spPr/>
        <p:txBody>
          <a:bodyPr/>
          <a:lstStyle/>
          <a:p>
            <a:fld id="{673BBF07-161E-4D46-9181-A6AAE5789AF6}" type="datetimeFigureOut">
              <a:rPr lang="en-IN" smtClean="0"/>
              <a:t>18-03-2025</a:t>
            </a:fld>
            <a:endParaRPr lang="en-IN"/>
          </a:p>
        </p:txBody>
      </p:sp>
      <p:sp>
        <p:nvSpPr>
          <p:cNvPr id="5" name="Footer Placeholder 4">
            <a:extLst>
              <a:ext uri="{FF2B5EF4-FFF2-40B4-BE49-F238E27FC236}">
                <a16:creationId xmlns:a16="http://schemas.microsoft.com/office/drawing/2014/main" id="{E2771741-8831-32C2-BFD2-EB59CC6E2D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9581F2-D263-979F-225E-E0A822CD2A4F}"/>
              </a:ext>
            </a:extLst>
          </p:cNvPr>
          <p:cNvSpPr>
            <a:spLocks noGrp="1"/>
          </p:cNvSpPr>
          <p:nvPr>
            <p:ph type="sldNum" sz="quarter" idx="12"/>
          </p:nvPr>
        </p:nvSpPr>
        <p:spPr/>
        <p:txBody>
          <a:bodyPr/>
          <a:lstStyle/>
          <a:p>
            <a:fld id="{5068EF33-B656-4E4D-ABCD-0A29C78922F9}" type="slidenum">
              <a:rPr lang="en-IN" smtClean="0"/>
              <a:t>‹#›</a:t>
            </a:fld>
            <a:endParaRPr lang="en-IN"/>
          </a:p>
        </p:txBody>
      </p:sp>
    </p:spTree>
    <p:extLst>
      <p:ext uri="{BB962C8B-B14F-4D97-AF65-F5344CB8AC3E}">
        <p14:creationId xmlns:p14="http://schemas.microsoft.com/office/powerpoint/2010/main" val="15264670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55574-FB2A-BD8B-5FD6-33D7C2B9FCC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2EEABD3-77D5-21E2-A87D-0E154D3E5F0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6B89136-9405-B4F5-BF51-5262A76507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E5534C1-372D-2854-4C1B-A695E9125A70}"/>
              </a:ext>
            </a:extLst>
          </p:cNvPr>
          <p:cNvSpPr>
            <a:spLocks noGrp="1"/>
          </p:cNvSpPr>
          <p:nvPr>
            <p:ph type="dt" sz="half" idx="10"/>
          </p:nvPr>
        </p:nvSpPr>
        <p:spPr/>
        <p:txBody>
          <a:bodyPr/>
          <a:lstStyle/>
          <a:p>
            <a:fld id="{673BBF07-161E-4D46-9181-A6AAE5789AF6}" type="datetimeFigureOut">
              <a:rPr lang="en-IN" smtClean="0"/>
              <a:t>18-03-2025</a:t>
            </a:fld>
            <a:endParaRPr lang="en-IN"/>
          </a:p>
        </p:txBody>
      </p:sp>
      <p:sp>
        <p:nvSpPr>
          <p:cNvPr id="6" name="Footer Placeholder 5">
            <a:extLst>
              <a:ext uri="{FF2B5EF4-FFF2-40B4-BE49-F238E27FC236}">
                <a16:creationId xmlns:a16="http://schemas.microsoft.com/office/drawing/2014/main" id="{596EA0E5-2CBD-B912-76D6-A9AA565DAC1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1618A1-496E-A01B-F081-A5B8C38A03A6}"/>
              </a:ext>
            </a:extLst>
          </p:cNvPr>
          <p:cNvSpPr>
            <a:spLocks noGrp="1"/>
          </p:cNvSpPr>
          <p:nvPr>
            <p:ph type="sldNum" sz="quarter" idx="12"/>
          </p:nvPr>
        </p:nvSpPr>
        <p:spPr/>
        <p:txBody>
          <a:bodyPr/>
          <a:lstStyle/>
          <a:p>
            <a:fld id="{5068EF33-B656-4E4D-ABCD-0A29C78922F9}" type="slidenum">
              <a:rPr lang="en-IN" smtClean="0"/>
              <a:t>‹#›</a:t>
            </a:fld>
            <a:endParaRPr lang="en-IN"/>
          </a:p>
        </p:txBody>
      </p:sp>
    </p:spTree>
    <p:extLst>
      <p:ext uri="{BB962C8B-B14F-4D97-AF65-F5344CB8AC3E}">
        <p14:creationId xmlns:p14="http://schemas.microsoft.com/office/powerpoint/2010/main" val="34511591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EDF5C-18FE-D6DC-9B26-E76B0E88895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BAE50CC-C5E7-5716-B743-05E2F860D6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B7BFBD-FEC6-D331-A3D3-0D19AC1595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D709DEF-860F-C172-EECF-AD2D83D602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C9A9A-2BFD-1034-7165-41317B1DA6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471A8B-6C30-EFA3-C491-16E558E3EE5F}"/>
              </a:ext>
            </a:extLst>
          </p:cNvPr>
          <p:cNvSpPr>
            <a:spLocks noGrp="1"/>
          </p:cNvSpPr>
          <p:nvPr>
            <p:ph type="dt" sz="half" idx="10"/>
          </p:nvPr>
        </p:nvSpPr>
        <p:spPr/>
        <p:txBody>
          <a:bodyPr/>
          <a:lstStyle/>
          <a:p>
            <a:fld id="{673BBF07-161E-4D46-9181-A6AAE5789AF6}" type="datetimeFigureOut">
              <a:rPr lang="en-IN" smtClean="0"/>
              <a:t>18-03-2025</a:t>
            </a:fld>
            <a:endParaRPr lang="en-IN"/>
          </a:p>
        </p:txBody>
      </p:sp>
      <p:sp>
        <p:nvSpPr>
          <p:cNvPr id="8" name="Footer Placeholder 7">
            <a:extLst>
              <a:ext uri="{FF2B5EF4-FFF2-40B4-BE49-F238E27FC236}">
                <a16:creationId xmlns:a16="http://schemas.microsoft.com/office/drawing/2014/main" id="{72CD5CAF-C6F7-3F46-8AD2-E1673BBDE6F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42F201A-48B5-9C6A-F405-266E0F054D73}"/>
              </a:ext>
            </a:extLst>
          </p:cNvPr>
          <p:cNvSpPr>
            <a:spLocks noGrp="1"/>
          </p:cNvSpPr>
          <p:nvPr>
            <p:ph type="sldNum" sz="quarter" idx="12"/>
          </p:nvPr>
        </p:nvSpPr>
        <p:spPr/>
        <p:txBody>
          <a:bodyPr/>
          <a:lstStyle/>
          <a:p>
            <a:fld id="{5068EF33-B656-4E4D-ABCD-0A29C78922F9}" type="slidenum">
              <a:rPr lang="en-IN" smtClean="0"/>
              <a:t>‹#›</a:t>
            </a:fld>
            <a:endParaRPr lang="en-IN"/>
          </a:p>
        </p:txBody>
      </p:sp>
    </p:spTree>
    <p:extLst>
      <p:ext uri="{BB962C8B-B14F-4D97-AF65-F5344CB8AC3E}">
        <p14:creationId xmlns:p14="http://schemas.microsoft.com/office/powerpoint/2010/main" val="42898719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550D8-723E-8BB0-CA32-4F61822283A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A501407-A73E-7C14-1D61-65E276AA4E01}"/>
              </a:ext>
            </a:extLst>
          </p:cNvPr>
          <p:cNvSpPr>
            <a:spLocks noGrp="1"/>
          </p:cNvSpPr>
          <p:nvPr>
            <p:ph type="dt" sz="half" idx="10"/>
          </p:nvPr>
        </p:nvSpPr>
        <p:spPr/>
        <p:txBody>
          <a:bodyPr/>
          <a:lstStyle/>
          <a:p>
            <a:fld id="{673BBF07-161E-4D46-9181-A6AAE5789AF6}" type="datetimeFigureOut">
              <a:rPr lang="en-IN" smtClean="0"/>
              <a:t>18-03-2025</a:t>
            </a:fld>
            <a:endParaRPr lang="en-IN"/>
          </a:p>
        </p:txBody>
      </p:sp>
      <p:sp>
        <p:nvSpPr>
          <p:cNvPr id="4" name="Footer Placeholder 3">
            <a:extLst>
              <a:ext uri="{FF2B5EF4-FFF2-40B4-BE49-F238E27FC236}">
                <a16:creationId xmlns:a16="http://schemas.microsoft.com/office/drawing/2014/main" id="{94099061-2268-5AB4-9405-223838A4B83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18718AA-745D-0B32-7571-470E7CD28977}"/>
              </a:ext>
            </a:extLst>
          </p:cNvPr>
          <p:cNvSpPr>
            <a:spLocks noGrp="1"/>
          </p:cNvSpPr>
          <p:nvPr>
            <p:ph type="sldNum" sz="quarter" idx="12"/>
          </p:nvPr>
        </p:nvSpPr>
        <p:spPr/>
        <p:txBody>
          <a:bodyPr/>
          <a:lstStyle/>
          <a:p>
            <a:fld id="{5068EF33-B656-4E4D-ABCD-0A29C78922F9}" type="slidenum">
              <a:rPr lang="en-IN" smtClean="0"/>
              <a:t>‹#›</a:t>
            </a:fld>
            <a:endParaRPr lang="en-IN"/>
          </a:p>
        </p:txBody>
      </p:sp>
    </p:spTree>
    <p:extLst>
      <p:ext uri="{BB962C8B-B14F-4D97-AF65-F5344CB8AC3E}">
        <p14:creationId xmlns:p14="http://schemas.microsoft.com/office/powerpoint/2010/main" val="3485945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C3AC6E-B7E3-0DC7-0221-D20FF79A70F5}"/>
              </a:ext>
            </a:extLst>
          </p:cNvPr>
          <p:cNvSpPr>
            <a:spLocks noGrp="1"/>
          </p:cNvSpPr>
          <p:nvPr>
            <p:ph type="dt" sz="half" idx="10"/>
          </p:nvPr>
        </p:nvSpPr>
        <p:spPr/>
        <p:txBody>
          <a:bodyPr/>
          <a:lstStyle/>
          <a:p>
            <a:fld id="{673BBF07-161E-4D46-9181-A6AAE5789AF6}" type="datetimeFigureOut">
              <a:rPr lang="en-IN" smtClean="0"/>
              <a:t>18-03-2025</a:t>
            </a:fld>
            <a:endParaRPr lang="en-IN"/>
          </a:p>
        </p:txBody>
      </p:sp>
      <p:sp>
        <p:nvSpPr>
          <p:cNvPr id="3" name="Footer Placeholder 2">
            <a:extLst>
              <a:ext uri="{FF2B5EF4-FFF2-40B4-BE49-F238E27FC236}">
                <a16:creationId xmlns:a16="http://schemas.microsoft.com/office/drawing/2014/main" id="{9F1B3CC8-A927-A7F0-3CCD-799BE1B902F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4A6BCE4-E695-8B03-9A5F-F39A8E0F59C8}"/>
              </a:ext>
            </a:extLst>
          </p:cNvPr>
          <p:cNvSpPr>
            <a:spLocks noGrp="1"/>
          </p:cNvSpPr>
          <p:nvPr>
            <p:ph type="sldNum" sz="quarter" idx="12"/>
          </p:nvPr>
        </p:nvSpPr>
        <p:spPr/>
        <p:txBody>
          <a:bodyPr/>
          <a:lstStyle/>
          <a:p>
            <a:fld id="{5068EF33-B656-4E4D-ABCD-0A29C78922F9}" type="slidenum">
              <a:rPr lang="en-IN" smtClean="0"/>
              <a:t>‹#›</a:t>
            </a:fld>
            <a:endParaRPr lang="en-IN"/>
          </a:p>
        </p:txBody>
      </p:sp>
    </p:spTree>
    <p:extLst>
      <p:ext uri="{BB962C8B-B14F-4D97-AF65-F5344CB8AC3E}">
        <p14:creationId xmlns:p14="http://schemas.microsoft.com/office/powerpoint/2010/main" val="386287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CE013-5E0F-ABE2-4C7B-EF69A3C7B7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D208D43-3E3A-0B75-1B47-AE2BB70B0D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ADE6AAE-2671-E261-DD02-F33A7EFC38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948E41-DEC4-AC7F-45F4-7644D76DD9B9}"/>
              </a:ext>
            </a:extLst>
          </p:cNvPr>
          <p:cNvSpPr>
            <a:spLocks noGrp="1"/>
          </p:cNvSpPr>
          <p:nvPr>
            <p:ph type="dt" sz="half" idx="10"/>
          </p:nvPr>
        </p:nvSpPr>
        <p:spPr/>
        <p:txBody>
          <a:bodyPr/>
          <a:lstStyle/>
          <a:p>
            <a:fld id="{673BBF07-161E-4D46-9181-A6AAE5789AF6}" type="datetimeFigureOut">
              <a:rPr lang="en-IN" smtClean="0"/>
              <a:t>18-03-2025</a:t>
            </a:fld>
            <a:endParaRPr lang="en-IN"/>
          </a:p>
        </p:txBody>
      </p:sp>
      <p:sp>
        <p:nvSpPr>
          <p:cNvPr id="6" name="Footer Placeholder 5">
            <a:extLst>
              <a:ext uri="{FF2B5EF4-FFF2-40B4-BE49-F238E27FC236}">
                <a16:creationId xmlns:a16="http://schemas.microsoft.com/office/drawing/2014/main" id="{DE028DAC-C5C4-D92C-D90D-7BBAB00860C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2BBEF37-20DB-5578-9D35-827B6EF7E930}"/>
              </a:ext>
            </a:extLst>
          </p:cNvPr>
          <p:cNvSpPr>
            <a:spLocks noGrp="1"/>
          </p:cNvSpPr>
          <p:nvPr>
            <p:ph type="sldNum" sz="quarter" idx="12"/>
          </p:nvPr>
        </p:nvSpPr>
        <p:spPr/>
        <p:txBody>
          <a:bodyPr/>
          <a:lstStyle/>
          <a:p>
            <a:fld id="{5068EF33-B656-4E4D-ABCD-0A29C78922F9}" type="slidenum">
              <a:rPr lang="en-IN" smtClean="0"/>
              <a:t>‹#›</a:t>
            </a:fld>
            <a:endParaRPr lang="en-IN"/>
          </a:p>
        </p:txBody>
      </p:sp>
    </p:spTree>
    <p:extLst>
      <p:ext uri="{BB962C8B-B14F-4D97-AF65-F5344CB8AC3E}">
        <p14:creationId xmlns:p14="http://schemas.microsoft.com/office/powerpoint/2010/main" val="2614884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F2ACA-55C0-A629-2FCD-93838F1999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46AB2ED-56FB-7C66-9B9B-DF63C85DA2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5A0794E-F36E-A48D-C06A-BBDDD03DEC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2C3FB9-35F7-17FA-14BD-4FD02A1818D1}"/>
              </a:ext>
            </a:extLst>
          </p:cNvPr>
          <p:cNvSpPr>
            <a:spLocks noGrp="1"/>
          </p:cNvSpPr>
          <p:nvPr>
            <p:ph type="dt" sz="half" idx="10"/>
          </p:nvPr>
        </p:nvSpPr>
        <p:spPr/>
        <p:txBody>
          <a:bodyPr/>
          <a:lstStyle/>
          <a:p>
            <a:fld id="{673BBF07-161E-4D46-9181-A6AAE5789AF6}" type="datetimeFigureOut">
              <a:rPr lang="en-IN" smtClean="0"/>
              <a:t>18-03-2025</a:t>
            </a:fld>
            <a:endParaRPr lang="en-IN"/>
          </a:p>
        </p:txBody>
      </p:sp>
      <p:sp>
        <p:nvSpPr>
          <p:cNvPr id="6" name="Footer Placeholder 5">
            <a:extLst>
              <a:ext uri="{FF2B5EF4-FFF2-40B4-BE49-F238E27FC236}">
                <a16:creationId xmlns:a16="http://schemas.microsoft.com/office/drawing/2014/main" id="{E51FCCF7-11C5-03E7-1082-5EE0B645232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781798-BF26-7CA1-0C99-89A0F47A6744}"/>
              </a:ext>
            </a:extLst>
          </p:cNvPr>
          <p:cNvSpPr>
            <a:spLocks noGrp="1"/>
          </p:cNvSpPr>
          <p:nvPr>
            <p:ph type="sldNum" sz="quarter" idx="12"/>
          </p:nvPr>
        </p:nvSpPr>
        <p:spPr/>
        <p:txBody>
          <a:bodyPr/>
          <a:lstStyle/>
          <a:p>
            <a:fld id="{5068EF33-B656-4E4D-ABCD-0A29C78922F9}" type="slidenum">
              <a:rPr lang="en-IN" smtClean="0"/>
              <a:t>‹#›</a:t>
            </a:fld>
            <a:endParaRPr lang="en-IN"/>
          </a:p>
        </p:txBody>
      </p:sp>
    </p:spTree>
    <p:extLst>
      <p:ext uri="{BB962C8B-B14F-4D97-AF65-F5344CB8AC3E}">
        <p14:creationId xmlns:p14="http://schemas.microsoft.com/office/powerpoint/2010/main" val="4204537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1AFC8-9916-BF7D-5650-E1FE211C279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8AD63C1-3026-8BFC-F99A-FFA7CE0FBE9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9CDA03-1B04-C917-91E6-AFD64DC435F0}"/>
              </a:ext>
            </a:extLst>
          </p:cNvPr>
          <p:cNvSpPr>
            <a:spLocks noGrp="1"/>
          </p:cNvSpPr>
          <p:nvPr>
            <p:ph type="dt" sz="half" idx="10"/>
          </p:nvPr>
        </p:nvSpPr>
        <p:spPr/>
        <p:txBody>
          <a:bodyPr/>
          <a:lstStyle/>
          <a:p>
            <a:fld id="{673BBF07-161E-4D46-9181-A6AAE5789AF6}" type="datetimeFigureOut">
              <a:rPr lang="en-IN" smtClean="0"/>
              <a:t>18-03-2025</a:t>
            </a:fld>
            <a:endParaRPr lang="en-IN"/>
          </a:p>
        </p:txBody>
      </p:sp>
      <p:sp>
        <p:nvSpPr>
          <p:cNvPr id="5" name="Footer Placeholder 4">
            <a:extLst>
              <a:ext uri="{FF2B5EF4-FFF2-40B4-BE49-F238E27FC236}">
                <a16:creationId xmlns:a16="http://schemas.microsoft.com/office/drawing/2014/main" id="{25D61A17-E7D1-81F6-4407-E905B2B4DA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2A4BE5-A814-7696-FA45-AD0691EC8A1F}"/>
              </a:ext>
            </a:extLst>
          </p:cNvPr>
          <p:cNvSpPr>
            <a:spLocks noGrp="1"/>
          </p:cNvSpPr>
          <p:nvPr>
            <p:ph type="sldNum" sz="quarter" idx="12"/>
          </p:nvPr>
        </p:nvSpPr>
        <p:spPr/>
        <p:txBody>
          <a:bodyPr/>
          <a:lstStyle/>
          <a:p>
            <a:fld id="{5068EF33-B656-4E4D-ABCD-0A29C78922F9}" type="slidenum">
              <a:rPr lang="en-IN" smtClean="0"/>
              <a:t>‹#›</a:t>
            </a:fld>
            <a:endParaRPr lang="en-IN"/>
          </a:p>
        </p:txBody>
      </p:sp>
    </p:spTree>
    <p:extLst>
      <p:ext uri="{BB962C8B-B14F-4D97-AF65-F5344CB8AC3E}">
        <p14:creationId xmlns:p14="http://schemas.microsoft.com/office/powerpoint/2010/main" val="12653826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AF9AA4-455D-A46B-0D80-DFAFAA993A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B6ADC43-5F7B-DD02-6AF0-C6DE9B96BB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9326D7-85D2-0A1A-FAF5-9DDC72546488}"/>
              </a:ext>
            </a:extLst>
          </p:cNvPr>
          <p:cNvSpPr>
            <a:spLocks noGrp="1"/>
          </p:cNvSpPr>
          <p:nvPr>
            <p:ph type="dt" sz="half" idx="10"/>
          </p:nvPr>
        </p:nvSpPr>
        <p:spPr/>
        <p:txBody>
          <a:bodyPr/>
          <a:lstStyle/>
          <a:p>
            <a:fld id="{673BBF07-161E-4D46-9181-A6AAE5789AF6}" type="datetimeFigureOut">
              <a:rPr lang="en-IN" smtClean="0"/>
              <a:t>18-03-2025</a:t>
            </a:fld>
            <a:endParaRPr lang="en-IN"/>
          </a:p>
        </p:txBody>
      </p:sp>
      <p:sp>
        <p:nvSpPr>
          <p:cNvPr id="5" name="Footer Placeholder 4">
            <a:extLst>
              <a:ext uri="{FF2B5EF4-FFF2-40B4-BE49-F238E27FC236}">
                <a16:creationId xmlns:a16="http://schemas.microsoft.com/office/drawing/2014/main" id="{C5B5525D-CE93-DDCE-E638-7A7B1D723E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8AA1831-B4AC-0B53-9B23-75C3526E55AB}"/>
              </a:ext>
            </a:extLst>
          </p:cNvPr>
          <p:cNvSpPr>
            <a:spLocks noGrp="1"/>
          </p:cNvSpPr>
          <p:nvPr>
            <p:ph type="sldNum" sz="quarter" idx="12"/>
          </p:nvPr>
        </p:nvSpPr>
        <p:spPr/>
        <p:txBody>
          <a:bodyPr/>
          <a:lstStyle/>
          <a:p>
            <a:fld id="{5068EF33-B656-4E4D-ABCD-0A29C78922F9}" type="slidenum">
              <a:rPr lang="en-IN" smtClean="0"/>
              <a:t>‹#›</a:t>
            </a:fld>
            <a:endParaRPr lang="en-IN"/>
          </a:p>
        </p:txBody>
      </p:sp>
    </p:spTree>
    <p:extLst>
      <p:ext uri="{BB962C8B-B14F-4D97-AF65-F5344CB8AC3E}">
        <p14:creationId xmlns:p14="http://schemas.microsoft.com/office/powerpoint/2010/main" val="729045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95AC56-38BC-E7EA-9B58-B5F8789003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39EA699-4BC5-D944-F428-9BE747D531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59E8E0-BFD5-3A18-01BD-67D8297E88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3BBF07-161E-4D46-9181-A6AAE5789AF6}" type="datetimeFigureOut">
              <a:rPr lang="en-IN" smtClean="0"/>
              <a:t>18-03-2025</a:t>
            </a:fld>
            <a:endParaRPr lang="en-IN"/>
          </a:p>
        </p:txBody>
      </p:sp>
      <p:sp>
        <p:nvSpPr>
          <p:cNvPr id="5" name="Footer Placeholder 4">
            <a:extLst>
              <a:ext uri="{FF2B5EF4-FFF2-40B4-BE49-F238E27FC236}">
                <a16:creationId xmlns:a16="http://schemas.microsoft.com/office/drawing/2014/main" id="{956394F2-6BBA-0E22-93A0-F186283CDB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AEFF5E2-DC92-569A-5AB5-BCAC5544BF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68EF33-B656-4E4D-ABCD-0A29C78922F9}" type="slidenum">
              <a:rPr lang="en-IN" smtClean="0"/>
              <a:t>‹#›</a:t>
            </a:fld>
            <a:endParaRPr lang="en-IN"/>
          </a:p>
        </p:txBody>
      </p:sp>
    </p:spTree>
    <p:extLst>
      <p:ext uri="{BB962C8B-B14F-4D97-AF65-F5344CB8AC3E}">
        <p14:creationId xmlns:p14="http://schemas.microsoft.com/office/powerpoint/2010/main" val="32059671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4.xml"/><Relationship Id="rId5" Type="http://schemas.microsoft.com/office/2007/relationships/hdphoto" Target="../media/hdphoto2.wdp"/><Relationship Id="rId4" Type="http://schemas.openxmlformats.org/officeDocument/2006/relationships/image" Target="../media/image11.png"/></Relationships>
</file>

<file path=ppt/slides/_rels/slide4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1.png"/><Relationship Id="rId1" Type="http://schemas.openxmlformats.org/officeDocument/2006/relationships/slideLayout" Target="../slideLayouts/slideLayout2.xml"/><Relationship Id="rId5" Type="http://schemas.microsoft.com/office/2007/relationships/hdphoto" Target="../media/hdphoto5.wdp"/><Relationship Id="rId4" Type="http://schemas.openxmlformats.org/officeDocument/2006/relationships/image" Target="../media/image22.png"/></Relationships>
</file>

<file path=ppt/slides/_rels/slide5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24.png"/><Relationship Id="rId1" Type="http://schemas.openxmlformats.org/officeDocument/2006/relationships/slideLayout" Target="../slideLayouts/slideLayout2.xml"/><Relationship Id="rId5" Type="http://schemas.microsoft.com/office/2007/relationships/hdphoto" Target="../media/hdphoto7.wdp"/><Relationship Id="rId4" Type="http://schemas.openxmlformats.org/officeDocument/2006/relationships/image" Target="../media/image25.png"/></Relationships>
</file>

<file path=ppt/slides/_rels/slide61.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AF71E-422B-6FFA-5037-F51016D19B00}"/>
              </a:ext>
            </a:extLst>
          </p:cNvPr>
          <p:cNvSpPr>
            <a:spLocks noGrp="1"/>
          </p:cNvSpPr>
          <p:nvPr>
            <p:ph type="ctrTitle"/>
          </p:nvPr>
        </p:nvSpPr>
        <p:spPr/>
        <p:txBody>
          <a:bodyPr>
            <a:normAutofit/>
          </a:bodyPr>
          <a:lstStyle/>
          <a:p>
            <a:r>
              <a:rPr lang="en-US" sz="6600" b="1" dirty="0">
                <a:solidFill>
                  <a:srgbClr val="C00000"/>
                </a:solidFill>
              </a:rPr>
              <a:t>Relational Database</a:t>
            </a:r>
            <a:endParaRPr lang="en-IN" sz="6600" b="1" dirty="0">
              <a:solidFill>
                <a:srgbClr val="C00000"/>
              </a:solidFill>
            </a:endParaRPr>
          </a:p>
        </p:txBody>
      </p:sp>
    </p:spTree>
    <p:extLst>
      <p:ext uri="{BB962C8B-B14F-4D97-AF65-F5344CB8AC3E}">
        <p14:creationId xmlns:p14="http://schemas.microsoft.com/office/powerpoint/2010/main" val="3232717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8CFA1D-956B-25A0-A596-2BB11562A233}"/>
              </a:ext>
            </a:extLst>
          </p:cNvPr>
          <p:cNvSpPr>
            <a:spLocks noGrp="1"/>
          </p:cNvSpPr>
          <p:nvPr>
            <p:ph idx="1"/>
          </p:nvPr>
        </p:nvSpPr>
        <p:spPr>
          <a:xfrm>
            <a:off x="815248" y="705080"/>
            <a:ext cx="10538552" cy="5471883"/>
          </a:xfrm>
        </p:spPr>
        <p:txBody>
          <a:bodyPr>
            <a:normAutofit/>
          </a:bodyPr>
          <a:lstStyle/>
          <a:p>
            <a:r>
              <a:rPr lang="en-US" dirty="0"/>
              <a:t>A </a:t>
            </a:r>
            <a:r>
              <a:rPr lang="en-US" dirty="0">
                <a:solidFill>
                  <a:srgbClr val="C00000"/>
                </a:solidFill>
              </a:rPr>
              <a:t>relational database </a:t>
            </a:r>
            <a:r>
              <a:rPr lang="en-US" dirty="0"/>
              <a:t>organizes data into rows and columns, which collectively form a table where the data points are related to each other.</a:t>
            </a:r>
          </a:p>
          <a:p>
            <a:pPr marL="0" indent="0">
              <a:buNone/>
            </a:pPr>
            <a:r>
              <a:rPr lang="en-US" b="1" dirty="0"/>
              <a:t>Properties of a Relation:</a:t>
            </a:r>
          </a:p>
          <a:p>
            <a:r>
              <a:rPr lang="en-US" dirty="0"/>
              <a:t>Each relation has a unique name by which it is identified in the database.</a:t>
            </a:r>
          </a:p>
          <a:p>
            <a:r>
              <a:rPr lang="en-US" dirty="0"/>
              <a:t>Relation does not contain duplicate tuples.</a:t>
            </a:r>
          </a:p>
          <a:p>
            <a:r>
              <a:rPr lang="en-US" dirty="0"/>
              <a:t>The tuples of a relation have no specific order.</a:t>
            </a:r>
          </a:p>
          <a:p>
            <a:r>
              <a:rPr lang="en-US" dirty="0"/>
              <a:t>All attributes in a relation are atomic, i.e., each cell of a relation contains exactly one value.</a:t>
            </a:r>
            <a:endParaRPr lang="en-IN" dirty="0"/>
          </a:p>
        </p:txBody>
      </p:sp>
    </p:spTree>
    <p:extLst>
      <p:ext uri="{BB962C8B-B14F-4D97-AF65-F5344CB8AC3E}">
        <p14:creationId xmlns:p14="http://schemas.microsoft.com/office/powerpoint/2010/main" val="873294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C47AF9-DC0E-472E-6770-10FA6253ADDF}"/>
              </a:ext>
            </a:extLst>
          </p:cNvPr>
          <p:cNvSpPr>
            <a:spLocks noGrp="1"/>
          </p:cNvSpPr>
          <p:nvPr>
            <p:ph idx="1"/>
          </p:nvPr>
        </p:nvSpPr>
        <p:spPr>
          <a:xfrm>
            <a:off x="739739" y="811658"/>
            <a:ext cx="10614061" cy="5365305"/>
          </a:xfrm>
        </p:spPr>
        <p:txBody>
          <a:bodyPr>
            <a:normAutofit/>
          </a:bodyPr>
          <a:lstStyle/>
          <a:p>
            <a:pPr marL="0" indent="0">
              <a:buNone/>
            </a:pPr>
            <a:r>
              <a:rPr lang="en-US" dirty="0">
                <a:solidFill>
                  <a:srgbClr val="C00000"/>
                </a:solidFill>
              </a:rPr>
              <a:t>What is an attribute?</a:t>
            </a:r>
          </a:p>
          <a:p>
            <a:r>
              <a:rPr lang="en-US" dirty="0"/>
              <a:t>A column is a vertical entity in the table which contains all information associated with a specific field in a table. </a:t>
            </a:r>
          </a:p>
          <a:p>
            <a:endParaRPr lang="en-US" dirty="0"/>
          </a:p>
          <a:p>
            <a:pPr marL="0" indent="0">
              <a:buNone/>
            </a:pPr>
            <a:r>
              <a:rPr lang="en-US" dirty="0">
                <a:solidFill>
                  <a:srgbClr val="C00000"/>
                </a:solidFill>
              </a:rPr>
              <a:t>Properties of an Attribute:</a:t>
            </a:r>
          </a:p>
          <a:p>
            <a:r>
              <a:rPr lang="en-US" dirty="0"/>
              <a:t>Every attribute of a relation must have a name.</a:t>
            </a:r>
          </a:p>
          <a:p>
            <a:r>
              <a:rPr lang="en-US" dirty="0"/>
              <a:t>Null values are permitted for the attributes.</a:t>
            </a:r>
          </a:p>
          <a:p>
            <a:r>
              <a:rPr lang="en-US" dirty="0"/>
              <a:t>Default values can be specified for an attribute automatically inserted if no other value is specified for an attribute.</a:t>
            </a:r>
          </a:p>
          <a:p>
            <a:r>
              <a:rPr lang="en-US" dirty="0"/>
              <a:t>Attributes that uniquely identify each tuple of a relation are the primary key.</a:t>
            </a:r>
            <a:endParaRPr lang="en-IN" dirty="0"/>
          </a:p>
        </p:txBody>
      </p:sp>
    </p:spTree>
    <p:extLst>
      <p:ext uri="{BB962C8B-B14F-4D97-AF65-F5344CB8AC3E}">
        <p14:creationId xmlns:p14="http://schemas.microsoft.com/office/powerpoint/2010/main" val="1068288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F4B701-6F6B-3B6D-B72A-1E616091BFA0}"/>
              </a:ext>
            </a:extLst>
          </p:cNvPr>
          <p:cNvSpPr>
            <a:spLocks noGrp="1"/>
          </p:cNvSpPr>
          <p:nvPr>
            <p:ph idx="1"/>
          </p:nvPr>
        </p:nvSpPr>
        <p:spPr>
          <a:xfrm>
            <a:off x="750013" y="719191"/>
            <a:ext cx="10603787" cy="5457772"/>
          </a:xfrm>
        </p:spPr>
        <p:txBody>
          <a:bodyPr>
            <a:normAutofit/>
          </a:bodyPr>
          <a:lstStyle/>
          <a:p>
            <a:pPr marL="0" indent="0">
              <a:buNone/>
            </a:pPr>
            <a:r>
              <a:rPr lang="en-US" dirty="0">
                <a:solidFill>
                  <a:srgbClr val="C00000"/>
                </a:solidFill>
              </a:rPr>
              <a:t>Domain:</a:t>
            </a:r>
          </a:p>
          <a:p>
            <a:r>
              <a:rPr lang="en-US" dirty="0"/>
              <a:t>For each attribute of a relation, there is a set of permitted values, called the domain of that attribute.</a:t>
            </a:r>
          </a:p>
          <a:p>
            <a:r>
              <a:rPr lang="en-US" dirty="0"/>
              <a:t>The domain refers to the possible values each attribute can contain. It can be specified using standard data types such as integers, floating numbers, etc.</a:t>
            </a:r>
          </a:p>
          <a:p>
            <a:pPr marL="0" indent="0">
              <a:buNone/>
            </a:pPr>
            <a:r>
              <a:rPr lang="en-US" dirty="0">
                <a:solidFill>
                  <a:srgbClr val="C00000"/>
                </a:solidFill>
              </a:rPr>
              <a:t>NULL Values:</a:t>
            </a:r>
          </a:p>
          <a:p>
            <a:r>
              <a:rPr lang="en-US" dirty="0"/>
              <a:t>The null value is a special value that signifies that the value is unknown or does not exist.</a:t>
            </a:r>
          </a:p>
          <a:p>
            <a:r>
              <a:rPr lang="en-US" dirty="0"/>
              <a:t>The NULL value of the table specifies that the field has been left blank during record creation. It is different from the value filled with zero or a field that contains space.</a:t>
            </a:r>
            <a:endParaRPr lang="en-IN" dirty="0"/>
          </a:p>
        </p:txBody>
      </p:sp>
    </p:spTree>
    <p:extLst>
      <p:ext uri="{BB962C8B-B14F-4D97-AF65-F5344CB8AC3E}">
        <p14:creationId xmlns:p14="http://schemas.microsoft.com/office/powerpoint/2010/main" val="3694900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B8DE5-6340-3F82-C376-23EFA1516705}"/>
              </a:ext>
            </a:extLst>
          </p:cNvPr>
          <p:cNvSpPr>
            <a:spLocks noGrp="1"/>
          </p:cNvSpPr>
          <p:nvPr>
            <p:ph type="title"/>
          </p:nvPr>
        </p:nvSpPr>
        <p:spPr>
          <a:xfrm>
            <a:off x="632717" y="-128035"/>
            <a:ext cx="10515600" cy="1325563"/>
          </a:xfrm>
        </p:spPr>
        <p:txBody>
          <a:bodyPr/>
          <a:lstStyle/>
          <a:p>
            <a:pPr algn="ctr"/>
            <a:r>
              <a:rPr lang="en-IN" b="1" dirty="0">
                <a:solidFill>
                  <a:srgbClr val="C00000"/>
                </a:solidFill>
              </a:rPr>
              <a:t>Relation Schema</a:t>
            </a:r>
          </a:p>
        </p:txBody>
      </p:sp>
      <p:sp>
        <p:nvSpPr>
          <p:cNvPr id="3" name="Content Placeholder 2">
            <a:extLst>
              <a:ext uri="{FF2B5EF4-FFF2-40B4-BE49-F238E27FC236}">
                <a16:creationId xmlns:a16="http://schemas.microsoft.com/office/drawing/2014/main" id="{D6FE29DB-0E2A-1B8E-8436-93CD985EF136}"/>
              </a:ext>
            </a:extLst>
          </p:cNvPr>
          <p:cNvSpPr>
            <a:spLocks noGrp="1"/>
          </p:cNvSpPr>
          <p:nvPr>
            <p:ph idx="1"/>
          </p:nvPr>
        </p:nvSpPr>
        <p:spPr>
          <a:xfrm>
            <a:off x="750013" y="1047963"/>
            <a:ext cx="10603787" cy="5445303"/>
          </a:xfrm>
        </p:spPr>
        <p:txBody>
          <a:bodyPr>
            <a:normAutofit lnSpcReduction="10000"/>
          </a:bodyPr>
          <a:lstStyle/>
          <a:p>
            <a:pPr algn="just"/>
            <a:r>
              <a:rPr lang="en-US" dirty="0"/>
              <a:t>Relation schema defines the design and structure of the relation or table in the database. </a:t>
            </a:r>
          </a:p>
          <a:p>
            <a:pPr algn="just"/>
            <a:r>
              <a:rPr lang="en-US" dirty="0"/>
              <a:t>It is the way of representation of relation states in such a way that every relation database state fulfills the integrity constraints set (Like Primary key, Foreign Key, Not null, Unique constraints) on a relational schema.</a:t>
            </a:r>
          </a:p>
          <a:p>
            <a:pPr algn="just"/>
            <a:r>
              <a:rPr lang="en-US" dirty="0"/>
              <a:t>It consists of the relation name, set of attributes/field names/column names. Every attribute would have an associated domain.</a:t>
            </a:r>
          </a:p>
          <a:p>
            <a:pPr algn="just"/>
            <a:r>
              <a:rPr lang="en-US" dirty="0"/>
              <a:t>Thus, in the relational model the term </a:t>
            </a:r>
            <a:r>
              <a:rPr lang="en-US" b="1" dirty="0"/>
              <a:t>relation</a:t>
            </a:r>
            <a:r>
              <a:rPr lang="en-US" dirty="0"/>
              <a:t> is used to refer to a table, while the term </a:t>
            </a:r>
            <a:r>
              <a:rPr lang="en-US" b="1" dirty="0"/>
              <a:t>tuple</a:t>
            </a:r>
            <a:r>
              <a:rPr lang="en-US" dirty="0"/>
              <a:t> is used to refer to a row. Similarly, the term </a:t>
            </a:r>
            <a:r>
              <a:rPr lang="en-US" b="1" dirty="0"/>
              <a:t>attribute</a:t>
            </a:r>
            <a:r>
              <a:rPr lang="en-US" dirty="0"/>
              <a:t> refers to a column of a table.</a:t>
            </a:r>
          </a:p>
          <a:p>
            <a:pPr algn="just"/>
            <a:r>
              <a:rPr lang="en-US" dirty="0"/>
              <a:t>We use the term relation </a:t>
            </a:r>
            <a:r>
              <a:rPr lang="en-US" b="1" dirty="0"/>
              <a:t>instance</a:t>
            </a:r>
            <a:r>
              <a:rPr lang="en-US" dirty="0"/>
              <a:t> to refer to a specific instance of a relation, i.e., containing a specific set of rows.</a:t>
            </a:r>
            <a:endParaRPr lang="en-IN" dirty="0"/>
          </a:p>
        </p:txBody>
      </p:sp>
    </p:spTree>
    <p:extLst>
      <p:ext uri="{BB962C8B-B14F-4D97-AF65-F5344CB8AC3E}">
        <p14:creationId xmlns:p14="http://schemas.microsoft.com/office/powerpoint/2010/main" val="3737386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18FD8-C30A-07AD-33C9-7EB37F96B92F}"/>
              </a:ext>
            </a:extLst>
          </p:cNvPr>
          <p:cNvSpPr>
            <a:spLocks noGrp="1"/>
          </p:cNvSpPr>
          <p:nvPr>
            <p:ph type="title"/>
          </p:nvPr>
        </p:nvSpPr>
        <p:spPr>
          <a:xfrm>
            <a:off x="334766" y="397406"/>
            <a:ext cx="10515600" cy="758951"/>
          </a:xfrm>
        </p:spPr>
        <p:txBody>
          <a:bodyPr/>
          <a:lstStyle/>
          <a:p>
            <a:pPr algn="ctr"/>
            <a:r>
              <a:rPr lang="en-IN" b="1" dirty="0">
                <a:solidFill>
                  <a:srgbClr val="C00000"/>
                </a:solidFill>
              </a:rPr>
              <a:t>Anomalies in DBMS</a:t>
            </a:r>
          </a:p>
        </p:txBody>
      </p:sp>
      <p:sp>
        <p:nvSpPr>
          <p:cNvPr id="3" name="Content Placeholder 2">
            <a:extLst>
              <a:ext uri="{FF2B5EF4-FFF2-40B4-BE49-F238E27FC236}">
                <a16:creationId xmlns:a16="http://schemas.microsoft.com/office/drawing/2014/main" id="{13BDD290-CB3E-5DB0-2F61-9D9DF02DFC4E}"/>
              </a:ext>
            </a:extLst>
          </p:cNvPr>
          <p:cNvSpPr>
            <a:spLocks noGrp="1"/>
          </p:cNvSpPr>
          <p:nvPr>
            <p:ph idx="1"/>
          </p:nvPr>
        </p:nvSpPr>
        <p:spPr>
          <a:xfrm>
            <a:off x="838200" y="1540572"/>
            <a:ext cx="10515600" cy="5207699"/>
          </a:xfrm>
        </p:spPr>
        <p:txBody>
          <a:bodyPr/>
          <a:lstStyle/>
          <a:p>
            <a:pPr algn="just"/>
            <a:r>
              <a:rPr lang="en-US" dirty="0"/>
              <a:t>A database anomaly is an inconsistency in the data resulting from an operation like an update, insertion, or deletion. There can be inconsistencies when a record is held in multiple places and not all of the copies are updated.</a:t>
            </a:r>
          </a:p>
          <a:p>
            <a:pPr algn="just"/>
            <a:r>
              <a:rPr lang="en-US" dirty="0"/>
              <a:t>Anomalies occur when the data present in the database has too much redundancy.</a:t>
            </a:r>
          </a:p>
          <a:p>
            <a:pPr algn="just"/>
            <a:r>
              <a:rPr lang="en-US" dirty="0"/>
              <a:t> A database anomaly is a fault within a database, which can occur because of poor planning or when everything is stored in a flat database</a:t>
            </a:r>
            <a:endParaRPr lang="en-IN" dirty="0"/>
          </a:p>
        </p:txBody>
      </p:sp>
    </p:spTree>
    <p:extLst>
      <p:ext uri="{BB962C8B-B14F-4D97-AF65-F5344CB8AC3E}">
        <p14:creationId xmlns:p14="http://schemas.microsoft.com/office/powerpoint/2010/main" val="17176534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9B2416-67A6-C74A-3AC7-7F14DEA66EAA}"/>
              </a:ext>
            </a:extLst>
          </p:cNvPr>
          <p:cNvSpPr>
            <a:spLocks noGrp="1"/>
          </p:cNvSpPr>
          <p:nvPr>
            <p:ph idx="1"/>
          </p:nvPr>
        </p:nvSpPr>
        <p:spPr>
          <a:xfrm>
            <a:off x="649224" y="429768"/>
            <a:ext cx="10704576" cy="5747195"/>
          </a:xfrm>
        </p:spPr>
        <p:txBody>
          <a:bodyPr>
            <a:normAutofit/>
          </a:bodyPr>
          <a:lstStyle/>
          <a:p>
            <a:pPr marL="0" indent="0" algn="ctr">
              <a:buNone/>
            </a:pPr>
            <a:r>
              <a:rPr lang="en-US" sz="3500" b="1" dirty="0">
                <a:solidFill>
                  <a:srgbClr val="C00000"/>
                </a:solidFill>
              </a:rPr>
              <a:t>Type of Anomalies in DBMS</a:t>
            </a:r>
          </a:p>
          <a:p>
            <a:pPr marL="0" indent="0" algn="ctr">
              <a:buNone/>
            </a:pPr>
            <a:endParaRPr lang="en-US" sz="3500" b="1" dirty="0">
              <a:solidFill>
                <a:srgbClr val="C00000"/>
              </a:solidFill>
            </a:endParaRPr>
          </a:p>
          <a:p>
            <a:pPr algn="just"/>
            <a:r>
              <a:rPr lang="en-US" dirty="0"/>
              <a:t>There are different types of anomalies that can occur in a database. </a:t>
            </a:r>
          </a:p>
          <a:p>
            <a:pPr algn="just"/>
            <a:r>
              <a:rPr lang="en-US" dirty="0"/>
              <a:t>Data anomalies can be broadly categorized into three types:</a:t>
            </a:r>
          </a:p>
          <a:p>
            <a:pPr algn="just"/>
            <a:endParaRPr lang="en-US" dirty="0"/>
          </a:p>
          <a:p>
            <a:pPr marL="0" indent="0" algn="just">
              <a:buNone/>
            </a:pPr>
            <a:r>
              <a:rPr lang="en-US" dirty="0">
                <a:solidFill>
                  <a:srgbClr val="C00000"/>
                </a:solidFill>
              </a:rPr>
              <a:t>1. Insertion Anomalies</a:t>
            </a:r>
          </a:p>
          <a:p>
            <a:pPr algn="just"/>
            <a:r>
              <a:rPr lang="en-US" dirty="0"/>
              <a:t>These occur when specific attributes cannot be inserted into the database without the presence of other attributes.</a:t>
            </a:r>
          </a:p>
          <a:p>
            <a:pPr algn="just"/>
            <a:r>
              <a:rPr lang="en-US" dirty="0"/>
              <a:t>Example: In a student database, an insertion anomaly exists if a new student's details cannot be inserted without entering their course enrollment.</a:t>
            </a:r>
          </a:p>
        </p:txBody>
      </p:sp>
    </p:spTree>
    <p:extLst>
      <p:ext uri="{BB962C8B-B14F-4D97-AF65-F5344CB8AC3E}">
        <p14:creationId xmlns:p14="http://schemas.microsoft.com/office/powerpoint/2010/main" val="700741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12CE40FE-341E-EF5C-6413-224C86E47FFD}"/>
              </a:ext>
            </a:extLst>
          </p:cNvPr>
          <p:cNvSpPr txBox="1"/>
          <p:nvPr/>
        </p:nvSpPr>
        <p:spPr>
          <a:xfrm>
            <a:off x="1373886" y="4619720"/>
            <a:ext cx="10330434" cy="923330"/>
          </a:xfrm>
          <a:prstGeom prst="rect">
            <a:avLst/>
          </a:prstGeom>
          <a:noFill/>
        </p:spPr>
        <p:txBody>
          <a:bodyPr wrap="square">
            <a:spAutoFit/>
          </a:bodyPr>
          <a:lstStyle/>
          <a:p>
            <a:pPr algn="just"/>
            <a:r>
              <a:rPr lang="en-US" dirty="0"/>
              <a:t>For example, in the above table if a new student named Nanda has joined the college and he has no department affiliation as the club allows intake of students only from second year. Then we can't insert the data of Nanda into the table since the </a:t>
            </a:r>
            <a:r>
              <a:rPr lang="en-US" dirty="0" err="1"/>
              <a:t>stu_club</a:t>
            </a:r>
            <a:r>
              <a:rPr lang="en-US" dirty="0"/>
              <a:t> field cannot accept null values.</a:t>
            </a:r>
            <a:endParaRPr lang="en-IN" dirty="0"/>
          </a:p>
        </p:txBody>
      </p:sp>
      <p:pic>
        <p:nvPicPr>
          <p:cNvPr id="13" name="Content Placeholder 12">
            <a:extLst>
              <a:ext uri="{FF2B5EF4-FFF2-40B4-BE49-F238E27FC236}">
                <a16:creationId xmlns:a16="http://schemas.microsoft.com/office/drawing/2014/main" id="{0F945BCC-C3B9-E54A-59E4-A16E1B34D999}"/>
              </a:ext>
            </a:extLst>
          </p:cNvPr>
          <p:cNvPicPr>
            <a:picLocks noGrp="1" noChangeAspect="1"/>
          </p:cNvPicPr>
          <p:nvPr>
            <p:ph idx="1"/>
          </p:nvPr>
        </p:nvPicPr>
        <p:blipFill>
          <a:blip r:embed="rId2"/>
          <a:stretch>
            <a:fillRect/>
          </a:stretch>
        </p:blipFill>
        <p:spPr>
          <a:xfrm>
            <a:off x="2146255" y="352066"/>
            <a:ext cx="8261713" cy="3932257"/>
          </a:xfrm>
        </p:spPr>
      </p:pic>
    </p:spTree>
    <p:extLst>
      <p:ext uri="{BB962C8B-B14F-4D97-AF65-F5344CB8AC3E}">
        <p14:creationId xmlns:p14="http://schemas.microsoft.com/office/powerpoint/2010/main" val="30949669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C795EB-2CC9-3237-4452-79BDCD3AE7AA}"/>
              </a:ext>
            </a:extLst>
          </p:cNvPr>
          <p:cNvSpPr>
            <a:spLocks noGrp="1"/>
          </p:cNvSpPr>
          <p:nvPr>
            <p:ph idx="1"/>
          </p:nvPr>
        </p:nvSpPr>
        <p:spPr>
          <a:xfrm>
            <a:off x="758952" y="338328"/>
            <a:ext cx="10594848" cy="5838635"/>
          </a:xfrm>
        </p:spPr>
        <p:txBody>
          <a:bodyPr>
            <a:normAutofit/>
          </a:bodyPr>
          <a:lstStyle/>
          <a:p>
            <a:pPr marL="0" indent="0" algn="just">
              <a:buNone/>
            </a:pPr>
            <a:r>
              <a:rPr lang="en-US" dirty="0">
                <a:solidFill>
                  <a:srgbClr val="C00000"/>
                </a:solidFill>
              </a:rPr>
              <a:t>2. Update Anomalies</a:t>
            </a:r>
          </a:p>
          <a:p>
            <a:pPr algn="just"/>
            <a:r>
              <a:rPr lang="en-US" dirty="0"/>
              <a:t>These happen when multiple instances of the same data need to be updated simultaneously to maintain consistency, but not all cases are updated, leading to discrepancies.</a:t>
            </a:r>
          </a:p>
          <a:p>
            <a:pPr algn="just"/>
            <a:r>
              <a:rPr lang="en-US" dirty="0">
                <a:solidFill>
                  <a:srgbClr val="C00000"/>
                </a:solidFill>
              </a:rPr>
              <a:t>Example:</a:t>
            </a:r>
          </a:p>
          <a:p>
            <a:pPr algn="just"/>
            <a:r>
              <a:rPr lang="en-US" dirty="0"/>
              <a:t>For student Muthu, we have two columns in the above table as he belongs to two clubs at the college. If we want to change Muthu's address, we must update it twice otherwise the data will be inconsistent.</a:t>
            </a:r>
          </a:p>
          <a:p>
            <a:pPr algn="just"/>
            <a:r>
              <a:rPr lang="en-US" dirty="0"/>
              <a:t>When the correct address gets updated in one club but not in another, Muthu would possess two different addresses, which is not acceptable and could result in inconsistent data.</a:t>
            </a:r>
          </a:p>
          <a:p>
            <a:pPr algn="just"/>
            <a:endParaRPr lang="en-US" dirty="0"/>
          </a:p>
          <a:p>
            <a:endParaRPr lang="en-IN" dirty="0"/>
          </a:p>
        </p:txBody>
      </p:sp>
    </p:spTree>
    <p:extLst>
      <p:ext uri="{BB962C8B-B14F-4D97-AF65-F5344CB8AC3E}">
        <p14:creationId xmlns:p14="http://schemas.microsoft.com/office/powerpoint/2010/main" val="27723920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C61345-4B91-6B4D-CDA1-4EB9F03A8D78}"/>
              </a:ext>
            </a:extLst>
          </p:cNvPr>
          <p:cNvSpPr>
            <a:spLocks noGrp="1"/>
          </p:cNvSpPr>
          <p:nvPr>
            <p:ph idx="1"/>
          </p:nvPr>
        </p:nvSpPr>
        <p:spPr>
          <a:xfrm>
            <a:off x="838200" y="536321"/>
            <a:ext cx="10515600" cy="4351338"/>
          </a:xfrm>
        </p:spPr>
        <p:txBody>
          <a:bodyPr/>
          <a:lstStyle/>
          <a:p>
            <a:pPr marL="0" indent="0" algn="just">
              <a:buNone/>
            </a:pPr>
            <a:r>
              <a:rPr lang="en-US" dirty="0">
                <a:solidFill>
                  <a:srgbClr val="C00000"/>
                </a:solidFill>
              </a:rPr>
              <a:t>3. Deletion Anomalies</a:t>
            </a:r>
          </a:p>
          <a:p>
            <a:pPr algn="just"/>
            <a:r>
              <a:rPr lang="en-US" dirty="0"/>
              <a:t>These arise when the deletion of specific data inadvertently results in the loss of additional, unintended data.</a:t>
            </a:r>
          </a:p>
          <a:p>
            <a:pPr algn="just"/>
            <a:r>
              <a:rPr lang="en-US" dirty="0"/>
              <a:t>Example: If deleting a student's record also removes information about a course, thereby losing data about other students enrolled in the same course, a deletion anomaly is present.</a:t>
            </a:r>
            <a:endParaRPr lang="en-IN" dirty="0"/>
          </a:p>
        </p:txBody>
      </p:sp>
    </p:spTree>
    <p:extLst>
      <p:ext uri="{BB962C8B-B14F-4D97-AF65-F5344CB8AC3E}">
        <p14:creationId xmlns:p14="http://schemas.microsoft.com/office/powerpoint/2010/main" val="41899468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3EA7DA-0776-4FDD-51A5-B94FCA50EFA9}"/>
              </a:ext>
            </a:extLst>
          </p:cNvPr>
          <p:cNvSpPr>
            <a:spLocks noGrp="1"/>
          </p:cNvSpPr>
          <p:nvPr>
            <p:ph idx="1"/>
          </p:nvPr>
        </p:nvSpPr>
        <p:spPr>
          <a:xfrm>
            <a:off x="896112" y="457200"/>
            <a:ext cx="10457688" cy="5719763"/>
          </a:xfrm>
        </p:spPr>
        <p:txBody>
          <a:bodyPr>
            <a:normAutofit lnSpcReduction="10000"/>
          </a:bodyPr>
          <a:lstStyle/>
          <a:p>
            <a:pPr marL="0" indent="0">
              <a:buNone/>
            </a:pPr>
            <a:r>
              <a:rPr lang="en-US" sz="3800" b="1" dirty="0">
                <a:solidFill>
                  <a:srgbClr val="C00000"/>
                </a:solidFill>
              </a:rPr>
              <a:t>Removal of Data Anomalies:</a:t>
            </a:r>
            <a:endParaRPr lang="en-US" sz="3300" b="1" dirty="0">
              <a:solidFill>
                <a:srgbClr val="C00000"/>
              </a:solidFill>
            </a:endParaRPr>
          </a:p>
          <a:p>
            <a:pPr algn="just"/>
            <a:r>
              <a:rPr lang="en-US" dirty="0"/>
              <a:t>Data normalization techniques are employed in database design to remove or minimize data anomalies. </a:t>
            </a:r>
          </a:p>
          <a:p>
            <a:pPr algn="just"/>
            <a:r>
              <a:rPr lang="en-US" dirty="0"/>
              <a:t>Normalization involves organizing data into multiple related tables to reduce redundancy and dependency. </a:t>
            </a:r>
          </a:p>
          <a:p>
            <a:pPr marL="0" indent="0" algn="just">
              <a:buNone/>
            </a:pPr>
            <a:r>
              <a:rPr lang="en-US" b="1" dirty="0">
                <a:solidFill>
                  <a:srgbClr val="C00000"/>
                </a:solidFill>
              </a:rPr>
              <a:t>Normalization</a:t>
            </a:r>
          </a:p>
          <a:p>
            <a:pPr algn="just"/>
            <a:r>
              <a:rPr lang="en-US" dirty="0"/>
              <a:t>Normalization is a systematic approach to organize data in a database to eliminate redundancy, avoid anomalies and ensure data consistency. </a:t>
            </a:r>
          </a:p>
          <a:p>
            <a:pPr algn="just"/>
            <a:r>
              <a:rPr lang="en-US" dirty="0"/>
              <a:t>The process involves breaking down large tables into smaller, well-structured ones and defining relationships between them. This not only reduces the chances of storing duplicate data but also improves the overall efficiency of the database.</a:t>
            </a:r>
          </a:p>
          <a:p>
            <a:pPr algn="just"/>
            <a:endParaRPr lang="en-US" dirty="0"/>
          </a:p>
          <a:p>
            <a:pPr algn="just"/>
            <a:endParaRPr lang="en-IN" dirty="0"/>
          </a:p>
        </p:txBody>
      </p:sp>
    </p:spTree>
    <p:extLst>
      <p:ext uri="{BB962C8B-B14F-4D97-AF65-F5344CB8AC3E}">
        <p14:creationId xmlns:p14="http://schemas.microsoft.com/office/powerpoint/2010/main" val="2070901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2A412-AC3F-6F90-1F4F-84E97DCFFC02}"/>
              </a:ext>
            </a:extLst>
          </p:cNvPr>
          <p:cNvSpPr>
            <a:spLocks noGrp="1"/>
          </p:cNvSpPr>
          <p:nvPr>
            <p:ph type="title"/>
          </p:nvPr>
        </p:nvSpPr>
        <p:spPr>
          <a:xfrm>
            <a:off x="838200" y="225085"/>
            <a:ext cx="10515600" cy="1081202"/>
          </a:xfrm>
        </p:spPr>
        <p:txBody>
          <a:bodyPr/>
          <a:lstStyle/>
          <a:p>
            <a:pPr algn="ctr"/>
            <a:r>
              <a:rPr lang="en-IN" b="1" dirty="0">
                <a:solidFill>
                  <a:srgbClr val="FF0000"/>
                </a:solidFill>
              </a:rPr>
              <a:t>Decomposition In DBMS</a:t>
            </a:r>
          </a:p>
        </p:txBody>
      </p:sp>
      <p:sp>
        <p:nvSpPr>
          <p:cNvPr id="3" name="Content Placeholder 2">
            <a:extLst>
              <a:ext uri="{FF2B5EF4-FFF2-40B4-BE49-F238E27FC236}">
                <a16:creationId xmlns:a16="http://schemas.microsoft.com/office/drawing/2014/main" id="{7039B6D4-5C51-89BF-2D3A-D5BB3AAFDF8C}"/>
              </a:ext>
            </a:extLst>
          </p:cNvPr>
          <p:cNvSpPr>
            <a:spLocks noGrp="1"/>
          </p:cNvSpPr>
          <p:nvPr>
            <p:ph idx="1"/>
          </p:nvPr>
        </p:nvSpPr>
        <p:spPr>
          <a:xfrm>
            <a:off x="925286" y="1306287"/>
            <a:ext cx="10439400" cy="4696506"/>
          </a:xfrm>
        </p:spPr>
        <p:txBody>
          <a:bodyPr/>
          <a:lstStyle/>
          <a:p>
            <a:pPr algn="just"/>
            <a:r>
              <a:rPr lang="en-US" dirty="0"/>
              <a:t>Decomposition refers to the division of tables into multiple tables to produce consistency in the data.</a:t>
            </a:r>
          </a:p>
          <a:p>
            <a:pPr algn="just"/>
            <a:r>
              <a:rPr lang="en-US" dirty="0"/>
              <a:t>When we divide a table into multiple tables or divide a relation into multiple relations, then this process is termed Decomposition in DBMS.</a:t>
            </a:r>
          </a:p>
          <a:p>
            <a:pPr algn="just"/>
            <a:r>
              <a:rPr lang="en-US" dirty="0"/>
              <a:t> When we perform decomposition in DBMS, we must try to ensure that no information or data is lost.</a:t>
            </a:r>
          </a:p>
          <a:p>
            <a:pPr algn="just"/>
            <a:endParaRPr lang="en-IN" dirty="0"/>
          </a:p>
        </p:txBody>
      </p:sp>
      <p:pic>
        <p:nvPicPr>
          <p:cNvPr id="4" name="Picture 3">
            <a:extLst>
              <a:ext uri="{FF2B5EF4-FFF2-40B4-BE49-F238E27FC236}">
                <a16:creationId xmlns:a16="http://schemas.microsoft.com/office/drawing/2014/main" id="{5FF37938-1878-795E-49B3-3BE6A460288D}"/>
              </a:ext>
            </a:extLst>
          </p:cNvPr>
          <p:cNvPicPr>
            <a:picLocks noChangeAspect="1"/>
          </p:cNvPicPr>
          <p:nvPr/>
        </p:nvPicPr>
        <p:blipFill>
          <a:blip r:embed="rId2"/>
          <a:srcRect t="8836" r="4896" b="9106"/>
          <a:stretch/>
        </p:blipFill>
        <p:spPr>
          <a:xfrm>
            <a:off x="6373585" y="4213364"/>
            <a:ext cx="4795157" cy="2452207"/>
          </a:xfrm>
          <a:prstGeom prst="rect">
            <a:avLst/>
          </a:prstGeom>
        </p:spPr>
      </p:pic>
    </p:spTree>
    <p:extLst>
      <p:ext uri="{BB962C8B-B14F-4D97-AF65-F5344CB8AC3E}">
        <p14:creationId xmlns:p14="http://schemas.microsoft.com/office/powerpoint/2010/main" val="16914038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629C4D-704B-7CE2-A0C2-95052DB68801}"/>
              </a:ext>
            </a:extLst>
          </p:cNvPr>
          <p:cNvSpPr>
            <a:spLocks noGrp="1"/>
          </p:cNvSpPr>
          <p:nvPr>
            <p:ph idx="1"/>
          </p:nvPr>
        </p:nvSpPr>
        <p:spPr>
          <a:xfrm>
            <a:off x="707571" y="432253"/>
            <a:ext cx="10537372" cy="5761717"/>
          </a:xfrm>
        </p:spPr>
        <p:txBody>
          <a:bodyPr/>
          <a:lstStyle/>
          <a:p>
            <a:pPr marL="0" indent="0" algn="ctr">
              <a:buNone/>
            </a:pPr>
            <a:r>
              <a:rPr lang="en-US" sz="4000" b="1" dirty="0">
                <a:solidFill>
                  <a:srgbClr val="C00000"/>
                </a:solidFill>
              </a:rPr>
              <a:t>Types of Decomposition</a:t>
            </a:r>
          </a:p>
          <a:p>
            <a:pPr marL="0" indent="0" algn="ctr">
              <a:buNone/>
            </a:pPr>
            <a:endParaRPr lang="en-US" sz="4000" b="1" dirty="0">
              <a:solidFill>
                <a:srgbClr val="C00000"/>
              </a:solidFill>
            </a:endParaRPr>
          </a:p>
          <a:p>
            <a:pPr marL="0" indent="0">
              <a:buNone/>
            </a:pPr>
            <a:r>
              <a:rPr lang="en-US" dirty="0"/>
              <a:t>There are two types of Decomposition:</a:t>
            </a:r>
          </a:p>
          <a:p>
            <a:r>
              <a:rPr lang="en-US" dirty="0"/>
              <a:t>Lossless Decomposition</a:t>
            </a:r>
          </a:p>
          <a:p>
            <a:r>
              <a:rPr lang="en-US" dirty="0"/>
              <a:t>Lossy Decomposition</a:t>
            </a:r>
            <a:endParaRPr lang="en-IN" dirty="0"/>
          </a:p>
        </p:txBody>
      </p:sp>
      <p:pic>
        <p:nvPicPr>
          <p:cNvPr id="4" name="Picture 3">
            <a:extLst>
              <a:ext uri="{FF2B5EF4-FFF2-40B4-BE49-F238E27FC236}">
                <a16:creationId xmlns:a16="http://schemas.microsoft.com/office/drawing/2014/main" id="{C37282AF-A6A7-77E2-5A45-70525C0730CC}"/>
              </a:ext>
            </a:extLst>
          </p:cNvPr>
          <p:cNvPicPr>
            <a:picLocks noChangeAspect="1"/>
          </p:cNvPicPr>
          <p:nvPr/>
        </p:nvPicPr>
        <p:blipFill>
          <a:blip r:embed="rId2"/>
          <a:srcRect l="5522" t="7703" r="6448" b="18347"/>
          <a:stretch/>
        </p:blipFill>
        <p:spPr>
          <a:xfrm>
            <a:off x="4887686" y="2645229"/>
            <a:ext cx="6204857" cy="2873828"/>
          </a:xfrm>
          <a:prstGeom prst="rect">
            <a:avLst/>
          </a:prstGeom>
        </p:spPr>
      </p:pic>
    </p:spTree>
    <p:extLst>
      <p:ext uri="{BB962C8B-B14F-4D97-AF65-F5344CB8AC3E}">
        <p14:creationId xmlns:p14="http://schemas.microsoft.com/office/powerpoint/2010/main" val="22824429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C144A5-8A16-5196-F4A0-EC090C36151D}"/>
              </a:ext>
            </a:extLst>
          </p:cNvPr>
          <p:cNvSpPr>
            <a:spLocks noGrp="1"/>
          </p:cNvSpPr>
          <p:nvPr>
            <p:ph idx="1"/>
          </p:nvPr>
        </p:nvSpPr>
        <p:spPr>
          <a:xfrm>
            <a:off x="838200" y="696686"/>
            <a:ext cx="10515600" cy="5480277"/>
          </a:xfrm>
        </p:spPr>
        <p:txBody>
          <a:bodyPr/>
          <a:lstStyle/>
          <a:p>
            <a:pPr marL="0" indent="0" algn="just">
              <a:buNone/>
            </a:pPr>
            <a:r>
              <a:rPr lang="en-US" sz="3600" b="1" dirty="0">
                <a:solidFill>
                  <a:srgbClr val="C00000"/>
                </a:solidFill>
              </a:rPr>
              <a:t>1. Lossless Decomposition</a:t>
            </a:r>
          </a:p>
          <a:p>
            <a:pPr marL="514350" indent="-514350" algn="just">
              <a:buAutoNum type="arabicPeriod"/>
            </a:pPr>
            <a:endParaRPr lang="en-US" sz="3200" b="1" dirty="0">
              <a:solidFill>
                <a:srgbClr val="C00000"/>
              </a:solidFill>
            </a:endParaRPr>
          </a:p>
          <a:p>
            <a:pPr algn="just"/>
            <a:r>
              <a:rPr lang="en-US" dirty="0"/>
              <a:t>A decomposition is said to be lossless when it is feasible to reconstruct the original relation R using joins from the decomposed tables. </a:t>
            </a:r>
          </a:p>
          <a:p>
            <a:pPr algn="just"/>
            <a:r>
              <a:rPr lang="en-US" dirty="0"/>
              <a:t>It is the most preferred choice. This way, the information will not be lost from the relation when we decompose it. </a:t>
            </a:r>
          </a:p>
          <a:p>
            <a:pPr algn="just"/>
            <a:r>
              <a:rPr lang="en-US" dirty="0"/>
              <a:t>A lossless join would eventually result in the original relation that is very similar.</a:t>
            </a:r>
            <a:endParaRPr lang="en-IN" dirty="0"/>
          </a:p>
        </p:txBody>
      </p:sp>
    </p:spTree>
    <p:extLst>
      <p:ext uri="{BB962C8B-B14F-4D97-AF65-F5344CB8AC3E}">
        <p14:creationId xmlns:p14="http://schemas.microsoft.com/office/powerpoint/2010/main" val="1161538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ABADC6-CD0A-C5C6-AA75-F030B8B7E23D}"/>
              </a:ext>
            </a:extLst>
          </p:cNvPr>
          <p:cNvSpPr>
            <a:spLocks noGrp="1"/>
          </p:cNvSpPr>
          <p:nvPr>
            <p:ph idx="1"/>
          </p:nvPr>
        </p:nvSpPr>
        <p:spPr>
          <a:xfrm>
            <a:off x="685800" y="484414"/>
            <a:ext cx="10668000" cy="5889172"/>
          </a:xfrm>
        </p:spPr>
        <p:txBody>
          <a:bodyPr>
            <a:normAutofit/>
          </a:bodyPr>
          <a:lstStyle/>
          <a:p>
            <a:pPr algn="just"/>
            <a:r>
              <a:rPr lang="en-US" dirty="0"/>
              <a:t>We can follow certain rules to ensure that the decomposition is a lossless join decomposition Let’s say we have a relation </a:t>
            </a:r>
            <a:r>
              <a:rPr lang="en-US" dirty="0">
                <a:solidFill>
                  <a:srgbClr val="C00000"/>
                </a:solidFill>
              </a:rPr>
              <a:t>R</a:t>
            </a:r>
            <a:r>
              <a:rPr lang="en-US" dirty="0"/>
              <a:t> and we decomposed it into </a:t>
            </a:r>
            <a:r>
              <a:rPr lang="en-US" dirty="0">
                <a:solidFill>
                  <a:srgbClr val="C00000"/>
                </a:solidFill>
              </a:rPr>
              <a:t>R1 </a:t>
            </a:r>
            <a:r>
              <a:rPr lang="en-US" dirty="0"/>
              <a:t>and </a:t>
            </a:r>
            <a:r>
              <a:rPr lang="en-US" dirty="0">
                <a:solidFill>
                  <a:srgbClr val="C00000"/>
                </a:solidFill>
              </a:rPr>
              <a:t>R2</a:t>
            </a:r>
            <a:r>
              <a:rPr lang="en-US" dirty="0"/>
              <a:t>, then the rules are:</a:t>
            </a:r>
          </a:p>
          <a:p>
            <a:pPr algn="just"/>
            <a:r>
              <a:rPr lang="en-US" dirty="0"/>
              <a:t>The union of attributes of both the sub relations R1 and R2 must contain all the attributes of original relation R.</a:t>
            </a:r>
          </a:p>
          <a:p>
            <a:pPr marL="0" indent="0" algn="just">
              <a:buNone/>
            </a:pPr>
            <a:r>
              <a:rPr lang="en-US" dirty="0"/>
              <a:t>   </a:t>
            </a:r>
            <a:r>
              <a:rPr lang="en-US" dirty="0">
                <a:solidFill>
                  <a:srgbClr val="C00000"/>
                </a:solidFill>
              </a:rPr>
              <a:t>R1 ∪ R2 = R</a:t>
            </a:r>
          </a:p>
          <a:p>
            <a:pPr algn="just"/>
            <a:r>
              <a:rPr lang="en-US" dirty="0"/>
              <a:t>The intersection of attributes of both the sub relations R1 and R2 must not be null, i.e., there should be some attributes that are present in both R1 and R2.</a:t>
            </a:r>
          </a:p>
          <a:p>
            <a:pPr marL="0" indent="0" algn="just">
              <a:buNone/>
            </a:pPr>
            <a:r>
              <a:rPr lang="en-US" dirty="0"/>
              <a:t>   </a:t>
            </a:r>
            <a:r>
              <a:rPr lang="en-US" dirty="0">
                <a:solidFill>
                  <a:srgbClr val="C00000"/>
                </a:solidFill>
              </a:rPr>
              <a:t>R1 ∩ R2 ≠ ∅</a:t>
            </a:r>
          </a:p>
          <a:p>
            <a:pPr algn="just"/>
            <a:r>
              <a:rPr lang="en-US" dirty="0"/>
              <a:t>The intersection of attributes of both the sub relations R1 and R2 must be the </a:t>
            </a:r>
            <a:r>
              <a:rPr lang="en-US" dirty="0" err="1"/>
              <a:t>superkey</a:t>
            </a:r>
            <a:r>
              <a:rPr lang="en-US" dirty="0"/>
              <a:t> of R1 or R2, or both R1 and R2.</a:t>
            </a:r>
          </a:p>
          <a:p>
            <a:pPr marL="0" indent="0" algn="just">
              <a:buNone/>
            </a:pPr>
            <a:r>
              <a:rPr lang="en-US" dirty="0"/>
              <a:t>   </a:t>
            </a:r>
            <a:r>
              <a:rPr lang="en-US" dirty="0">
                <a:solidFill>
                  <a:srgbClr val="C00000"/>
                </a:solidFill>
              </a:rPr>
              <a:t>R1 ∩ R2 = Super key of R1 or R2</a:t>
            </a:r>
            <a:endParaRPr lang="en-IN" dirty="0">
              <a:solidFill>
                <a:srgbClr val="C00000"/>
              </a:solidFill>
            </a:endParaRPr>
          </a:p>
        </p:txBody>
      </p:sp>
    </p:spTree>
    <p:extLst>
      <p:ext uri="{BB962C8B-B14F-4D97-AF65-F5344CB8AC3E}">
        <p14:creationId xmlns:p14="http://schemas.microsoft.com/office/powerpoint/2010/main" val="6770670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F3C18-FBDB-811B-BB80-4E9E10B60429}"/>
              </a:ext>
            </a:extLst>
          </p:cNvPr>
          <p:cNvSpPr>
            <a:spLocks noGrp="1"/>
          </p:cNvSpPr>
          <p:nvPr>
            <p:ph type="title"/>
          </p:nvPr>
        </p:nvSpPr>
        <p:spPr/>
        <p:txBody>
          <a:bodyPr>
            <a:normAutofit/>
          </a:bodyPr>
          <a:lstStyle/>
          <a:p>
            <a:r>
              <a:rPr lang="en-IN" sz="4000" b="1" dirty="0">
                <a:solidFill>
                  <a:srgbClr val="C00000"/>
                </a:solidFill>
              </a:rPr>
              <a:t>2. Lossy Decomposition</a:t>
            </a:r>
          </a:p>
        </p:txBody>
      </p:sp>
      <p:sp>
        <p:nvSpPr>
          <p:cNvPr id="3" name="Content Placeholder 2">
            <a:extLst>
              <a:ext uri="{FF2B5EF4-FFF2-40B4-BE49-F238E27FC236}">
                <a16:creationId xmlns:a16="http://schemas.microsoft.com/office/drawing/2014/main" id="{FBE66378-134B-68B7-456C-3F19F9204B44}"/>
              </a:ext>
            </a:extLst>
          </p:cNvPr>
          <p:cNvSpPr>
            <a:spLocks noGrp="1"/>
          </p:cNvSpPr>
          <p:nvPr>
            <p:ph idx="1"/>
          </p:nvPr>
        </p:nvSpPr>
        <p:spPr/>
        <p:txBody>
          <a:bodyPr/>
          <a:lstStyle/>
          <a:p>
            <a:pPr algn="just"/>
            <a:r>
              <a:rPr lang="en-US" dirty="0"/>
              <a:t>Lossy decomposition means when we perform a join operation on the sub-relations it doesn't result in the same relation that was decomposed.</a:t>
            </a:r>
          </a:p>
          <a:p>
            <a:pPr algn="just"/>
            <a:r>
              <a:rPr lang="en-US" dirty="0"/>
              <a:t> Lossy decomposition is when a relation gets decomposed into multiple relational schemas, in such a way that retrieving the original relation leads to a loss of information. </a:t>
            </a:r>
          </a:p>
          <a:p>
            <a:pPr algn="just"/>
            <a:r>
              <a:rPr lang="en-US" dirty="0"/>
              <a:t>Thus, a lossy decomposition is bound to lose information.</a:t>
            </a:r>
            <a:endParaRPr lang="en-IN" dirty="0"/>
          </a:p>
        </p:txBody>
      </p:sp>
    </p:spTree>
    <p:extLst>
      <p:ext uri="{BB962C8B-B14F-4D97-AF65-F5344CB8AC3E}">
        <p14:creationId xmlns:p14="http://schemas.microsoft.com/office/powerpoint/2010/main" val="24415781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24299B-A68B-0DD6-1CB8-CB108B169960}"/>
              </a:ext>
            </a:extLst>
          </p:cNvPr>
          <p:cNvSpPr>
            <a:spLocks noGrp="1"/>
          </p:cNvSpPr>
          <p:nvPr>
            <p:ph idx="1"/>
          </p:nvPr>
        </p:nvSpPr>
        <p:spPr>
          <a:xfrm>
            <a:off x="740229" y="457200"/>
            <a:ext cx="10613571" cy="5719763"/>
          </a:xfrm>
        </p:spPr>
        <p:txBody>
          <a:bodyPr/>
          <a:lstStyle/>
          <a:p>
            <a:pPr marL="0" indent="0" algn="ctr">
              <a:buNone/>
            </a:pPr>
            <a:r>
              <a:rPr lang="en-US" sz="4000" b="1" dirty="0">
                <a:solidFill>
                  <a:srgbClr val="C00000"/>
                </a:solidFill>
              </a:rPr>
              <a:t>Properties of Decomposition</a:t>
            </a:r>
          </a:p>
          <a:p>
            <a:pPr marL="0" indent="0" algn="ctr">
              <a:buNone/>
            </a:pPr>
            <a:endParaRPr lang="en-US" sz="4000" b="1" dirty="0">
              <a:solidFill>
                <a:srgbClr val="C00000"/>
              </a:solidFill>
            </a:endParaRPr>
          </a:p>
          <a:p>
            <a:pPr marL="0" indent="0">
              <a:buNone/>
            </a:pPr>
            <a:r>
              <a:rPr lang="en-US" dirty="0"/>
              <a:t>Decomposition must have the following properties:</a:t>
            </a:r>
          </a:p>
          <a:p>
            <a:pPr marL="457200" lvl="1" indent="0">
              <a:buNone/>
            </a:pPr>
            <a:r>
              <a:rPr lang="en-US" sz="2800" dirty="0"/>
              <a:t>1. Decomposition Must be Lossless</a:t>
            </a:r>
          </a:p>
          <a:p>
            <a:pPr marL="457200" lvl="1" indent="0">
              <a:buNone/>
            </a:pPr>
            <a:r>
              <a:rPr lang="en-US" sz="2800" dirty="0"/>
              <a:t>2. Dependency Preservation</a:t>
            </a:r>
          </a:p>
          <a:p>
            <a:pPr marL="457200" lvl="1" indent="0">
              <a:buNone/>
            </a:pPr>
            <a:r>
              <a:rPr lang="en-US" sz="2800" dirty="0"/>
              <a:t>3. Lack of Data Redundancy</a:t>
            </a:r>
            <a:endParaRPr lang="en-IN" sz="2800" dirty="0"/>
          </a:p>
        </p:txBody>
      </p:sp>
    </p:spTree>
    <p:extLst>
      <p:ext uri="{BB962C8B-B14F-4D97-AF65-F5344CB8AC3E}">
        <p14:creationId xmlns:p14="http://schemas.microsoft.com/office/powerpoint/2010/main" val="3295582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BE6514-4418-F34C-B979-C5C7C6B9E918}"/>
              </a:ext>
            </a:extLst>
          </p:cNvPr>
          <p:cNvSpPr>
            <a:spLocks noGrp="1"/>
          </p:cNvSpPr>
          <p:nvPr>
            <p:ph idx="1"/>
          </p:nvPr>
        </p:nvSpPr>
        <p:spPr>
          <a:xfrm>
            <a:off x="337457" y="195943"/>
            <a:ext cx="11016343" cy="5981020"/>
          </a:xfrm>
        </p:spPr>
        <p:txBody>
          <a:bodyPr>
            <a:normAutofit/>
          </a:bodyPr>
          <a:lstStyle/>
          <a:p>
            <a:pPr marL="0" indent="0">
              <a:buNone/>
            </a:pPr>
            <a:endParaRPr lang="en-US" dirty="0"/>
          </a:p>
          <a:p>
            <a:pPr marL="0" indent="0" algn="just">
              <a:buNone/>
            </a:pPr>
            <a:r>
              <a:rPr lang="en-US" sz="3200" b="1" dirty="0">
                <a:solidFill>
                  <a:srgbClr val="C00000"/>
                </a:solidFill>
              </a:rPr>
              <a:t>Dependency Preservation</a:t>
            </a:r>
          </a:p>
          <a:p>
            <a:pPr marL="0" indent="0" algn="just">
              <a:buNone/>
            </a:pPr>
            <a:r>
              <a:rPr lang="en-US" dirty="0"/>
              <a:t>It says that after decomposing a relation R into R1 and R2, all dependencies of the original relation R must be present either in R1 or R2 or they must be derivable using the combination of functional dependencies present in R1 and R2.</a:t>
            </a:r>
          </a:p>
          <a:p>
            <a:pPr marL="0" indent="0" algn="just">
              <a:buNone/>
            </a:pPr>
            <a:r>
              <a:rPr lang="en-US" dirty="0"/>
              <a:t>Let’s say:</a:t>
            </a:r>
          </a:p>
          <a:p>
            <a:pPr algn="just"/>
            <a:r>
              <a:rPr lang="en-US" dirty="0"/>
              <a:t>The original relation R has a set of functional dependencies (FDs) called F. When we decompose R into R1​ and R2​, each gets its own FDs:</a:t>
            </a:r>
          </a:p>
          <a:p>
            <a:pPr algn="just"/>
            <a:r>
              <a:rPr lang="en-US" dirty="0"/>
              <a:t>f1​: FDs in R1​</a:t>
            </a:r>
          </a:p>
          <a:p>
            <a:pPr algn="just"/>
            <a:r>
              <a:rPr lang="en-US" dirty="0"/>
              <a:t>f2​: FDs in R2</a:t>
            </a:r>
          </a:p>
          <a:p>
            <a:pPr algn="just"/>
            <a:r>
              <a:rPr lang="en-US" dirty="0"/>
              <a:t>The combined FDs from R1​ and R2​ are f1∪f2​.</a:t>
            </a:r>
          </a:p>
        </p:txBody>
      </p:sp>
    </p:spTree>
    <p:extLst>
      <p:ext uri="{BB962C8B-B14F-4D97-AF65-F5344CB8AC3E}">
        <p14:creationId xmlns:p14="http://schemas.microsoft.com/office/powerpoint/2010/main" val="32637116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432689-A09A-4464-62DA-782A8E7CA4EE}"/>
              </a:ext>
            </a:extLst>
          </p:cNvPr>
          <p:cNvSpPr>
            <a:spLocks noGrp="1"/>
          </p:cNvSpPr>
          <p:nvPr>
            <p:ph idx="1"/>
          </p:nvPr>
        </p:nvSpPr>
        <p:spPr>
          <a:xfrm>
            <a:off x="772886" y="424543"/>
            <a:ext cx="10580914" cy="5752420"/>
          </a:xfrm>
        </p:spPr>
        <p:txBody>
          <a:bodyPr>
            <a:normAutofit fontScale="92500" lnSpcReduction="20000"/>
          </a:bodyPr>
          <a:lstStyle/>
          <a:p>
            <a:pPr algn="just"/>
            <a:r>
              <a:rPr lang="en-US" dirty="0"/>
              <a:t>Now, there are three possible cases:</a:t>
            </a:r>
          </a:p>
          <a:p>
            <a:pPr algn="just"/>
            <a:r>
              <a:rPr lang="en-US" dirty="0">
                <a:solidFill>
                  <a:srgbClr val="C00000"/>
                </a:solidFill>
              </a:rPr>
              <a:t>Case 1: </a:t>
            </a:r>
            <a:r>
              <a:rPr lang="en-US" dirty="0"/>
              <a:t>f1 ∪ f2 = F</a:t>
            </a:r>
          </a:p>
          <a:p>
            <a:pPr algn="just"/>
            <a:r>
              <a:rPr lang="en-US" dirty="0"/>
              <a:t>This means the FDs from R1​ and R2​ together exactly match the original FDs F.</a:t>
            </a:r>
          </a:p>
          <a:p>
            <a:pPr algn="just"/>
            <a:r>
              <a:rPr lang="en-US" dirty="0"/>
              <a:t>Result: The decomposition is dependency-preserving because we haven’t lost any FDs.</a:t>
            </a:r>
            <a:endParaRPr lang="en-US" dirty="0">
              <a:solidFill>
                <a:srgbClr val="C00000"/>
              </a:solidFill>
            </a:endParaRPr>
          </a:p>
          <a:p>
            <a:pPr algn="just"/>
            <a:r>
              <a:rPr lang="en-US" dirty="0">
                <a:solidFill>
                  <a:srgbClr val="C00000"/>
                </a:solidFill>
              </a:rPr>
              <a:t>Case 2: </a:t>
            </a:r>
            <a:r>
              <a:rPr lang="en-US" dirty="0"/>
              <a:t>f1 ∪ f2 ⊂ F</a:t>
            </a:r>
          </a:p>
          <a:p>
            <a:pPr algn="just"/>
            <a:r>
              <a:rPr lang="en-US" dirty="0"/>
              <a:t>This means some FDs from the original set F are missing in f1∪f2.</a:t>
            </a:r>
          </a:p>
          <a:p>
            <a:pPr algn="just"/>
            <a:r>
              <a:rPr lang="en-US" dirty="0"/>
              <a:t>Result: The decomposition is not dependency-preserving, as we’ve lost some FDs.</a:t>
            </a:r>
          </a:p>
          <a:p>
            <a:pPr algn="just"/>
            <a:r>
              <a:rPr lang="en-US" dirty="0">
                <a:solidFill>
                  <a:srgbClr val="C00000"/>
                </a:solidFill>
              </a:rPr>
              <a:t>Case 3:</a:t>
            </a:r>
            <a:r>
              <a:rPr lang="en-US" dirty="0"/>
              <a:t> f1 ∪ f2 ⊃ F</a:t>
            </a:r>
          </a:p>
          <a:p>
            <a:pPr algn="just"/>
            <a:r>
              <a:rPr lang="en-US" dirty="0"/>
              <a:t>This means the FDs from R1 and R2 contain extra dependencies that were not part of F.</a:t>
            </a:r>
          </a:p>
          <a:p>
            <a:pPr algn="just"/>
            <a:r>
              <a:rPr lang="en-US" dirty="0"/>
              <a:t>Result: This case is technically possible but uncommon. These extra dependencies may not cause direct problems but could lead to inconsistencies or unexpected behavior.</a:t>
            </a:r>
            <a:endParaRPr lang="en-IN" dirty="0"/>
          </a:p>
        </p:txBody>
      </p:sp>
    </p:spTree>
    <p:extLst>
      <p:ext uri="{BB962C8B-B14F-4D97-AF65-F5344CB8AC3E}">
        <p14:creationId xmlns:p14="http://schemas.microsoft.com/office/powerpoint/2010/main" val="19841367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694CE-0109-79E5-61FD-C8F8DF62A3AB}"/>
              </a:ext>
            </a:extLst>
          </p:cNvPr>
          <p:cNvSpPr>
            <a:spLocks noGrp="1"/>
          </p:cNvSpPr>
          <p:nvPr>
            <p:ph type="title"/>
          </p:nvPr>
        </p:nvSpPr>
        <p:spPr>
          <a:xfrm>
            <a:off x="838200" y="-146504"/>
            <a:ext cx="10515600" cy="1325563"/>
          </a:xfrm>
        </p:spPr>
        <p:txBody>
          <a:bodyPr/>
          <a:lstStyle/>
          <a:p>
            <a:pPr algn="ctr"/>
            <a:r>
              <a:rPr lang="en-IN" b="1" dirty="0">
                <a:solidFill>
                  <a:srgbClr val="C00000"/>
                </a:solidFill>
              </a:rPr>
              <a:t>Functional Dependency</a:t>
            </a:r>
          </a:p>
        </p:txBody>
      </p:sp>
      <p:sp>
        <p:nvSpPr>
          <p:cNvPr id="3" name="Content Placeholder 2">
            <a:extLst>
              <a:ext uri="{FF2B5EF4-FFF2-40B4-BE49-F238E27FC236}">
                <a16:creationId xmlns:a16="http://schemas.microsoft.com/office/drawing/2014/main" id="{22CE29CD-8534-37E9-3CCA-0291AC3F7694}"/>
              </a:ext>
            </a:extLst>
          </p:cNvPr>
          <p:cNvSpPr>
            <a:spLocks noGrp="1"/>
          </p:cNvSpPr>
          <p:nvPr>
            <p:ph idx="1"/>
          </p:nvPr>
        </p:nvSpPr>
        <p:spPr>
          <a:xfrm>
            <a:off x="718457" y="1069294"/>
            <a:ext cx="10635343" cy="5788706"/>
          </a:xfrm>
        </p:spPr>
        <p:txBody>
          <a:bodyPr>
            <a:normAutofit/>
          </a:bodyPr>
          <a:lstStyle/>
          <a:p>
            <a:pPr algn="just"/>
            <a:r>
              <a:rPr lang="en-US" dirty="0"/>
              <a:t>In relational database management, functional dependency is a concept that specifies the relationship between two sets of attributes where one attribute determines the value of another attribute. </a:t>
            </a:r>
          </a:p>
          <a:p>
            <a:pPr algn="just"/>
            <a:endParaRPr lang="en-US" dirty="0"/>
          </a:p>
          <a:p>
            <a:pPr algn="just"/>
            <a:r>
              <a:rPr lang="en-US" dirty="0"/>
              <a:t>It is denoted as X → Y, where the attribute set on the left side of the arrow, X is called </a:t>
            </a:r>
            <a:r>
              <a:rPr lang="en-US" dirty="0">
                <a:solidFill>
                  <a:srgbClr val="0070C0"/>
                </a:solidFill>
              </a:rPr>
              <a:t>Determinant</a:t>
            </a:r>
            <a:r>
              <a:rPr lang="en-US" dirty="0"/>
              <a:t>, and Y is called the </a:t>
            </a:r>
            <a:r>
              <a:rPr lang="en-US" dirty="0">
                <a:solidFill>
                  <a:srgbClr val="0070C0"/>
                </a:solidFill>
              </a:rPr>
              <a:t>Dependent.</a:t>
            </a:r>
            <a:r>
              <a:rPr lang="en-US" dirty="0"/>
              <a:t> </a:t>
            </a:r>
          </a:p>
          <a:p>
            <a:pPr lvl="1" algn="just"/>
            <a:r>
              <a:rPr lang="en-US" dirty="0"/>
              <a:t> “X" is the determinant because it uniquely determines the value of “Y”.</a:t>
            </a:r>
          </a:p>
          <a:p>
            <a:pPr lvl="1" algn="just"/>
            <a:r>
              <a:rPr lang="en-US" dirty="0"/>
              <a:t>“Y" is the dependent because its value depends on the value of “X“.</a:t>
            </a:r>
          </a:p>
          <a:p>
            <a:pPr lvl="1" algn="just"/>
            <a:endParaRPr lang="en-US" dirty="0"/>
          </a:p>
          <a:p>
            <a:pPr algn="just"/>
            <a:r>
              <a:rPr lang="en-US" dirty="0"/>
              <a:t>It is a constraint that describes how attributes in a table relate to each other.</a:t>
            </a:r>
          </a:p>
        </p:txBody>
      </p:sp>
    </p:spTree>
    <p:extLst>
      <p:ext uri="{BB962C8B-B14F-4D97-AF65-F5344CB8AC3E}">
        <p14:creationId xmlns:p14="http://schemas.microsoft.com/office/powerpoint/2010/main" val="37611417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77C9E0-890C-FA5F-EBAA-B1C0F8C62581}"/>
              </a:ext>
            </a:extLst>
          </p:cNvPr>
          <p:cNvSpPr>
            <a:spLocks noGrp="1"/>
          </p:cNvSpPr>
          <p:nvPr>
            <p:ph idx="1"/>
          </p:nvPr>
        </p:nvSpPr>
        <p:spPr>
          <a:xfrm>
            <a:off x="849086" y="772886"/>
            <a:ext cx="10504714" cy="5404077"/>
          </a:xfrm>
        </p:spPr>
        <p:txBody>
          <a:bodyPr/>
          <a:lstStyle/>
          <a:p>
            <a:pPr marL="0" indent="0" algn="just">
              <a:buNone/>
            </a:pPr>
            <a:r>
              <a:rPr lang="en-US" sz="3200" b="1" dirty="0">
                <a:solidFill>
                  <a:srgbClr val="C00000"/>
                </a:solidFill>
              </a:rPr>
              <a:t>Example of Functional Dependency Notation</a:t>
            </a:r>
          </a:p>
          <a:p>
            <a:pPr algn="just"/>
            <a:endParaRPr lang="en-US" sz="3200" dirty="0"/>
          </a:p>
          <a:p>
            <a:pPr algn="just"/>
            <a:r>
              <a:rPr lang="en-US" dirty="0"/>
              <a:t>Suppose we have a table with attributes A, B, and C. If attribute A determines the values of attributes B and C, we denote this as:</a:t>
            </a:r>
          </a:p>
          <a:p>
            <a:pPr marL="0" indent="0" algn="just">
              <a:buNone/>
            </a:pPr>
            <a:r>
              <a:rPr lang="en-US" dirty="0"/>
              <a:t>                                                        A → B, C</a:t>
            </a:r>
          </a:p>
          <a:p>
            <a:pPr algn="just"/>
            <a:r>
              <a:rPr lang="en-US" dirty="0"/>
              <a:t>This notation means that if you know the value of A, you can determine the values of B and C.</a:t>
            </a:r>
          </a:p>
          <a:p>
            <a:endParaRPr lang="en-IN" dirty="0"/>
          </a:p>
        </p:txBody>
      </p:sp>
    </p:spTree>
    <p:extLst>
      <p:ext uri="{BB962C8B-B14F-4D97-AF65-F5344CB8AC3E}">
        <p14:creationId xmlns:p14="http://schemas.microsoft.com/office/powerpoint/2010/main" val="16969529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8B02EF-BE95-A152-0E07-589765C56A34}"/>
              </a:ext>
            </a:extLst>
          </p:cNvPr>
          <p:cNvSpPr>
            <a:spLocks noGrp="1"/>
          </p:cNvSpPr>
          <p:nvPr>
            <p:ph idx="1"/>
          </p:nvPr>
        </p:nvSpPr>
        <p:spPr>
          <a:xfrm>
            <a:off x="805543" y="500742"/>
            <a:ext cx="10548257" cy="5812971"/>
          </a:xfrm>
        </p:spPr>
        <p:txBody>
          <a:bodyPr>
            <a:normAutofit lnSpcReduction="10000"/>
          </a:bodyPr>
          <a:lstStyle/>
          <a:p>
            <a:pPr marL="0" indent="0">
              <a:buNone/>
            </a:pPr>
            <a:r>
              <a:rPr lang="en-US" b="1" dirty="0">
                <a:solidFill>
                  <a:srgbClr val="C00000"/>
                </a:solidFill>
              </a:rPr>
              <a:t>Fully Functional Dependency :</a:t>
            </a:r>
          </a:p>
          <a:p>
            <a:pPr algn="just"/>
            <a:r>
              <a:rPr lang="en-US" dirty="0"/>
              <a:t>If X and Y are an attribute set of a relation, Y is fully functional dependent on X, if Y is functionally dependent on X but not on any proper subset of X.</a:t>
            </a:r>
          </a:p>
          <a:p>
            <a:pPr marL="0" indent="0" algn="just">
              <a:buNone/>
            </a:pPr>
            <a:r>
              <a:rPr lang="en-US" b="1" dirty="0">
                <a:solidFill>
                  <a:srgbClr val="C00000"/>
                </a:solidFill>
              </a:rPr>
              <a:t>Example  –</a:t>
            </a:r>
          </a:p>
          <a:p>
            <a:pPr algn="just"/>
            <a:r>
              <a:rPr lang="en-US" dirty="0"/>
              <a:t>In the relation ABC-&gt;D, attribute D is fully functionally dependent on ABC  and not on any proper subset of ABC. That means that subsets of ABC like AB, BC, A, B, </a:t>
            </a:r>
            <a:r>
              <a:rPr lang="en-US" dirty="0" err="1"/>
              <a:t>etc</a:t>
            </a:r>
            <a:r>
              <a:rPr lang="en-US" dirty="0"/>
              <a:t> cannot determine D.</a:t>
            </a:r>
          </a:p>
          <a:p>
            <a:pPr algn="just"/>
            <a:endParaRPr lang="en-US" dirty="0"/>
          </a:p>
          <a:p>
            <a:pPr marL="0" indent="0" algn="just">
              <a:buNone/>
            </a:pPr>
            <a:r>
              <a:rPr lang="en-US" b="1" dirty="0">
                <a:solidFill>
                  <a:srgbClr val="C00000"/>
                </a:solidFill>
              </a:rPr>
              <a:t>Partial Functional Dependency :</a:t>
            </a:r>
          </a:p>
          <a:p>
            <a:pPr algn="just"/>
            <a:r>
              <a:rPr lang="en-US" dirty="0"/>
              <a:t>A functional dependency X-&gt;Y is a partial dependency if Y is functionally dependent on X and Y can be determined by any proper subset of X.</a:t>
            </a:r>
          </a:p>
          <a:p>
            <a:pPr algn="just"/>
            <a:r>
              <a:rPr lang="en-US" dirty="0"/>
              <a:t>For example, we have a relationship  AC-&gt;B, A-&gt;D, and D-&gt;B. </a:t>
            </a:r>
            <a:endParaRPr lang="en-IN" dirty="0"/>
          </a:p>
        </p:txBody>
      </p:sp>
    </p:spTree>
    <p:extLst>
      <p:ext uri="{BB962C8B-B14F-4D97-AF65-F5344CB8AC3E}">
        <p14:creationId xmlns:p14="http://schemas.microsoft.com/office/powerpoint/2010/main" val="5861443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10B39B-F699-DE71-7764-8671BC1D2D89}"/>
              </a:ext>
            </a:extLst>
          </p:cNvPr>
          <p:cNvSpPr>
            <a:spLocks noGrp="1"/>
          </p:cNvSpPr>
          <p:nvPr>
            <p:ph idx="1"/>
          </p:nvPr>
        </p:nvSpPr>
        <p:spPr>
          <a:xfrm>
            <a:off x="696686" y="653143"/>
            <a:ext cx="10657114" cy="5523820"/>
          </a:xfrm>
        </p:spPr>
        <p:txBody>
          <a:bodyPr/>
          <a:lstStyle/>
          <a:p>
            <a:pPr marL="0" indent="0">
              <a:buNone/>
            </a:pPr>
            <a:r>
              <a:rPr lang="en-US" sz="3200" b="1" dirty="0">
                <a:solidFill>
                  <a:srgbClr val="C00000"/>
                </a:solidFill>
              </a:rPr>
              <a:t>Types of Functional Dependency</a:t>
            </a:r>
          </a:p>
          <a:p>
            <a:pPr marL="0" indent="0">
              <a:buNone/>
            </a:pPr>
            <a:endParaRPr lang="en-US" sz="3200" b="1" dirty="0">
              <a:solidFill>
                <a:srgbClr val="C00000"/>
              </a:solidFill>
            </a:endParaRPr>
          </a:p>
          <a:p>
            <a:r>
              <a:rPr lang="en-US" dirty="0"/>
              <a:t>The Functional Dependencies are of four major types:</a:t>
            </a:r>
          </a:p>
          <a:p>
            <a:pPr lvl="1"/>
            <a:r>
              <a:rPr lang="en-US" sz="2800" dirty="0"/>
              <a:t>Trivial FD</a:t>
            </a:r>
          </a:p>
          <a:p>
            <a:pPr lvl="1"/>
            <a:r>
              <a:rPr lang="en-US" sz="2800" dirty="0"/>
              <a:t>Non-Trivial FD</a:t>
            </a:r>
            <a:endParaRPr lang="en-IN" sz="2800" dirty="0"/>
          </a:p>
        </p:txBody>
      </p:sp>
      <p:pic>
        <p:nvPicPr>
          <p:cNvPr id="4" name="Picture 3">
            <a:extLst>
              <a:ext uri="{FF2B5EF4-FFF2-40B4-BE49-F238E27FC236}">
                <a16:creationId xmlns:a16="http://schemas.microsoft.com/office/drawing/2014/main" id="{EBCCB2F2-B8EA-F33B-4939-2FF17B1B7E49}"/>
              </a:ext>
            </a:extLst>
          </p:cNvPr>
          <p:cNvPicPr>
            <a:picLocks noChangeAspect="1"/>
          </p:cNvPicPr>
          <p:nvPr/>
        </p:nvPicPr>
        <p:blipFill>
          <a:blip r:embed="rId2"/>
          <a:stretch>
            <a:fillRect/>
          </a:stretch>
        </p:blipFill>
        <p:spPr>
          <a:xfrm>
            <a:off x="6153576" y="2518229"/>
            <a:ext cx="4264052" cy="3686628"/>
          </a:xfrm>
          <a:prstGeom prst="rect">
            <a:avLst/>
          </a:prstGeom>
        </p:spPr>
      </p:pic>
    </p:spTree>
    <p:extLst>
      <p:ext uri="{BB962C8B-B14F-4D97-AF65-F5344CB8AC3E}">
        <p14:creationId xmlns:p14="http://schemas.microsoft.com/office/powerpoint/2010/main" val="12914462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E0865-676D-5677-42FD-490A34F12F8F}"/>
              </a:ext>
            </a:extLst>
          </p:cNvPr>
          <p:cNvSpPr>
            <a:spLocks noGrp="1"/>
          </p:cNvSpPr>
          <p:nvPr>
            <p:ph type="title"/>
          </p:nvPr>
        </p:nvSpPr>
        <p:spPr>
          <a:xfrm>
            <a:off x="838200" y="108857"/>
            <a:ext cx="10515600" cy="947057"/>
          </a:xfrm>
        </p:spPr>
        <p:txBody>
          <a:bodyPr>
            <a:normAutofit/>
          </a:bodyPr>
          <a:lstStyle/>
          <a:p>
            <a:pPr algn="ctr"/>
            <a:r>
              <a:rPr lang="en-IN" sz="4000" b="1" dirty="0">
                <a:solidFill>
                  <a:srgbClr val="C00000"/>
                </a:solidFill>
              </a:rPr>
              <a:t>Trivial Functional Dependency</a:t>
            </a:r>
          </a:p>
        </p:txBody>
      </p:sp>
      <p:sp>
        <p:nvSpPr>
          <p:cNvPr id="3" name="Content Placeholder 2">
            <a:extLst>
              <a:ext uri="{FF2B5EF4-FFF2-40B4-BE49-F238E27FC236}">
                <a16:creationId xmlns:a16="http://schemas.microsoft.com/office/drawing/2014/main" id="{833E68CB-C6E7-5BAA-3286-63C225A43FA3}"/>
              </a:ext>
            </a:extLst>
          </p:cNvPr>
          <p:cNvSpPr>
            <a:spLocks noGrp="1"/>
          </p:cNvSpPr>
          <p:nvPr>
            <p:ph idx="1"/>
          </p:nvPr>
        </p:nvSpPr>
        <p:spPr>
          <a:xfrm>
            <a:off x="838200" y="968829"/>
            <a:ext cx="10515600" cy="5208134"/>
          </a:xfrm>
        </p:spPr>
        <p:txBody>
          <a:bodyPr>
            <a:normAutofit/>
          </a:bodyPr>
          <a:lstStyle/>
          <a:p>
            <a:pPr marL="0" indent="0">
              <a:buNone/>
            </a:pPr>
            <a:endParaRPr lang="en-US" dirty="0"/>
          </a:p>
          <a:p>
            <a:pPr algn="just"/>
            <a:r>
              <a:rPr lang="en-US" dirty="0"/>
              <a:t>In Trivial Functional Dependency, a dependent is always a subset of the determinant. i.e. If X → Y and Y is the subset of X, then it is called trivial functional dependency.</a:t>
            </a:r>
          </a:p>
          <a:p>
            <a:pPr algn="just"/>
            <a:r>
              <a:rPr lang="en-US" dirty="0"/>
              <a:t>A trivial functional dependency happens when the dependent attribute is already part of the determinant attribute set.</a:t>
            </a:r>
          </a:p>
          <a:p>
            <a:pPr algn="just"/>
            <a:endParaRPr lang="en-US" dirty="0"/>
          </a:p>
          <a:p>
            <a:pPr algn="just"/>
            <a:r>
              <a:rPr lang="en-US" dirty="0"/>
              <a:t>Example: {Roll no., Name} → {Name} is a trivial functional dependency because Name is already part of the determinant (Roll no., Name).</a:t>
            </a:r>
          </a:p>
          <a:p>
            <a:pPr algn="just"/>
            <a:endParaRPr lang="en-US" dirty="0"/>
          </a:p>
          <a:p>
            <a:pPr marL="0" indent="0" algn="just">
              <a:buNone/>
            </a:pPr>
            <a:endParaRPr lang="en-IN" dirty="0"/>
          </a:p>
        </p:txBody>
      </p:sp>
    </p:spTree>
    <p:extLst>
      <p:ext uri="{BB962C8B-B14F-4D97-AF65-F5344CB8AC3E}">
        <p14:creationId xmlns:p14="http://schemas.microsoft.com/office/powerpoint/2010/main" val="16577619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E55EE-DE4A-4E7C-0674-C98F774AADFD}"/>
              </a:ext>
            </a:extLst>
          </p:cNvPr>
          <p:cNvSpPr>
            <a:spLocks noGrp="1"/>
          </p:cNvSpPr>
          <p:nvPr>
            <p:ph type="title"/>
          </p:nvPr>
        </p:nvSpPr>
        <p:spPr>
          <a:xfrm>
            <a:off x="838200" y="206830"/>
            <a:ext cx="10515600" cy="968828"/>
          </a:xfrm>
        </p:spPr>
        <p:txBody>
          <a:bodyPr/>
          <a:lstStyle/>
          <a:p>
            <a:pPr algn="ctr"/>
            <a:r>
              <a:rPr lang="en-IN" b="1" dirty="0">
                <a:solidFill>
                  <a:srgbClr val="C00000"/>
                </a:solidFill>
              </a:rPr>
              <a:t>Non-trivial Functional Dependency</a:t>
            </a:r>
          </a:p>
        </p:txBody>
      </p:sp>
      <p:sp>
        <p:nvSpPr>
          <p:cNvPr id="3" name="Content Placeholder 2">
            <a:extLst>
              <a:ext uri="{FF2B5EF4-FFF2-40B4-BE49-F238E27FC236}">
                <a16:creationId xmlns:a16="http://schemas.microsoft.com/office/drawing/2014/main" id="{134F4F5F-62EB-3DBE-655B-A5B1F2A9606D}"/>
              </a:ext>
            </a:extLst>
          </p:cNvPr>
          <p:cNvSpPr>
            <a:spLocks noGrp="1"/>
          </p:cNvSpPr>
          <p:nvPr>
            <p:ph idx="1"/>
          </p:nvPr>
        </p:nvSpPr>
        <p:spPr>
          <a:xfrm>
            <a:off x="838200" y="1371600"/>
            <a:ext cx="10515600" cy="4805363"/>
          </a:xfrm>
        </p:spPr>
        <p:txBody>
          <a:bodyPr/>
          <a:lstStyle/>
          <a:p>
            <a:pPr algn="just"/>
            <a:r>
              <a:rPr lang="en-US" dirty="0"/>
              <a:t>If a functional dependency X→Y holds true where Y is not a subset of X then this dependency is called non trivial Functional dependency.</a:t>
            </a:r>
          </a:p>
          <a:p>
            <a:pPr algn="just"/>
            <a:r>
              <a:rPr lang="en-US" dirty="0"/>
              <a:t>A non-trivial functional dependency occurs when the dependent attribute is not part of the determinant attribute set.</a:t>
            </a:r>
          </a:p>
          <a:p>
            <a:pPr algn="just"/>
            <a:r>
              <a:rPr lang="en-US" dirty="0"/>
              <a:t>Example: {Roll no., Name} → {Dept name} is a non-trivial functional dependency because Dept name is not part of {Roll no., Name}.</a:t>
            </a:r>
            <a:endParaRPr lang="en-IN" dirty="0"/>
          </a:p>
        </p:txBody>
      </p:sp>
    </p:spTree>
    <p:extLst>
      <p:ext uri="{BB962C8B-B14F-4D97-AF65-F5344CB8AC3E}">
        <p14:creationId xmlns:p14="http://schemas.microsoft.com/office/powerpoint/2010/main" val="17103749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537F0-0BFB-E1AE-20F1-603447FB6A98}"/>
              </a:ext>
            </a:extLst>
          </p:cNvPr>
          <p:cNvSpPr>
            <a:spLocks noGrp="1"/>
          </p:cNvSpPr>
          <p:nvPr>
            <p:ph type="title"/>
          </p:nvPr>
        </p:nvSpPr>
        <p:spPr>
          <a:xfrm>
            <a:off x="838200" y="76201"/>
            <a:ext cx="10515600" cy="1034142"/>
          </a:xfrm>
        </p:spPr>
        <p:txBody>
          <a:bodyPr/>
          <a:lstStyle/>
          <a:p>
            <a:pPr algn="ctr"/>
            <a:r>
              <a:rPr lang="en-US" b="1" dirty="0">
                <a:solidFill>
                  <a:srgbClr val="C00000"/>
                </a:solidFill>
              </a:rPr>
              <a:t>Armstrong’s Axioms in Functional Dependency </a:t>
            </a:r>
            <a:endParaRPr lang="en-IN" b="1" dirty="0">
              <a:solidFill>
                <a:srgbClr val="C00000"/>
              </a:solidFill>
            </a:endParaRPr>
          </a:p>
        </p:txBody>
      </p:sp>
      <p:sp>
        <p:nvSpPr>
          <p:cNvPr id="3" name="Content Placeholder 2">
            <a:extLst>
              <a:ext uri="{FF2B5EF4-FFF2-40B4-BE49-F238E27FC236}">
                <a16:creationId xmlns:a16="http://schemas.microsoft.com/office/drawing/2014/main" id="{F1A06E6E-8CDE-A6DC-5B9B-06C3275C0876}"/>
              </a:ext>
            </a:extLst>
          </p:cNvPr>
          <p:cNvSpPr>
            <a:spLocks noGrp="1"/>
          </p:cNvSpPr>
          <p:nvPr>
            <p:ph idx="1"/>
          </p:nvPr>
        </p:nvSpPr>
        <p:spPr>
          <a:xfrm>
            <a:off x="685800" y="1110343"/>
            <a:ext cx="10668000" cy="5066620"/>
          </a:xfrm>
        </p:spPr>
        <p:txBody>
          <a:bodyPr/>
          <a:lstStyle/>
          <a:p>
            <a:pPr marL="0" indent="0">
              <a:buNone/>
            </a:pPr>
            <a:r>
              <a:rPr lang="en-US" b="1" dirty="0">
                <a:solidFill>
                  <a:srgbClr val="C00000"/>
                </a:solidFill>
              </a:rPr>
              <a:t>Armstrong Axioms</a:t>
            </a:r>
          </a:p>
          <a:p>
            <a:pPr algn="just"/>
            <a:r>
              <a:rPr lang="en-US" dirty="0"/>
              <a:t>The term Armstrong Axioms refers to the sound and complete set of inference rules or axioms, introduced by William W. </a:t>
            </a:r>
          </a:p>
          <a:p>
            <a:pPr algn="just"/>
            <a:r>
              <a:rPr lang="en-US" dirty="0"/>
              <a:t>Armstrong, that is used to test the logical implication of functional dependencies. </a:t>
            </a:r>
          </a:p>
          <a:p>
            <a:pPr algn="just"/>
            <a:r>
              <a:rPr lang="en-US" dirty="0"/>
              <a:t>If F is a set of functional dependencies then the closure of F, denoted as F+, is the set of all functional dependencies logically implied by F.</a:t>
            </a:r>
          </a:p>
          <a:p>
            <a:pPr algn="just"/>
            <a:r>
              <a:rPr lang="en-US" dirty="0"/>
              <a:t>Armstrong’s Axioms are a set of rules, that when applied repeatedly, generates a closure of functional dependencies. </a:t>
            </a:r>
            <a:endParaRPr lang="en-IN" dirty="0"/>
          </a:p>
        </p:txBody>
      </p:sp>
    </p:spTree>
    <p:extLst>
      <p:ext uri="{BB962C8B-B14F-4D97-AF65-F5344CB8AC3E}">
        <p14:creationId xmlns:p14="http://schemas.microsoft.com/office/powerpoint/2010/main" val="10315364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449683-6450-B8FA-BBFD-0720C8BEEFAD}"/>
              </a:ext>
            </a:extLst>
          </p:cNvPr>
          <p:cNvSpPr>
            <a:spLocks noGrp="1"/>
          </p:cNvSpPr>
          <p:nvPr>
            <p:ph idx="1"/>
          </p:nvPr>
        </p:nvSpPr>
        <p:spPr>
          <a:xfrm>
            <a:off x="647272" y="1130158"/>
            <a:ext cx="10696254" cy="5611884"/>
          </a:xfrm>
        </p:spPr>
        <p:txBody>
          <a:bodyPr>
            <a:normAutofit/>
          </a:bodyPr>
          <a:lstStyle/>
          <a:p>
            <a:pPr marL="0" indent="0" algn="just">
              <a:buNone/>
            </a:pPr>
            <a:r>
              <a:rPr lang="en-US" dirty="0"/>
              <a:t>1. Reflexivity:</a:t>
            </a:r>
          </a:p>
          <a:p>
            <a:pPr algn="just"/>
            <a:r>
              <a:rPr lang="en-US" dirty="0"/>
              <a:t>Let A be a set of attributes, and B is a subset of A. If B⊆A then A→B.</a:t>
            </a:r>
          </a:p>
          <a:p>
            <a:pPr algn="just"/>
            <a:r>
              <a:rPr lang="en-US" dirty="0"/>
              <a:t>if B is a subset of A, then A→B.</a:t>
            </a:r>
          </a:p>
          <a:p>
            <a:pPr marL="0" indent="0" algn="just">
              <a:buNone/>
            </a:pPr>
            <a:r>
              <a:rPr lang="en-US" dirty="0"/>
              <a:t>2. Augmentation:</a:t>
            </a:r>
          </a:p>
          <a:p>
            <a:pPr algn="just"/>
            <a:r>
              <a:rPr lang="en-US" dirty="0"/>
              <a:t>If A→B is true and Y is an attribute set, then AY→BY is also true. Adding attributes to dependencies does not affect the fundamental dependencies. </a:t>
            </a:r>
          </a:p>
          <a:p>
            <a:pPr algn="just"/>
            <a:r>
              <a:rPr lang="en-US" dirty="0"/>
              <a:t>If A→B is true, AC→BC is true for any C.</a:t>
            </a:r>
          </a:p>
          <a:p>
            <a:pPr marL="0" indent="0" algn="just">
              <a:buNone/>
            </a:pPr>
            <a:r>
              <a:rPr lang="en-US" dirty="0"/>
              <a:t>3. Transitivity:</a:t>
            </a:r>
          </a:p>
          <a:p>
            <a:pPr algn="just"/>
            <a:r>
              <a:rPr lang="en-US" dirty="0"/>
              <a:t>If A→B holds and B→C holds, then A→C also holds</a:t>
            </a:r>
          </a:p>
          <a:p>
            <a:pPr algn="just"/>
            <a:endParaRPr lang="en-US" dirty="0"/>
          </a:p>
        </p:txBody>
      </p:sp>
    </p:spTree>
    <p:extLst>
      <p:ext uri="{BB962C8B-B14F-4D97-AF65-F5344CB8AC3E}">
        <p14:creationId xmlns:p14="http://schemas.microsoft.com/office/powerpoint/2010/main" val="11602403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A0E6F8-1D1F-E2B4-4874-B002ADD3BCF3}"/>
              </a:ext>
            </a:extLst>
          </p:cNvPr>
          <p:cNvSpPr>
            <a:spLocks noGrp="1"/>
          </p:cNvSpPr>
          <p:nvPr>
            <p:ph idx="1"/>
          </p:nvPr>
        </p:nvSpPr>
        <p:spPr>
          <a:xfrm>
            <a:off x="760288" y="616449"/>
            <a:ext cx="10593512" cy="5560514"/>
          </a:xfrm>
        </p:spPr>
        <p:txBody>
          <a:bodyPr/>
          <a:lstStyle/>
          <a:p>
            <a:pPr marL="0" indent="0">
              <a:buNone/>
            </a:pPr>
            <a:r>
              <a:rPr lang="en-US" dirty="0"/>
              <a:t>4. Decomposition</a:t>
            </a:r>
          </a:p>
          <a:p>
            <a:r>
              <a:rPr lang="en-US" dirty="0"/>
              <a:t>If A→BC, then A→B and A→C</a:t>
            </a:r>
          </a:p>
          <a:p>
            <a:pPr marL="0" indent="0">
              <a:buNone/>
            </a:pPr>
            <a:r>
              <a:rPr lang="en-US" dirty="0"/>
              <a:t>5. Composition</a:t>
            </a:r>
          </a:p>
          <a:p>
            <a:r>
              <a:rPr lang="en-US" dirty="0"/>
              <a:t>If A→B and C→D then AC→BD</a:t>
            </a:r>
          </a:p>
          <a:p>
            <a:pPr marL="0" indent="0">
              <a:buNone/>
            </a:pPr>
            <a:r>
              <a:rPr lang="en-US" dirty="0"/>
              <a:t>6. Union (Notation)</a:t>
            </a:r>
          </a:p>
          <a:p>
            <a:r>
              <a:rPr lang="en-US" dirty="0"/>
              <a:t>If A→B and A→C then A→BC</a:t>
            </a:r>
          </a:p>
          <a:p>
            <a:pPr marL="0" indent="0">
              <a:buNone/>
            </a:pPr>
            <a:r>
              <a:rPr lang="en-US" dirty="0"/>
              <a:t>7. Pseudo transitivity</a:t>
            </a:r>
          </a:p>
          <a:p>
            <a:r>
              <a:rPr lang="en-US" dirty="0"/>
              <a:t>If A→B and BC→D then AC→D</a:t>
            </a:r>
          </a:p>
          <a:p>
            <a:pPr marL="0" indent="0">
              <a:buNone/>
            </a:pPr>
            <a:r>
              <a:rPr lang="en-US" dirty="0"/>
              <a:t>8. Self-determination</a:t>
            </a:r>
          </a:p>
          <a:p>
            <a:r>
              <a:rPr lang="en-US" dirty="0"/>
              <a:t>A→A for any given A.</a:t>
            </a:r>
            <a:endParaRPr lang="en-IN" dirty="0"/>
          </a:p>
        </p:txBody>
      </p:sp>
    </p:spTree>
    <p:extLst>
      <p:ext uri="{BB962C8B-B14F-4D97-AF65-F5344CB8AC3E}">
        <p14:creationId xmlns:p14="http://schemas.microsoft.com/office/powerpoint/2010/main" val="10866510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B9943-966B-9228-641B-FC1369795364}"/>
              </a:ext>
            </a:extLst>
          </p:cNvPr>
          <p:cNvSpPr>
            <a:spLocks noGrp="1"/>
          </p:cNvSpPr>
          <p:nvPr>
            <p:ph type="title"/>
          </p:nvPr>
        </p:nvSpPr>
        <p:spPr>
          <a:xfrm>
            <a:off x="838200" y="1"/>
            <a:ext cx="10515600" cy="893851"/>
          </a:xfrm>
        </p:spPr>
        <p:txBody>
          <a:bodyPr/>
          <a:lstStyle/>
          <a:p>
            <a:pPr algn="ctr"/>
            <a:r>
              <a:rPr lang="en-IN" b="1" dirty="0">
                <a:solidFill>
                  <a:srgbClr val="C00000"/>
                </a:solidFill>
              </a:rPr>
              <a:t>Closure Of Functional Dependency </a:t>
            </a:r>
          </a:p>
        </p:txBody>
      </p:sp>
      <p:sp>
        <p:nvSpPr>
          <p:cNvPr id="3" name="Content Placeholder 2">
            <a:extLst>
              <a:ext uri="{FF2B5EF4-FFF2-40B4-BE49-F238E27FC236}">
                <a16:creationId xmlns:a16="http://schemas.microsoft.com/office/drawing/2014/main" id="{46DEDBFE-DBA0-F66A-2608-FBC05CD8BECF}"/>
              </a:ext>
            </a:extLst>
          </p:cNvPr>
          <p:cNvSpPr>
            <a:spLocks noGrp="1"/>
          </p:cNvSpPr>
          <p:nvPr>
            <p:ph idx="1"/>
          </p:nvPr>
        </p:nvSpPr>
        <p:spPr>
          <a:xfrm>
            <a:off x="838200" y="1119883"/>
            <a:ext cx="10515600" cy="5057080"/>
          </a:xfrm>
        </p:spPr>
        <p:txBody>
          <a:bodyPr/>
          <a:lstStyle/>
          <a:p>
            <a:r>
              <a:rPr lang="en-US" dirty="0"/>
              <a:t>The Closure Of Functional Dependency means the complete set of all possible attributes that can be functionally derived from given functional dependency using the inference rules known as Armstrong’s Rules.</a:t>
            </a:r>
          </a:p>
          <a:p>
            <a:r>
              <a:rPr lang="en-US" dirty="0"/>
              <a:t>If “F” is a functional dependency then closure of functional dependency can be denoted using “{F}+”</a:t>
            </a:r>
            <a:endParaRPr lang="en-IN" dirty="0"/>
          </a:p>
        </p:txBody>
      </p:sp>
    </p:spTree>
    <p:extLst>
      <p:ext uri="{BB962C8B-B14F-4D97-AF65-F5344CB8AC3E}">
        <p14:creationId xmlns:p14="http://schemas.microsoft.com/office/powerpoint/2010/main" val="9593042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EA460F6-7084-43DD-1289-CCB06FFCB92E}"/>
              </a:ext>
            </a:extLst>
          </p:cNvPr>
          <p:cNvPicPr>
            <a:picLocks noGrp="1" noChangeAspect="1"/>
          </p:cNvPicPr>
          <p:nvPr>
            <p:ph idx="1"/>
          </p:nvPr>
        </p:nvPicPr>
        <p:blipFill>
          <a:blip r:embed="rId2"/>
          <a:stretch>
            <a:fillRect/>
          </a:stretch>
        </p:blipFill>
        <p:spPr>
          <a:xfrm>
            <a:off x="1223015" y="720982"/>
            <a:ext cx="9745969" cy="4621579"/>
          </a:xfrm>
        </p:spPr>
      </p:pic>
    </p:spTree>
    <p:extLst>
      <p:ext uri="{BB962C8B-B14F-4D97-AF65-F5344CB8AC3E}">
        <p14:creationId xmlns:p14="http://schemas.microsoft.com/office/powerpoint/2010/main" val="19297190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5F49BE6-81B2-6186-AA32-AE9B47D8294E}"/>
              </a:ext>
            </a:extLst>
          </p:cNvPr>
          <p:cNvPicPr>
            <a:picLocks noGrp="1" noChangeAspect="1"/>
          </p:cNvPicPr>
          <p:nvPr>
            <p:ph idx="1"/>
          </p:nvPr>
        </p:nvPicPr>
        <p:blipFill>
          <a:blip r:embed="rId2"/>
          <a:stretch>
            <a:fillRect/>
          </a:stretch>
        </p:blipFill>
        <p:spPr>
          <a:xfrm>
            <a:off x="1362924" y="439317"/>
            <a:ext cx="9199024" cy="5979366"/>
          </a:xfrm>
        </p:spPr>
      </p:pic>
      <p:pic>
        <p:nvPicPr>
          <p:cNvPr id="7" name="Picture 6">
            <a:extLst>
              <a:ext uri="{FF2B5EF4-FFF2-40B4-BE49-F238E27FC236}">
                <a16:creationId xmlns:a16="http://schemas.microsoft.com/office/drawing/2014/main" id="{54410614-343C-83E8-0482-94863B5F64B2}"/>
              </a:ext>
            </a:extLst>
          </p:cNvPr>
          <p:cNvPicPr>
            <a:picLocks noChangeAspect="1"/>
          </p:cNvPicPr>
          <p:nvPr/>
        </p:nvPicPr>
        <p:blipFill>
          <a:blip r:embed="rId3"/>
          <a:stretch>
            <a:fillRect/>
          </a:stretch>
        </p:blipFill>
        <p:spPr>
          <a:xfrm>
            <a:off x="3266876" y="4164205"/>
            <a:ext cx="2962688" cy="1324160"/>
          </a:xfrm>
          <a:prstGeom prst="rect">
            <a:avLst/>
          </a:prstGeom>
        </p:spPr>
      </p:pic>
    </p:spTree>
    <p:extLst>
      <p:ext uri="{BB962C8B-B14F-4D97-AF65-F5344CB8AC3E}">
        <p14:creationId xmlns:p14="http://schemas.microsoft.com/office/powerpoint/2010/main" val="7560019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27D4BF-5F75-CD88-A50B-FC4CB0C7A02B}"/>
              </a:ext>
            </a:extLst>
          </p:cNvPr>
          <p:cNvSpPr>
            <a:spLocks noGrp="1"/>
          </p:cNvSpPr>
          <p:nvPr>
            <p:ph idx="1"/>
          </p:nvPr>
        </p:nvSpPr>
        <p:spPr>
          <a:xfrm>
            <a:off x="595901" y="400692"/>
            <a:ext cx="10757899" cy="5776271"/>
          </a:xfrm>
        </p:spPr>
        <p:txBody>
          <a:bodyPr>
            <a:normAutofit/>
          </a:bodyPr>
          <a:lstStyle/>
          <a:p>
            <a:r>
              <a:rPr lang="en-US" dirty="0"/>
              <a:t>For example given a relation </a:t>
            </a:r>
            <a:r>
              <a:rPr lang="en-IN" dirty="0"/>
              <a:t>R(A,B,C,D) and FD { A→B, B→C, C→D,D→A}, then </a:t>
            </a:r>
          </a:p>
          <a:p>
            <a:r>
              <a:rPr lang="en-IN" dirty="0"/>
              <a:t>A+=BCDA,</a:t>
            </a:r>
          </a:p>
          <a:p>
            <a:r>
              <a:rPr lang="en-IN" dirty="0"/>
              <a:t>B+=ACDB</a:t>
            </a:r>
          </a:p>
          <a:p>
            <a:r>
              <a:rPr lang="en-IN" dirty="0"/>
              <a:t>C+=ACDB</a:t>
            </a:r>
          </a:p>
          <a:p>
            <a:r>
              <a:rPr lang="en-IN" dirty="0"/>
              <a:t>D+=ACDB</a:t>
            </a:r>
          </a:p>
        </p:txBody>
      </p:sp>
    </p:spTree>
    <p:extLst>
      <p:ext uri="{BB962C8B-B14F-4D97-AF65-F5344CB8AC3E}">
        <p14:creationId xmlns:p14="http://schemas.microsoft.com/office/powerpoint/2010/main" val="250670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1A83D53-695C-B23F-84C9-447F1EDA3FE7}"/>
              </a:ext>
            </a:extLst>
          </p:cNvPr>
          <p:cNvPicPr>
            <a:picLocks noChangeAspect="1"/>
          </p:cNvPicPr>
          <p:nvPr/>
        </p:nvPicPr>
        <p:blipFill>
          <a:blip r:embed="rId2"/>
          <a:stretch>
            <a:fillRect/>
          </a:stretch>
        </p:blipFill>
        <p:spPr>
          <a:xfrm>
            <a:off x="404018" y="580627"/>
            <a:ext cx="11383964" cy="5696745"/>
          </a:xfrm>
          <a:prstGeom prst="rect">
            <a:avLst/>
          </a:prstGeom>
        </p:spPr>
      </p:pic>
    </p:spTree>
    <p:extLst>
      <p:ext uri="{BB962C8B-B14F-4D97-AF65-F5344CB8AC3E}">
        <p14:creationId xmlns:p14="http://schemas.microsoft.com/office/powerpoint/2010/main" val="15537267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7661940-0F81-DFC4-CA13-17B4FFE73EFF}"/>
              </a:ext>
            </a:extLst>
          </p:cNvPr>
          <p:cNvPicPr>
            <a:picLocks noGrp="1" noChangeAspect="1"/>
          </p:cNvPicPr>
          <p:nvPr>
            <p:ph idx="1"/>
          </p:nvPr>
        </p:nvPicPr>
        <p:blipFill>
          <a:blip r:embed="rId2"/>
          <a:stretch>
            <a:fillRect/>
          </a:stretch>
        </p:blipFill>
        <p:spPr>
          <a:xfrm>
            <a:off x="839078" y="729465"/>
            <a:ext cx="11020783" cy="4923516"/>
          </a:xfrm>
        </p:spPr>
      </p:pic>
    </p:spTree>
    <p:extLst>
      <p:ext uri="{BB962C8B-B14F-4D97-AF65-F5344CB8AC3E}">
        <p14:creationId xmlns:p14="http://schemas.microsoft.com/office/powerpoint/2010/main" val="37034357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4D2AB-1C1C-E78C-4B58-05B795BDE651}"/>
              </a:ext>
            </a:extLst>
          </p:cNvPr>
          <p:cNvSpPr>
            <a:spLocks noGrp="1"/>
          </p:cNvSpPr>
          <p:nvPr>
            <p:ph type="title"/>
          </p:nvPr>
        </p:nvSpPr>
        <p:spPr>
          <a:xfrm>
            <a:off x="838200" y="493776"/>
            <a:ext cx="10515600" cy="347472"/>
          </a:xfrm>
        </p:spPr>
        <p:txBody>
          <a:bodyPr>
            <a:normAutofit fontScale="90000"/>
          </a:bodyPr>
          <a:lstStyle/>
          <a:p>
            <a:pPr algn="ctr"/>
            <a:r>
              <a:rPr lang="en-US" b="1" dirty="0">
                <a:solidFill>
                  <a:srgbClr val="C00000"/>
                </a:solidFill>
              </a:rPr>
              <a:t>Finding Extraneous Attribute in DBMS</a:t>
            </a:r>
            <a:br>
              <a:rPr lang="en-US" dirty="0"/>
            </a:br>
            <a:endParaRPr lang="en-IN" dirty="0"/>
          </a:p>
        </p:txBody>
      </p:sp>
      <p:sp>
        <p:nvSpPr>
          <p:cNvPr id="3" name="Content Placeholder 2">
            <a:extLst>
              <a:ext uri="{FF2B5EF4-FFF2-40B4-BE49-F238E27FC236}">
                <a16:creationId xmlns:a16="http://schemas.microsoft.com/office/drawing/2014/main" id="{94AED3BF-7CEC-EF1B-585F-8D97E9AE0936}"/>
              </a:ext>
            </a:extLst>
          </p:cNvPr>
          <p:cNvSpPr>
            <a:spLocks noGrp="1"/>
          </p:cNvSpPr>
          <p:nvPr>
            <p:ph idx="1"/>
          </p:nvPr>
        </p:nvSpPr>
        <p:spPr>
          <a:xfrm>
            <a:off x="722376" y="1011808"/>
            <a:ext cx="10631424" cy="5352415"/>
          </a:xfrm>
        </p:spPr>
        <p:txBody>
          <a:bodyPr>
            <a:normAutofit/>
          </a:bodyPr>
          <a:lstStyle/>
          <a:p>
            <a:pPr algn="just"/>
            <a:r>
              <a:rPr lang="en-US" dirty="0"/>
              <a:t>If we can delete an attribute of a functional dependency without modifying the closure of the set of functional dependencies, it is said to be unnecessary.</a:t>
            </a:r>
          </a:p>
          <a:p>
            <a:pPr algn="just"/>
            <a:r>
              <a:rPr lang="en-US" dirty="0"/>
              <a:t>An extraneous attribute in a functional dependency is an attribute that does not contribute to the closure of attributes on the left-hand side of the dependency. </a:t>
            </a:r>
          </a:p>
          <a:p>
            <a:pPr algn="just"/>
            <a:r>
              <a:rPr lang="en-US" dirty="0"/>
              <a:t>Removing extraneous attributes helps in simplifying the set of dependencies without changing its meaning.</a:t>
            </a:r>
          </a:p>
          <a:p>
            <a:pPr algn="just"/>
            <a:r>
              <a:rPr lang="en-US" dirty="0"/>
              <a:t>If we are able to remove an attribute from a functional dependency without changing the closure of the set of functional dependencies, that attribute is called as Extraneous Attribute.</a:t>
            </a:r>
          </a:p>
        </p:txBody>
      </p:sp>
    </p:spTree>
    <p:extLst>
      <p:ext uri="{BB962C8B-B14F-4D97-AF65-F5344CB8AC3E}">
        <p14:creationId xmlns:p14="http://schemas.microsoft.com/office/powerpoint/2010/main" val="8793277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85C85B-6ACE-642C-1ECC-36E0DB5D8BF6}"/>
              </a:ext>
            </a:extLst>
          </p:cNvPr>
          <p:cNvSpPr>
            <a:spLocks noGrp="1"/>
          </p:cNvSpPr>
          <p:nvPr>
            <p:ph idx="1"/>
          </p:nvPr>
        </p:nvSpPr>
        <p:spPr>
          <a:xfrm>
            <a:off x="804672" y="384048"/>
            <a:ext cx="10549128" cy="5792915"/>
          </a:xfrm>
        </p:spPr>
        <p:txBody>
          <a:bodyPr>
            <a:normAutofit lnSpcReduction="10000"/>
          </a:bodyPr>
          <a:lstStyle/>
          <a:p>
            <a:pPr marL="0" indent="0">
              <a:buNone/>
            </a:pPr>
            <a:endParaRPr lang="en-US" dirty="0"/>
          </a:p>
          <a:p>
            <a:pPr marL="0" indent="0">
              <a:buNone/>
            </a:pPr>
            <a:r>
              <a:rPr lang="en-US" dirty="0">
                <a:solidFill>
                  <a:srgbClr val="C00000"/>
                </a:solidFill>
              </a:rPr>
              <a:t>Example 1:</a:t>
            </a:r>
          </a:p>
          <a:p>
            <a:pPr algn="just"/>
            <a:r>
              <a:rPr lang="en-US" dirty="0"/>
              <a:t>Let us consider a relation R with schema R(A, B, C) and set of functional dependencies F = { AB → C, A → C }. The closure for F is F+ = { AB → C, A → C }.</a:t>
            </a:r>
          </a:p>
          <a:p>
            <a:pPr algn="just"/>
            <a:r>
              <a:rPr lang="en-US" dirty="0"/>
              <a:t>In AB → C, B is an extraneous attribute. The reason is, there is another FD A → C, which means when A alone can determine C, the use of B is unnecessary (redundant).</a:t>
            </a:r>
          </a:p>
          <a:p>
            <a:pPr algn="just"/>
            <a:endParaRPr lang="en-US" dirty="0"/>
          </a:p>
          <a:p>
            <a:pPr marL="0" indent="0" algn="just">
              <a:buNone/>
            </a:pPr>
            <a:r>
              <a:rPr lang="en-US" dirty="0">
                <a:solidFill>
                  <a:srgbClr val="C00000"/>
                </a:solidFill>
              </a:rPr>
              <a:t>Example 2:</a:t>
            </a:r>
          </a:p>
          <a:p>
            <a:pPr algn="just"/>
            <a:r>
              <a:rPr lang="en-US" dirty="0"/>
              <a:t>If you have F = {A -&gt; C, AB -&gt; CD} and you find that AB -&gt; C is implied by A -&gt; C, then C in the second dependency (AB-&gt;CD) is extraneous, since it is also derived by A -&gt; C.</a:t>
            </a:r>
            <a:endParaRPr lang="en-IN" dirty="0"/>
          </a:p>
        </p:txBody>
      </p:sp>
    </p:spTree>
    <p:extLst>
      <p:ext uri="{BB962C8B-B14F-4D97-AF65-F5344CB8AC3E}">
        <p14:creationId xmlns:p14="http://schemas.microsoft.com/office/powerpoint/2010/main" val="5992342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25DD7-EF82-65B6-E9D2-67AC66579323}"/>
              </a:ext>
            </a:extLst>
          </p:cNvPr>
          <p:cNvSpPr>
            <a:spLocks noGrp="1"/>
          </p:cNvSpPr>
          <p:nvPr>
            <p:ph type="title"/>
          </p:nvPr>
        </p:nvSpPr>
        <p:spPr/>
        <p:txBody>
          <a:bodyPr/>
          <a:lstStyle/>
          <a:p>
            <a:pPr algn="ctr"/>
            <a:r>
              <a:rPr lang="en-IN" b="1" dirty="0">
                <a:solidFill>
                  <a:srgbClr val="C00000"/>
                </a:solidFill>
              </a:rPr>
              <a:t>Canonical Cover </a:t>
            </a:r>
          </a:p>
        </p:txBody>
      </p:sp>
      <p:sp>
        <p:nvSpPr>
          <p:cNvPr id="3" name="Content Placeholder 2">
            <a:extLst>
              <a:ext uri="{FF2B5EF4-FFF2-40B4-BE49-F238E27FC236}">
                <a16:creationId xmlns:a16="http://schemas.microsoft.com/office/drawing/2014/main" id="{5DA16ADF-7611-69FB-E5CF-0EFE6F752069}"/>
              </a:ext>
            </a:extLst>
          </p:cNvPr>
          <p:cNvSpPr>
            <a:spLocks noGrp="1"/>
          </p:cNvSpPr>
          <p:nvPr>
            <p:ph idx="1"/>
          </p:nvPr>
        </p:nvSpPr>
        <p:spPr/>
        <p:txBody>
          <a:bodyPr/>
          <a:lstStyle/>
          <a:p>
            <a:pPr algn="just"/>
            <a:r>
              <a:rPr lang="en-US" dirty="0"/>
              <a:t>Irreducible functional relationships or a canonical cover FD is a reduced version of FD with a comparable closure to the original FD set.</a:t>
            </a:r>
          </a:p>
          <a:p>
            <a:pPr algn="just"/>
            <a:r>
              <a:rPr lang="en-US" dirty="0"/>
              <a:t>A canonical cover of a set of functional dependencies is the minimal set of dependencies that logically implies all the dependencies in the original set. </a:t>
            </a:r>
          </a:p>
          <a:p>
            <a:pPr algn="just"/>
            <a:r>
              <a:rPr lang="en-US" dirty="0"/>
              <a:t>It helps in simplifying the set of functional dependencies while preserving the same closure of attributes.</a:t>
            </a:r>
          </a:p>
          <a:p>
            <a:endParaRPr lang="en-IN" dirty="0"/>
          </a:p>
        </p:txBody>
      </p:sp>
    </p:spTree>
    <p:extLst>
      <p:ext uri="{BB962C8B-B14F-4D97-AF65-F5344CB8AC3E}">
        <p14:creationId xmlns:p14="http://schemas.microsoft.com/office/powerpoint/2010/main" val="4451984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93832C-5D71-AF01-91CA-8070D431F8A2}"/>
              </a:ext>
            </a:extLst>
          </p:cNvPr>
          <p:cNvSpPr>
            <a:spLocks noGrp="1"/>
          </p:cNvSpPr>
          <p:nvPr>
            <p:ph idx="1"/>
          </p:nvPr>
        </p:nvSpPr>
        <p:spPr>
          <a:xfrm>
            <a:off x="896112" y="649224"/>
            <a:ext cx="10457688" cy="5527739"/>
          </a:xfrm>
        </p:spPr>
        <p:txBody>
          <a:bodyPr>
            <a:normAutofit/>
          </a:bodyPr>
          <a:lstStyle/>
          <a:p>
            <a:pPr marL="0" indent="0" algn="ctr">
              <a:buNone/>
            </a:pPr>
            <a:r>
              <a:rPr lang="en-US" sz="3200" b="1" dirty="0">
                <a:solidFill>
                  <a:srgbClr val="C00000"/>
                </a:solidFill>
              </a:rPr>
              <a:t>How to Find Canonical Cover</a:t>
            </a:r>
          </a:p>
          <a:p>
            <a:pPr algn="just"/>
            <a:r>
              <a:rPr lang="en-US" dirty="0"/>
              <a:t>Following is an Algorithm to determine the Canonical cover of set F:</a:t>
            </a:r>
          </a:p>
          <a:p>
            <a:pPr lvl="1" algn="just"/>
            <a:r>
              <a:rPr lang="en-US" dirty="0"/>
              <a:t>Replace any dependencies in ɑ1→β1 and ɑ1→β2 with ɑ1→β1β2 using the </a:t>
            </a:r>
            <a:r>
              <a:rPr lang="en-US" dirty="0">
                <a:solidFill>
                  <a:srgbClr val="0070C0"/>
                </a:solidFill>
              </a:rPr>
              <a:t>union rule</a:t>
            </a:r>
            <a:r>
              <a:rPr lang="en-US" dirty="0"/>
              <a:t>.</a:t>
            </a:r>
          </a:p>
          <a:p>
            <a:pPr lvl="1" algn="just"/>
            <a:r>
              <a:rPr lang="en-US" dirty="0"/>
              <a:t>With an extraneous attribute, either in ɑ or β find a functional dependency ɑ→β. </a:t>
            </a:r>
          </a:p>
          <a:p>
            <a:pPr lvl="1" algn="just"/>
            <a:r>
              <a:rPr lang="en-US" dirty="0">
                <a:solidFill>
                  <a:srgbClr val="0070C0"/>
                </a:solidFill>
              </a:rPr>
              <a:t>Delete any extraneous </a:t>
            </a:r>
            <a:r>
              <a:rPr lang="en-US" dirty="0"/>
              <a:t>attribute found in ɑ→β.</a:t>
            </a:r>
          </a:p>
          <a:p>
            <a:pPr lvl="1" algn="just"/>
            <a:r>
              <a:rPr lang="en-US" dirty="0"/>
              <a:t>until F does not change.</a:t>
            </a:r>
            <a:endParaRPr lang="en-IN" dirty="0"/>
          </a:p>
        </p:txBody>
      </p:sp>
    </p:spTree>
    <p:extLst>
      <p:ext uri="{BB962C8B-B14F-4D97-AF65-F5344CB8AC3E}">
        <p14:creationId xmlns:p14="http://schemas.microsoft.com/office/powerpoint/2010/main" val="20382960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235FCD-7E1E-3D7A-E499-837B1943E5B6}"/>
              </a:ext>
            </a:extLst>
          </p:cNvPr>
          <p:cNvSpPr>
            <a:spLocks noGrp="1"/>
          </p:cNvSpPr>
          <p:nvPr>
            <p:ph idx="1"/>
          </p:nvPr>
        </p:nvSpPr>
        <p:spPr>
          <a:xfrm>
            <a:off x="777240" y="539496"/>
            <a:ext cx="10576560" cy="5637467"/>
          </a:xfrm>
        </p:spPr>
        <p:txBody>
          <a:bodyPr>
            <a:normAutofit fontScale="85000" lnSpcReduction="20000"/>
          </a:bodyPr>
          <a:lstStyle/>
          <a:p>
            <a:r>
              <a:rPr lang="en-US" dirty="0">
                <a:solidFill>
                  <a:srgbClr val="C00000"/>
                </a:solidFill>
              </a:rPr>
              <a:t>Example: Given a relational Schema R( A, B, C, D) and set of Function Dependency FD = { B → A, AD → BC, C → ABD }. Find the canonical cover?</a:t>
            </a:r>
          </a:p>
          <a:p>
            <a:pPr algn="just"/>
            <a:r>
              <a:rPr lang="en-US" dirty="0"/>
              <a:t>Solution: Given FD = { B → A, AD → BC, C → ABD }, now decompose the FD using decomposition rule( Armstrong Axiom ).</a:t>
            </a:r>
          </a:p>
          <a:p>
            <a:pPr algn="just"/>
            <a:r>
              <a:rPr lang="en-US" dirty="0"/>
              <a:t>B → A</a:t>
            </a:r>
          </a:p>
          <a:p>
            <a:pPr algn="just"/>
            <a:r>
              <a:rPr lang="en-US" dirty="0"/>
              <a:t>AD → B ( using decomposition inference rule on AD → BC)</a:t>
            </a:r>
          </a:p>
          <a:p>
            <a:pPr algn="just"/>
            <a:r>
              <a:rPr lang="en-US" dirty="0"/>
              <a:t>AD → C ( using decomposition inference rule on AD → BC)</a:t>
            </a:r>
          </a:p>
          <a:p>
            <a:pPr algn="just"/>
            <a:r>
              <a:rPr lang="en-US" dirty="0"/>
              <a:t>C → A ( using decomposition inference rule on C → ABD)</a:t>
            </a:r>
          </a:p>
          <a:p>
            <a:pPr algn="just"/>
            <a:r>
              <a:rPr lang="en-US" dirty="0"/>
              <a:t>C → B ( using decomposition inference rule on C → ABD)</a:t>
            </a:r>
          </a:p>
          <a:p>
            <a:pPr algn="just"/>
            <a:r>
              <a:rPr lang="en-US" dirty="0"/>
              <a:t>C → D ( using decomposition inference rule on C → ABD)</a:t>
            </a:r>
          </a:p>
          <a:p>
            <a:pPr algn="just"/>
            <a:r>
              <a:rPr lang="en-US" dirty="0"/>
              <a:t>Now set of FD = { B → A, AD → B, AD → C, C → A, C → B, C → D }</a:t>
            </a:r>
          </a:p>
          <a:p>
            <a:pPr algn="just"/>
            <a:endParaRPr lang="en-US" dirty="0"/>
          </a:p>
          <a:p>
            <a:pPr algn="just"/>
            <a:r>
              <a:rPr lang="en-US" dirty="0"/>
              <a:t>The next step is to find closure of the left side of each of the given FD by including that FD and excluding that FD, if closure in both cases are same then that FD is redundant and we remove that FD from the given set, otherwise if both the closures are different then we do not exclude that FD.</a:t>
            </a:r>
            <a:endParaRPr lang="en-IN" dirty="0"/>
          </a:p>
        </p:txBody>
      </p:sp>
    </p:spTree>
    <p:extLst>
      <p:ext uri="{BB962C8B-B14F-4D97-AF65-F5344CB8AC3E}">
        <p14:creationId xmlns:p14="http://schemas.microsoft.com/office/powerpoint/2010/main" val="4883411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50A908-9706-C766-8F78-4FA35EE52434}"/>
              </a:ext>
            </a:extLst>
          </p:cNvPr>
          <p:cNvSpPr>
            <a:spLocks noGrp="1"/>
          </p:cNvSpPr>
          <p:nvPr>
            <p:ph idx="1"/>
          </p:nvPr>
        </p:nvSpPr>
        <p:spPr>
          <a:xfrm>
            <a:off x="758952" y="594360"/>
            <a:ext cx="10594848" cy="5582603"/>
          </a:xfrm>
        </p:spPr>
        <p:txBody>
          <a:bodyPr>
            <a:normAutofit/>
          </a:bodyPr>
          <a:lstStyle/>
          <a:p>
            <a:r>
              <a:rPr lang="en-US" dirty="0"/>
              <a:t>Calculating closure of all FD { B → A, AD → B, AD → C, C → A, C → B, C → D }</a:t>
            </a:r>
          </a:p>
          <a:p>
            <a:pPr lvl="1"/>
            <a:r>
              <a:rPr lang="en-US" dirty="0"/>
              <a:t>FD: B → A is important and cannot be removed from the set of FD.</a:t>
            </a:r>
          </a:p>
          <a:p>
            <a:pPr lvl="1"/>
            <a:r>
              <a:rPr lang="en-US" dirty="0"/>
              <a:t>FD AD → B is not important and can be removed from the set of FD.</a:t>
            </a:r>
          </a:p>
          <a:p>
            <a:r>
              <a:rPr lang="en-IN" dirty="0"/>
              <a:t>Hence resultant FD = { B → A, AD → C, C → A, C → B, C → D }</a:t>
            </a:r>
          </a:p>
          <a:p>
            <a:pPr lvl="1"/>
            <a:r>
              <a:rPr lang="en-US" dirty="0"/>
              <a:t>FD C → A is not important and can be removed from the set of FD.</a:t>
            </a:r>
          </a:p>
          <a:p>
            <a:r>
              <a:rPr lang="en-US" dirty="0"/>
              <a:t>Hence resultant FD = { B → A, AD → C, C → B, C → D }</a:t>
            </a:r>
          </a:p>
          <a:p>
            <a:r>
              <a:rPr lang="en-US" dirty="0"/>
              <a:t>we can rewrite as</a:t>
            </a:r>
          </a:p>
          <a:p>
            <a:r>
              <a:rPr lang="en-US" b="1" dirty="0"/>
              <a:t>FD = { B → A, AD → C, C → BD } </a:t>
            </a:r>
            <a:r>
              <a:rPr lang="en-IN" b="1" i="0" dirty="0">
                <a:solidFill>
                  <a:srgbClr val="333333"/>
                </a:solidFill>
                <a:effectLst/>
                <a:latin typeface="Inter-Regular"/>
              </a:rPr>
              <a:t> is Canonical Cover </a:t>
            </a:r>
            <a:endParaRPr lang="en-IN" b="1" dirty="0"/>
          </a:p>
        </p:txBody>
      </p:sp>
    </p:spTree>
    <p:extLst>
      <p:ext uri="{BB962C8B-B14F-4D97-AF65-F5344CB8AC3E}">
        <p14:creationId xmlns:p14="http://schemas.microsoft.com/office/powerpoint/2010/main" val="26395719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D3126E-14B1-9F85-4189-3EFAE1E0FF24}"/>
              </a:ext>
            </a:extLst>
          </p:cNvPr>
          <p:cNvSpPr>
            <a:spLocks noGrp="1"/>
          </p:cNvSpPr>
          <p:nvPr>
            <p:ph idx="1"/>
          </p:nvPr>
        </p:nvSpPr>
        <p:spPr/>
        <p:txBody>
          <a:bodyPr/>
          <a:lstStyle/>
          <a:p>
            <a:r>
              <a:rPr lang="en-US" dirty="0">
                <a:solidFill>
                  <a:srgbClr val="C00000"/>
                </a:solidFill>
              </a:rPr>
              <a:t>Example 2: Given a relational Schema R( W, X, Y, Z) and set of Function Dependency FD = { W → X, Y → X, Z → WXY, WY → Z }. Find the canonical cover?</a:t>
            </a:r>
          </a:p>
          <a:p>
            <a:r>
              <a:rPr lang="en-US" dirty="0"/>
              <a:t>Solution:</a:t>
            </a:r>
          </a:p>
          <a:p>
            <a:pPr marL="0" indent="0">
              <a:buNone/>
            </a:pPr>
            <a:r>
              <a:rPr lang="en-IN" dirty="0"/>
              <a:t>       FD = { W → X, Y → X, Z → WY, WY → Z } is Canonical Cover</a:t>
            </a:r>
          </a:p>
        </p:txBody>
      </p:sp>
    </p:spTree>
    <p:extLst>
      <p:ext uri="{BB962C8B-B14F-4D97-AF65-F5344CB8AC3E}">
        <p14:creationId xmlns:p14="http://schemas.microsoft.com/office/powerpoint/2010/main" val="26881214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2EAE5491-C2AE-63A1-A9AB-A12096A90942}"/>
              </a:ext>
            </a:extLst>
          </p:cNvPr>
          <p:cNvPicPr>
            <a:picLocks noGrp="1" noChangeAspect="1"/>
          </p:cNvPicPr>
          <p:nvPr>
            <p:ph sz="half" idx="1"/>
          </p:nvPr>
        </p:nvPicPr>
        <p:blipFill>
          <a:blip r:embed="rId2">
            <a:extLst>
              <a:ext uri="{BEBA8EAE-BF5A-486C-A8C5-ECC9F3942E4B}">
                <a14:imgProps xmlns:a14="http://schemas.microsoft.com/office/drawing/2010/main">
                  <a14:imgLayer r:embed="rId3">
                    <a14:imgEffect>
                      <a14:saturation sat="400000"/>
                    </a14:imgEffect>
                  </a14:imgLayer>
                </a14:imgProps>
              </a:ext>
            </a:extLst>
          </a:blip>
          <a:stretch>
            <a:fillRect/>
          </a:stretch>
        </p:blipFill>
        <p:spPr>
          <a:xfrm>
            <a:off x="355315" y="270350"/>
            <a:ext cx="4010585" cy="2743583"/>
          </a:xfrm>
        </p:spPr>
      </p:pic>
      <p:pic>
        <p:nvPicPr>
          <p:cNvPr id="10" name="Picture 9">
            <a:extLst>
              <a:ext uri="{FF2B5EF4-FFF2-40B4-BE49-F238E27FC236}">
                <a16:creationId xmlns:a16="http://schemas.microsoft.com/office/drawing/2014/main" id="{AF681742-FAE5-BABF-9C51-97A40979E4A7}"/>
              </a:ext>
            </a:extLst>
          </p:cNvPr>
          <p:cNvPicPr>
            <a:picLocks noChangeAspect="1"/>
          </p:cNvPicPr>
          <p:nvPr/>
        </p:nvPicPr>
        <p:blipFill>
          <a:blip r:embed="rId4">
            <a:extLst>
              <a:ext uri="{BEBA8EAE-BF5A-486C-A8C5-ECC9F3942E4B}">
                <a14:imgProps xmlns:a14="http://schemas.microsoft.com/office/drawing/2010/main">
                  <a14:imgLayer r:embed="rId5">
                    <a14:imgEffect>
                      <a14:saturation sat="400000"/>
                    </a14:imgEffect>
                  </a14:imgLayer>
                </a14:imgProps>
              </a:ext>
            </a:extLst>
          </a:blip>
          <a:stretch>
            <a:fillRect/>
          </a:stretch>
        </p:blipFill>
        <p:spPr>
          <a:xfrm>
            <a:off x="4578733" y="270349"/>
            <a:ext cx="7062326" cy="6428401"/>
          </a:xfrm>
          <a:prstGeom prst="rect">
            <a:avLst/>
          </a:prstGeom>
        </p:spPr>
      </p:pic>
    </p:spTree>
    <p:extLst>
      <p:ext uri="{BB962C8B-B14F-4D97-AF65-F5344CB8AC3E}">
        <p14:creationId xmlns:p14="http://schemas.microsoft.com/office/powerpoint/2010/main" val="8567022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C474D684-49AE-6683-C1DF-61E3CE9DA2F0}"/>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aturation sat="400000"/>
                    </a14:imgEffect>
                  </a14:imgLayer>
                </a14:imgProps>
              </a:ext>
            </a:extLst>
          </a:blip>
          <a:stretch>
            <a:fillRect/>
          </a:stretch>
        </p:blipFill>
        <p:spPr>
          <a:xfrm>
            <a:off x="2097426" y="379888"/>
            <a:ext cx="7334061" cy="4058548"/>
          </a:xfrm>
        </p:spPr>
      </p:pic>
    </p:spTree>
    <p:extLst>
      <p:ext uri="{BB962C8B-B14F-4D97-AF65-F5344CB8AC3E}">
        <p14:creationId xmlns:p14="http://schemas.microsoft.com/office/powerpoint/2010/main" val="24426359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273FAAB-532F-1239-B7DB-BAE629995D9F}"/>
              </a:ext>
            </a:extLst>
          </p:cNvPr>
          <p:cNvPicPr>
            <a:picLocks noGrp="1" noChangeAspect="1"/>
          </p:cNvPicPr>
          <p:nvPr>
            <p:ph idx="1"/>
          </p:nvPr>
        </p:nvPicPr>
        <p:blipFill>
          <a:blip r:embed="rId2"/>
          <a:stretch>
            <a:fillRect/>
          </a:stretch>
        </p:blipFill>
        <p:spPr>
          <a:xfrm>
            <a:off x="903805" y="368830"/>
            <a:ext cx="5065570" cy="3576446"/>
          </a:xfrm>
        </p:spPr>
      </p:pic>
    </p:spTree>
    <p:extLst>
      <p:ext uri="{BB962C8B-B14F-4D97-AF65-F5344CB8AC3E}">
        <p14:creationId xmlns:p14="http://schemas.microsoft.com/office/powerpoint/2010/main" val="24746735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2321-7ABB-409A-990A-B60794F25944}"/>
              </a:ext>
            </a:extLst>
          </p:cNvPr>
          <p:cNvSpPr>
            <a:spLocks noGrp="1"/>
          </p:cNvSpPr>
          <p:nvPr>
            <p:ph type="title"/>
          </p:nvPr>
        </p:nvSpPr>
        <p:spPr>
          <a:xfrm>
            <a:off x="838200" y="143839"/>
            <a:ext cx="10515600" cy="1078786"/>
          </a:xfrm>
        </p:spPr>
        <p:txBody>
          <a:bodyPr>
            <a:normAutofit/>
          </a:bodyPr>
          <a:lstStyle/>
          <a:p>
            <a:pPr algn="ctr"/>
            <a:r>
              <a:rPr lang="en-IN" sz="5400" b="1" dirty="0">
                <a:solidFill>
                  <a:srgbClr val="C00000"/>
                </a:solidFill>
              </a:rPr>
              <a:t>Normalization</a:t>
            </a:r>
          </a:p>
        </p:txBody>
      </p:sp>
      <p:sp>
        <p:nvSpPr>
          <p:cNvPr id="3" name="Content Placeholder 2">
            <a:extLst>
              <a:ext uri="{FF2B5EF4-FFF2-40B4-BE49-F238E27FC236}">
                <a16:creationId xmlns:a16="http://schemas.microsoft.com/office/drawing/2014/main" id="{7649CB01-49DB-C642-3376-7C8CF2A416D3}"/>
              </a:ext>
            </a:extLst>
          </p:cNvPr>
          <p:cNvSpPr>
            <a:spLocks noGrp="1"/>
          </p:cNvSpPr>
          <p:nvPr>
            <p:ph idx="1"/>
          </p:nvPr>
        </p:nvSpPr>
        <p:spPr>
          <a:xfrm>
            <a:off x="729465" y="1222625"/>
            <a:ext cx="10624335" cy="4954338"/>
          </a:xfrm>
        </p:spPr>
        <p:txBody>
          <a:bodyPr/>
          <a:lstStyle/>
          <a:p>
            <a:pPr algn="just"/>
            <a:r>
              <a:rPr lang="en-US" dirty="0"/>
              <a:t>Normalization is a systematic approach to organize data in a database to eliminate redundancy, avoid anomalies and ensure data consistency. </a:t>
            </a:r>
          </a:p>
          <a:p>
            <a:pPr algn="just"/>
            <a:r>
              <a:rPr lang="en-US" dirty="0"/>
              <a:t>The process involves breaking down large tables into smaller, well-structured ones and defining relationships between them. </a:t>
            </a:r>
          </a:p>
          <a:p>
            <a:pPr algn="just"/>
            <a:r>
              <a:rPr lang="en-US" dirty="0"/>
              <a:t>This not only reduces the chances of storing duplicate data but also improves the overall efficiency of the database.</a:t>
            </a:r>
          </a:p>
          <a:p>
            <a:pPr algn="just"/>
            <a:r>
              <a:rPr lang="en-US" dirty="0">
                <a:solidFill>
                  <a:srgbClr val="0070C0"/>
                </a:solidFill>
              </a:rPr>
              <a:t>Purpose of Normal Forms:</a:t>
            </a:r>
          </a:p>
          <a:p>
            <a:pPr algn="just"/>
            <a:r>
              <a:rPr lang="en-US" dirty="0"/>
              <a:t>To organize data efficiently, eliminate redundancy, and prevent anomalies during data operations like insertion, deletion and updates.</a:t>
            </a:r>
            <a:endParaRPr lang="en-IN" dirty="0"/>
          </a:p>
        </p:txBody>
      </p:sp>
    </p:spTree>
    <p:extLst>
      <p:ext uri="{BB962C8B-B14F-4D97-AF65-F5344CB8AC3E}">
        <p14:creationId xmlns:p14="http://schemas.microsoft.com/office/powerpoint/2010/main" val="14588215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A4FEA0-BA0E-EF71-D4F9-75A624382DD6}"/>
              </a:ext>
            </a:extLst>
          </p:cNvPr>
          <p:cNvSpPr>
            <a:spLocks noGrp="1"/>
          </p:cNvSpPr>
          <p:nvPr>
            <p:ph idx="1"/>
          </p:nvPr>
        </p:nvSpPr>
        <p:spPr>
          <a:xfrm>
            <a:off x="688369" y="410966"/>
            <a:ext cx="10665431" cy="5765997"/>
          </a:xfrm>
        </p:spPr>
        <p:txBody>
          <a:bodyPr>
            <a:normAutofit fontScale="92500" lnSpcReduction="10000"/>
          </a:bodyPr>
          <a:lstStyle/>
          <a:p>
            <a:pPr marL="0" indent="0">
              <a:buNone/>
            </a:pPr>
            <a:r>
              <a:rPr lang="en-US" sz="3500" b="1" dirty="0">
                <a:solidFill>
                  <a:srgbClr val="C00000"/>
                </a:solidFill>
              </a:rPr>
              <a:t>Advantages of Normal Form</a:t>
            </a:r>
          </a:p>
          <a:p>
            <a:pPr algn="just"/>
            <a:r>
              <a:rPr lang="en-US" dirty="0">
                <a:solidFill>
                  <a:srgbClr val="0070C0"/>
                </a:solidFill>
              </a:rPr>
              <a:t>Reduced data redundancy: </a:t>
            </a:r>
            <a:r>
              <a:rPr lang="en-US" dirty="0"/>
              <a:t>Normalization helps to eliminate duplicate data in tables, reducing the amount of storage space needed and improving database efficiency.</a:t>
            </a:r>
          </a:p>
          <a:p>
            <a:pPr algn="just"/>
            <a:r>
              <a:rPr lang="en-US" dirty="0">
                <a:solidFill>
                  <a:srgbClr val="0070C0"/>
                </a:solidFill>
              </a:rPr>
              <a:t>Improved data consistency:</a:t>
            </a:r>
            <a:r>
              <a:rPr lang="en-US" dirty="0"/>
              <a:t> Normalization ensures that data is stored in a consistent and organized manner, reducing the risk of data inconsistencies and errors.</a:t>
            </a:r>
          </a:p>
          <a:p>
            <a:pPr algn="just"/>
            <a:r>
              <a:rPr lang="en-US" dirty="0">
                <a:solidFill>
                  <a:srgbClr val="0070C0"/>
                </a:solidFill>
              </a:rPr>
              <a:t>Simplified database design: </a:t>
            </a:r>
            <a:r>
              <a:rPr lang="en-US" dirty="0"/>
              <a:t>Normalization provides guidelines for organizing tables and data relationships, making it easier to design and maintain a database.</a:t>
            </a:r>
          </a:p>
          <a:p>
            <a:pPr algn="just"/>
            <a:r>
              <a:rPr lang="en-US" dirty="0">
                <a:solidFill>
                  <a:srgbClr val="0070C0"/>
                </a:solidFill>
              </a:rPr>
              <a:t>Improved query performance: </a:t>
            </a:r>
            <a:r>
              <a:rPr lang="en-US" dirty="0"/>
              <a:t>Normalized tables are typically easier to search and retrieve data from, resulting in faster query performance.</a:t>
            </a:r>
          </a:p>
          <a:p>
            <a:pPr algn="just"/>
            <a:r>
              <a:rPr lang="en-US" dirty="0">
                <a:solidFill>
                  <a:srgbClr val="0070C0"/>
                </a:solidFill>
              </a:rPr>
              <a:t>Easier database maintenance: </a:t>
            </a:r>
            <a:r>
              <a:rPr lang="en-US" dirty="0"/>
              <a:t>Normalization reduces the complexity of a database by breaking it down into smaller, more manageable tables, making it easier to add, modify, and delete data.</a:t>
            </a:r>
            <a:endParaRPr lang="en-IN" dirty="0"/>
          </a:p>
        </p:txBody>
      </p:sp>
    </p:spTree>
    <p:extLst>
      <p:ext uri="{BB962C8B-B14F-4D97-AF65-F5344CB8AC3E}">
        <p14:creationId xmlns:p14="http://schemas.microsoft.com/office/powerpoint/2010/main" val="29305921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96DF3BD-59FF-24F6-EA5F-528BC33D02EA}"/>
              </a:ext>
            </a:extLst>
          </p:cNvPr>
          <p:cNvPicPr>
            <a:picLocks noGrp="1" noChangeAspect="1"/>
          </p:cNvPicPr>
          <p:nvPr>
            <p:ph idx="1"/>
          </p:nvPr>
        </p:nvPicPr>
        <p:blipFill>
          <a:blip r:embed="rId2"/>
          <a:stretch>
            <a:fillRect/>
          </a:stretch>
        </p:blipFill>
        <p:spPr>
          <a:xfrm>
            <a:off x="1268126" y="688369"/>
            <a:ext cx="9983788" cy="4991894"/>
          </a:xfrm>
          <a:prstGeom prst="rect">
            <a:avLst/>
          </a:prstGeom>
        </p:spPr>
      </p:pic>
    </p:spTree>
    <p:extLst>
      <p:ext uri="{BB962C8B-B14F-4D97-AF65-F5344CB8AC3E}">
        <p14:creationId xmlns:p14="http://schemas.microsoft.com/office/powerpoint/2010/main" val="19032047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1DF44F-2057-96A7-EE7F-28CD34C9C148}"/>
              </a:ext>
            </a:extLst>
          </p:cNvPr>
          <p:cNvSpPr>
            <a:spLocks noGrp="1"/>
          </p:cNvSpPr>
          <p:nvPr>
            <p:ph idx="1"/>
          </p:nvPr>
        </p:nvSpPr>
        <p:spPr>
          <a:xfrm>
            <a:off x="780836" y="328773"/>
            <a:ext cx="10572964" cy="5848190"/>
          </a:xfrm>
        </p:spPr>
        <p:txBody>
          <a:bodyPr>
            <a:normAutofit/>
          </a:bodyPr>
          <a:lstStyle/>
          <a:p>
            <a:pPr marL="0" indent="0">
              <a:buNone/>
            </a:pPr>
            <a:r>
              <a:rPr lang="en-US" sz="3900" b="1" dirty="0">
                <a:solidFill>
                  <a:srgbClr val="C00000"/>
                </a:solidFill>
              </a:rPr>
              <a:t>Types of DBMS Normal forms</a:t>
            </a:r>
          </a:p>
          <a:p>
            <a:r>
              <a:rPr lang="en-US" dirty="0"/>
              <a:t>Normalization rules are divided into the following normal forms:</a:t>
            </a:r>
          </a:p>
          <a:p>
            <a:pPr marL="971550" lvl="1" indent="-514350">
              <a:buFont typeface="+mj-lt"/>
              <a:buAutoNum type="arabicPeriod"/>
            </a:pPr>
            <a:r>
              <a:rPr lang="en-US" sz="2800" dirty="0"/>
              <a:t>First Normal Form</a:t>
            </a:r>
          </a:p>
          <a:p>
            <a:pPr marL="971550" lvl="1" indent="-514350">
              <a:buFont typeface="+mj-lt"/>
              <a:buAutoNum type="arabicPeriod"/>
            </a:pPr>
            <a:r>
              <a:rPr lang="en-US" sz="2800" dirty="0"/>
              <a:t>Second Normal Form</a:t>
            </a:r>
          </a:p>
          <a:p>
            <a:pPr marL="971550" lvl="1" indent="-514350">
              <a:buFont typeface="+mj-lt"/>
              <a:buAutoNum type="arabicPeriod"/>
            </a:pPr>
            <a:r>
              <a:rPr lang="en-US" sz="2800" dirty="0"/>
              <a:t>Third Normal Form</a:t>
            </a:r>
          </a:p>
          <a:p>
            <a:pPr marL="971550" lvl="1" indent="-514350">
              <a:buFont typeface="+mj-lt"/>
              <a:buAutoNum type="arabicPeriod"/>
            </a:pPr>
            <a:r>
              <a:rPr lang="en-US" sz="2800" dirty="0"/>
              <a:t>BCNF</a:t>
            </a:r>
          </a:p>
          <a:p>
            <a:pPr marL="971550" lvl="1" indent="-514350">
              <a:buFont typeface="+mj-lt"/>
              <a:buAutoNum type="arabicPeriod"/>
            </a:pPr>
            <a:r>
              <a:rPr lang="en-US" sz="2800" dirty="0"/>
              <a:t>Fourth Normal Form</a:t>
            </a:r>
          </a:p>
          <a:p>
            <a:pPr marL="971550" lvl="1" indent="-514350">
              <a:buFont typeface="+mj-lt"/>
              <a:buAutoNum type="arabicPeriod"/>
            </a:pPr>
            <a:r>
              <a:rPr lang="en-US" sz="2800" dirty="0"/>
              <a:t>Fifth Normal Form</a:t>
            </a:r>
            <a:endParaRPr lang="en-IN" sz="2800" dirty="0"/>
          </a:p>
        </p:txBody>
      </p:sp>
    </p:spTree>
    <p:extLst>
      <p:ext uri="{BB962C8B-B14F-4D97-AF65-F5344CB8AC3E}">
        <p14:creationId xmlns:p14="http://schemas.microsoft.com/office/powerpoint/2010/main" val="26498858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272539C-24F8-6274-FD64-433BC6444DD2}"/>
              </a:ext>
            </a:extLst>
          </p:cNvPr>
          <p:cNvPicPr>
            <a:picLocks noGrp="1" noChangeAspect="1"/>
          </p:cNvPicPr>
          <p:nvPr>
            <p:ph idx="1"/>
          </p:nvPr>
        </p:nvPicPr>
        <p:blipFill>
          <a:blip r:embed="rId2"/>
          <a:stretch>
            <a:fillRect/>
          </a:stretch>
        </p:blipFill>
        <p:spPr>
          <a:xfrm>
            <a:off x="1066158" y="678094"/>
            <a:ext cx="10204486" cy="4938971"/>
          </a:xfrm>
          <a:prstGeom prst="rect">
            <a:avLst/>
          </a:prstGeom>
        </p:spPr>
      </p:pic>
    </p:spTree>
    <p:extLst>
      <p:ext uri="{BB962C8B-B14F-4D97-AF65-F5344CB8AC3E}">
        <p14:creationId xmlns:p14="http://schemas.microsoft.com/office/powerpoint/2010/main" val="9358257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509E1-0B8A-6DB0-873C-AE2090EE501B}"/>
              </a:ext>
            </a:extLst>
          </p:cNvPr>
          <p:cNvSpPr>
            <a:spLocks noGrp="1"/>
          </p:cNvSpPr>
          <p:nvPr>
            <p:ph type="title"/>
          </p:nvPr>
        </p:nvSpPr>
        <p:spPr>
          <a:xfrm>
            <a:off x="838200" y="164388"/>
            <a:ext cx="10515600" cy="965770"/>
          </a:xfrm>
        </p:spPr>
        <p:txBody>
          <a:bodyPr/>
          <a:lstStyle/>
          <a:p>
            <a:pPr algn="ctr"/>
            <a:r>
              <a:rPr lang="en-IN" b="1" dirty="0">
                <a:solidFill>
                  <a:srgbClr val="C00000"/>
                </a:solidFill>
              </a:rPr>
              <a:t>First Normal Form (1NF)</a:t>
            </a:r>
          </a:p>
        </p:txBody>
      </p:sp>
      <p:sp>
        <p:nvSpPr>
          <p:cNvPr id="3" name="Content Placeholder 2">
            <a:extLst>
              <a:ext uri="{FF2B5EF4-FFF2-40B4-BE49-F238E27FC236}">
                <a16:creationId xmlns:a16="http://schemas.microsoft.com/office/drawing/2014/main" id="{E37096BA-0DB4-287D-3B6B-AD45E513BD2C}"/>
              </a:ext>
            </a:extLst>
          </p:cNvPr>
          <p:cNvSpPr>
            <a:spLocks noGrp="1"/>
          </p:cNvSpPr>
          <p:nvPr>
            <p:ph idx="1"/>
          </p:nvPr>
        </p:nvSpPr>
        <p:spPr>
          <a:xfrm>
            <a:off x="838201" y="1455755"/>
            <a:ext cx="5257800" cy="4351338"/>
          </a:xfrm>
        </p:spPr>
        <p:txBody>
          <a:bodyPr/>
          <a:lstStyle/>
          <a:p>
            <a:pPr algn="just"/>
            <a:r>
              <a:rPr lang="en-US" dirty="0"/>
              <a:t>A relation will be 1NF if it contains an atomic value.</a:t>
            </a:r>
          </a:p>
          <a:p>
            <a:pPr algn="just"/>
            <a:r>
              <a:rPr lang="en-US" dirty="0"/>
              <a:t>It states that an attribute of a table cannot hold multiple values. It must hold only single-valued attribute.</a:t>
            </a:r>
            <a:endParaRPr lang="en-IN" dirty="0"/>
          </a:p>
        </p:txBody>
      </p:sp>
      <p:pic>
        <p:nvPicPr>
          <p:cNvPr id="5" name="Picture 4">
            <a:extLst>
              <a:ext uri="{FF2B5EF4-FFF2-40B4-BE49-F238E27FC236}">
                <a16:creationId xmlns:a16="http://schemas.microsoft.com/office/drawing/2014/main" id="{BCCC3A3E-A62A-62A4-1D70-3AD195CEFBEA}"/>
              </a:ext>
            </a:extLst>
          </p:cNvPr>
          <p:cNvPicPr>
            <a:picLocks noChangeAspect="1"/>
          </p:cNvPicPr>
          <p:nvPr/>
        </p:nvPicPr>
        <p:blipFill>
          <a:blip r:embed="rId2"/>
          <a:srcRect t="6445"/>
          <a:stretch/>
        </p:blipFill>
        <p:spPr>
          <a:xfrm>
            <a:off x="5970049" y="1050907"/>
            <a:ext cx="6149898" cy="5642705"/>
          </a:xfrm>
          <a:prstGeom prst="rect">
            <a:avLst/>
          </a:prstGeom>
        </p:spPr>
      </p:pic>
    </p:spTree>
    <p:extLst>
      <p:ext uri="{BB962C8B-B14F-4D97-AF65-F5344CB8AC3E}">
        <p14:creationId xmlns:p14="http://schemas.microsoft.com/office/powerpoint/2010/main" val="18743231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E6269DF-F8BE-FCAB-B4CC-1AA8565A7F74}"/>
              </a:ext>
            </a:extLst>
          </p:cNvPr>
          <p:cNvPicPr>
            <a:picLocks noGrp="1" noChangeAspect="1"/>
          </p:cNvPicPr>
          <p:nvPr>
            <p:ph idx="1"/>
          </p:nvPr>
        </p:nvPicPr>
        <p:blipFill>
          <a:blip r:embed="rId2"/>
          <a:stretch>
            <a:fillRect/>
          </a:stretch>
        </p:blipFill>
        <p:spPr>
          <a:xfrm>
            <a:off x="96117" y="90736"/>
            <a:ext cx="8159691" cy="3016565"/>
          </a:xfrm>
        </p:spPr>
      </p:pic>
      <p:pic>
        <p:nvPicPr>
          <p:cNvPr id="7" name="Picture 6">
            <a:extLst>
              <a:ext uri="{FF2B5EF4-FFF2-40B4-BE49-F238E27FC236}">
                <a16:creationId xmlns:a16="http://schemas.microsoft.com/office/drawing/2014/main" id="{4A212C10-D98D-082C-A99B-1D9E52764597}"/>
              </a:ext>
            </a:extLst>
          </p:cNvPr>
          <p:cNvPicPr>
            <a:picLocks noChangeAspect="1"/>
          </p:cNvPicPr>
          <p:nvPr/>
        </p:nvPicPr>
        <p:blipFill>
          <a:blip r:embed="rId3"/>
          <a:stretch>
            <a:fillRect/>
          </a:stretch>
        </p:blipFill>
        <p:spPr>
          <a:xfrm>
            <a:off x="3544583" y="3239604"/>
            <a:ext cx="8517277" cy="3618396"/>
          </a:xfrm>
          <a:prstGeom prst="rect">
            <a:avLst/>
          </a:prstGeom>
        </p:spPr>
      </p:pic>
    </p:spTree>
    <p:extLst>
      <p:ext uri="{BB962C8B-B14F-4D97-AF65-F5344CB8AC3E}">
        <p14:creationId xmlns:p14="http://schemas.microsoft.com/office/powerpoint/2010/main" val="13534469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BAE783-CC42-C70C-AF4E-7DA770BDE72A}"/>
              </a:ext>
            </a:extLst>
          </p:cNvPr>
          <p:cNvSpPr>
            <a:spLocks noGrp="1"/>
          </p:cNvSpPr>
          <p:nvPr>
            <p:ph idx="1"/>
          </p:nvPr>
        </p:nvSpPr>
        <p:spPr>
          <a:xfrm>
            <a:off x="708917" y="636998"/>
            <a:ext cx="10644883" cy="5539965"/>
          </a:xfrm>
        </p:spPr>
        <p:txBody>
          <a:bodyPr/>
          <a:lstStyle/>
          <a:p>
            <a:r>
              <a:rPr lang="en-US" dirty="0"/>
              <a:t>Using the First Normal Form, </a:t>
            </a:r>
            <a:r>
              <a:rPr lang="en-US" dirty="0">
                <a:solidFill>
                  <a:srgbClr val="FF0000"/>
                </a:solidFill>
              </a:rPr>
              <a:t>data redundancy </a:t>
            </a:r>
            <a:r>
              <a:rPr lang="en-US" dirty="0"/>
              <a:t>increases, as there will be many columns with same data in multiple rows but each row as a whole will be unique.</a:t>
            </a:r>
            <a:endParaRPr lang="en-IN" dirty="0"/>
          </a:p>
        </p:txBody>
      </p:sp>
      <p:pic>
        <p:nvPicPr>
          <p:cNvPr id="5" name="Picture 4">
            <a:extLst>
              <a:ext uri="{FF2B5EF4-FFF2-40B4-BE49-F238E27FC236}">
                <a16:creationId xmlns:a16="http://schemas.microsoft.com/office/drawing/2014/main" id="{34FE9828-13D0-8A16-6C0F-FE2E9099BC88}"/>
              </a:ext>
            </a:extLst>
          </p:cNvPr>
          <p:cNvPicPr>
            <a:picLocks noChangeAspect="1"/>
          </p:cNvPicPr>
          <p:nvPr/>
        </p:nvPicPr>
        <p:blipFill>
          <a:blip r:embed="rId2"/>
          <a:srcRect l="1301" t="4544"/>
          <a:stretch/>
        </p:blipFill>
        <p:spPr>
          <a:xfrm>
            <a:off x="2250041" y="1992251"/>
            <a:ext cx="8681662" cy="4706247"/>
          </a:xfrm>
          <a:prstGeom prst="rect">
            <a:avLst/>
          </a:prstGeom>
        </p:spPr>
      </p:pic>
    </p:spTree>
    <p:extLst>
      <p:ext uri="{BB962C8B-B14F-4D97-AF65-F5344CB8AC3E}">
        <p14:creationId xmlns:p14="http://schemas.microsoft.com/office/powerpoint/2010/main" val="14806243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98400-30C2-4917-1C89-804F371B9FCF}"/>
              </a:ext>
            </a:extLst>
          </p:cNvPr>
          <p:cNvSpPr>
            <a:spLocks noGrp="1"/>
          </p:cNvSpPr>
          <p:nvPr>
            <p:ph type="title"/>
          </p:nvPr>
        </p:nvSpPr>
        <p:spPr>
          <a:xfrm>
            <a:off x="838200" y="123291"/>
            <a:ext cx="10515600" cy="1068511"/>
          </a:xfrm>
        </p:spPr>
        <p:txBody>
          <a:bodyPr/>
          <a:lstStyle/>
          <a:p>
            <a:pPr algn="ctr"/>
            <a:r>
              <a:rPr lang="en-IN" b="1" dirty="0">
                <a:solidFill>
                  <a:srgbClr val="C00000"/>
                </a:solidFill>
              </a:rPr>
              <a:t>Second Normal Form (2NF)</a:t>
            </a:r>
          </a:p>
        </p:txBody>
      </p:sp>
      <p:sp>
        <p:nvSpPr>
          <p:cNvPr id="3" name="Content Placeholder 2">
            <a:extLst>
              <a:ext uri="{FF2B5EF4-FFF2-40B4-BE49-F238E27FC236}">
                <a16:creationId xmlns:a16="http://schemas.microsoft.com/office/drawing/2014/main" id="{015F1C38-E20A-B642-BFE4-784BDBBEB7B0}"/>
              </a:ext>
            </a:extLst>
          </p:cNvPr>
          <p:cNvSpPr>
            <a:spLocks noGrp="1"/>
          </p:cNvSpPr>
          <p:nvPr>
            <p:ph idx="1"/>
          </p:nvPr>
        </p:nvSpPr>
        <p:spPr>
          <a:xfrm>
            <a:off x="739739" y="1304818"/>
            <a:ext cx="10614061" cy="4872145"/>
          </a:xfrm>
        </p:spPr>
        <p:txBody>
          <a:bodyPr/>
          <a:lstStyle/>
          <a:p>
            <a:pPr algn="just"/>
            <a:r>
              <a:rPr lang="en-US" dirty="0"/>
              <a:t>In the 2NF, relational must be in 1NF.</a:t>
            </a:r>
          </a:p>
          <a:p>
            <a:pPr algn="just"/>
            <a:r>
              <a:rPr lang="en-US" dirty="0"/>
              <a:t>The table should not possess partial dependency. </a:t>
            </a:r>
          </a:p>
          <a:p>
            <a:pPr lvl="1" algn="just"/>
            <a:r>
              <a:rPr lang="en-US" dirty="0"/>
              <a:t>The partial dependency here means the proper subset of the candidate key should give a non-prime attribute.(part of candidate key      non prime attribute)</a:t>
            </a:r>
          </a:p>
          <a:p>
            <a:pPr lvl="1" algn="just"/>
            <a:r>
              <a:rPr lang="en-US" dirty="0"/>
              <a:t>In the second normal form, all non-key attributes are fully functional dependent on the primary key.</a:t>
            </a:r>
          </a:p>
          <a:p>
            <a:pPr lvl="1" algn="just"/>
            <a:endParaRPr lang="en-IN" dirty="0"/>
          </a:p>
        </p:txBody>
      </p:sp>
      <p:cxnSp>
        <p:nvCxnSpPr>
          <p:cNvPr id="5" name="Straight Arrow Connector 4">
            <a:extLst>
              <a:ext uri="{FF2B5EF4-FFF2-40B4-BE49-F238E27FC236}">
                <a16:creationId xmlns:a16="http://schemas.microsoft.com/office/drawing/2014/main" id="{4BACFB9A-1A2E-55D2-C093-381502F04CA1}"/>
              </a:ext>
            </a:extLst>
          </p:cNvPr>
          <p:cNvCxnSpPr>
            <a:cxnSpLocks/>
          </p:cNvCxnSpPr>
          <p:nvPr/>
        </p:nvCxnSpPr>
        <p:spPr>
          <a:xfrm>
            <a:off x="9215922" y="2774024"/>
            <a:ext cx="41096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62460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E1B2D5-7BA3-76C6-39BE-DD113897433E}"/>
              </a:ext>
            </a:extLst>
          </p:cNvPr>
          <p:cNvSpPr>
            <a:spLocks noGrp="1"/>
          </p:cNvSpPr>
          <p:nvPr>
            <p:ph idx="1"/>
          </p:nvPr>
        </p:nvSpPr>
        <p:spPr>
          <a:xfrm>
            <a:off x="760288" y="585627"/>
            <a:ext cx="10593512" cy="5591336"/>
          </a:xfrm>
        </p:spPr>
        <p:txBody>
          <a:bodyPr/>
          <a:lstStyle/>
          <a:p>
            <a:pPr marL="0" indent="0">
              <a:buNone/>
            </a:pPr>
            <a:r>
              <a:rPr lang="en-US" sz="3600" b="1" dirty="0">
                <a:solidFill>
                  <a:srgbClr val="C00000"/>
                </a:solidFill>
              </a:rPr>
              <a:t>What is Prime Attribute and Non-Prime Attribute?</a:t>
            </a:r>
          </a:p>
          <a:p>
            <a:pPr marL="0" indent="0">
              <a:buNone/>
            </a:pPr>
            <a:endParaRPr lang="en-US" sz="3600" b="1" dirty="0">
              <a:solidFill>
                <a:srgbClr val="C00000"/>
              </a:solidFill>
            </a:endParaRPr>
          </a:p>
          <a:p>
            <a:pPr algn="just"/>
            <a:r>
              <a:rPr lang="en-US" dirty="0"/>
              <a:t>Attributes that form a candidate key of a relation are called </a:t>
            </a:r>
            <a:r>
              <a:rPr lang="en-US" dirty="0">
                <a:solidFill>
                  <a:srgbClr val="C00000"/>
                </a:solidFill>
              </a:rPr>
              <a:t>prime attributes </a:t>
            </a:r>
            <a:r>
              <a:rPr lang="en-US" dirty="0"/>
              <a:t>(i.e., attributes which are part of any candidate key is called prime attribute). The rest of the attributes of the relation are non-prime.</a:t>
            </a:r>
          </a:p>
          <a:p>
            <a:pPr algn="just"/>
            <a:r>
              <a:rPr lang="en-US" dirty="0"/>
              <a:t>A </a:t>
            </a:r>
            <a:r>
              <a:rPr lang="en-US" dirty="0">
                <a:solidFill>
                  <a:srgbClr val="C00000"/>
                </a:solidFill>
              </a:rPr>
              <a:t>non-prime attribute </a:t>
            </a:r>
            <a:r>
              <a:rPr lang="en-US" dirty="0"/>
              <a:t>is an attribute within a table that is not part of the primary key and does not contribute to the unique identification of rows. </a:t>
            </a:r>
          </a:p>
          <a:p>
            <a:pPr algn="just"/>
            <a:r>
              <a:rPr lang="en-US" dirty="0"/>
              <a:t>Non-prime attributes are those attributes of the relationships that are not present in any of the possible candidate keys of the relation. They are also known as non-key attributes. </a:t>
            </a:r>
            <a:endParaRPr lang="en-IN" dirty="0"/>
          </a:p>
        </p:txBody>
      </p:sp>
    </p:spTree>
    <p:extLst>
      <p:ext uri="{BB962C8B-B14F-4D97-AF65-F5344CB8AC3E}">
        <p14:creationId xmlns:p14="http://schemas.microsoft.com/office/powerpoint/2010/main" val="24468776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5117C3A-4365-CCF5-9C51-84BEEC6CA30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5438" t="5532" r="8302" b="967"/>
          <a:stretch/>
        </p:blipFill>
        <p:spPr>
          <a:xfrm rot="16200000">
            <a:off x="3439163" y="-588296"/>
            <a:ext cx="5479773" cy="7919664"/>
          </a:xfrm>
        </p:spPr>
      </p:pic>
    </p:spTree>
    <p:extLst>
      <p:ext uri="{BB962C8B-B14F-4D97-AF65-F5344CB8AC3E}">
        <p14:creationId xmlns:p14="http://schemas.microsoft.com/office/powerpoint/2010/main" val="42612760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602139-EC23-A739-703D-57F7BA22ED17}"/>
              </a:ext>
            </a:extLst>
          </p:cNvPr>
          <p:cNvSpPr>
            <a:spLocks noGrp="1"/>
          </p:cNvSpPr>
          <p:nvPr>
            <p:ph idx="1"/>
          </p:nvPr>
        </p:nvSpPr>
        <p:spPr>
          <a:xfrm>
            <a:off x="729465" y="595901"/>
            <a:ext cx="10624335" cy="5581062"/>
          </a:xfrm>
        </p:spPr>
        <p:txBody>
          <a:bodyPr>
            <a:normAutofit/>
          </a:bodyPr>
          <a:lstStyle/>
          <a:p>
            <a:pPr marL="0" indent="0">
              <a:buNone/>
            </a:pPr>
            <a:r>
              <a:rPr lang="en-US" sz="3000" b="1" dirty="0">
                <a:solidFill>
                  <a:srgbClr val="C00000"/>
                </a:solidFill>
              </a:rPr>
              <a:t>To make sure that a table follows the rules of 2NF, you need to:</a:t>
            </a:r>
            <a:endParaRPr lang="en-US" dirty="0"/>
          </a:p>
          <a:p>
            <a:r>
              <a:rPr lang="en-US" dirty="0"/>
              <a:t>Identify All Candidate Keys: </a:t>
            </a:r>
          </a:p>
          <a:p>
            <a:r>
              <a:rPr lang="en-US" dirty="0"/>
              <a:t>Determine Functional Dependencies:</a:t>
            </a:r>
          </a:p>
          <a:p>
            <a:r>
              <a:rPr lang="en-US" dirty="0"/>
              <a:t>Eliminate Partial Dependencies: </a:t>
            </a:r>
          </a:p>
          <a:p>
            <a:pPr marL="457200" lvl="1" indent="0">
              <a:buNone/>
            </a:pPr>
            <a:r>
              <a:rPr lang="en-US" dirty="0"/>
              <a:t>For each partial dependency:</a:t>
            </a:r>
          </a:p>
          <a:p>
            <a:pPr lvl="1"/>
            <a:r>
              <a:rPr lang="en-US" dirty="0"/>
              <a:t>Move the dependent attributes into a new table along with the part of the key they depend on.</a:t>
            </a:r>
          </a:p>
          <a:p>
            <a:pPr lvl="1"/>
            <a:r>
              <a:rPr lang="en-US" dirty="0"/>
              <a:t>Ensure the new table has a unique primary key.</a:t>
            </a:r>
          </a:p>
          <a:p>
            <a:r>
              <a:rPr lang="en-US" dirty="0"/>
              <a:t>Repeat Until No Partial Dependencies Remain</a:t>
            </a:r>
            <a:endParaRPr lang="en-IN" dirty="0"/>
          </a:p>
        </p:txBody>
      </p:sp>
    </p:spTree>
    <p:extLst>
      <p:ext uri="{BB962C8B-B14F-4D97-AF65-F5344CB8AC3E}">
        <p14:creationId xmlns:p14="http://schemas.microsoft.com/office/powerpoint/2010/main" val="21444065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E2D2F78-943E-5A0C-E368-8AA851497E15}"/>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tretch>
            <a:fillRect/>
          </a:stretch>
        </p:blipFill>
        <p:spPr>
          <a:xfrm rot="16200000">
            <a:off x="-514013" y="900652"/>
            <a:ext cx="6742262" cy="5056697"/>
          </a:xfrm>
          <a:prstGeom prst="rect">
            <a:avLst/>
          </a:prstGeom>
        </p:spPr>
      </p:pic>
      <p:pic>
        <p:nvPicPr>
          <p:cNvPr id="10" name="Picture 9">
            <a:extLst>
              <a:ext uri="{FF2B5EF4-FFF2-40B4-BE49-F238E27FC236}">
                <a16:creationId xmlns:a16="http://schemas.microsoft.com/office/drawing/2014/main" id="{76C58102-E050-E066-8CC1-BB42C7133BFB}"/>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6449514" y="136626"/>
            <a:ext cx="5413717" cy="6663506"/>
          </a:xfrm>
          <a:prstGeom prst="rect">
            <a:avLst/>
          </a:prstGeom>
        </p:spPr>
      </p:pic>
    </p:spTree>
    <p:extLst>
      <p:ext uri="{BB962C8B-B14F-4D97-AF65-F5344CB8AC3E}">
        <p14:creationId xmlns:p14="http://schemas.microsoft.com/office/powerpoint/2010/main" val="23379373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C2CF11C-1AF8-1A39-6701-937AED65D373}"/>
              </a:ext>
            </a:extLst>
          </p:cNvPr>
          <p:cNvPicPr>
            <a:picLocks noGrp="1" noChangeAspect="1"/>
          </p:cNvPicPr>
          <p:nvPr>
            <p:ph idx="1"/>
          </p:nvPr>
        </p:nvPicPr>
        <p:blipFill>
          <a:blip r:embed="rId2"/>
          <a:stretch>
            <a:fillRect/>
          </a:stretch>
        </p:blipFill>
        <p:spPr>
          <a:xfrm>
            <a:off x="2830286" y="184935"/>
            <a:ext cx="6066159" cy="6234941"/>
          </a:xfrm>
        </p:spPr>
      </p:pic>
    </p:spTree>
    <p:extLst>
      <p:ext uri="{BB962C8B-B14F-4D97-AF65-F5344CB8AC3E}">
        <p14:creationId xmlns:p14="http://schemas.microsoft.com/office/powerpoint/2010/main" val="12351629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3DE41-CFA2-3906-CE19-3CB923957084}"/>
              </a:ext>
            </a:extLst>
          </p:cNvPr>
          <p:cNvSpPr>
            <a:spLocks noGrp="1"/>
          </p:cNvSpPr>
          <p:nvPr>
            <p:ph type="title"/>
          </p:nvPr>
        </p:nvSpPr>
        <p:spPr>
          <a:xfrm>
            <a:off x="838200" y="236306"/>
            <a:ext cx="10515600" cy="873304"/>
          </a:xfrm>
        </p:spPr>
        <p:txBody>
          <a:bodyPr/>
          <a:lstStyle/>
          <a:p>
            <a:pPr algn="ctr"/>
            <a:r>
              <a:rPr lang="en-IN" b="1" dirty="0"/>
              <a:t>Third Normal Form (3NF)</a:t>
            </a:r>
          </a:p>
        </p:txBody>
      </p:sp>
      <p:sp>
        <p:nvSpPr>
          <p:cNvPr id="3" name="Content Placeholder 2">
            <a:extLst>
              <a:ext uri="{FF2B5EF4-FFF2-40B4-BE49-F238E27FC236}">
                <a16:creationId xmlns:a16="http://schemas.microsoft.com/office/drawing/2014/main" id="{279D8668-15D2-991F-A8D0-84E71A13A54F}"/>
              </a:ext>
            </a:extLst>
          </p:cNvPr>
          <p:cNvSpPr>
            <a:spLocks noGrp="1"/>
          </p:cNvSpPr>
          <p:nvPr>
            <p:ph idx="1"/>
          </p:nvPr>
        </p:nvSpPr>
        <p:spPr>
          <a:xfrm>
            <a:off x="729465" y="1315092"/>
            <a:ext cx="10624335" cy="4861871"/>
          </a:xfrm>
        </p:spPr>
        <p:txBody>
          <a:bodyPr/>
          <a:lstStyle/>
          <a:p>
            <a:pPr algn="just"/>
            <a:r>
              <a:rPr lang="en-US" dirty="0"/>
              <a:t>A relation will be in 3NF if it is in 2NF. </a:t>
            </a:r>
          </a:p>
          <a:p>
            <a:pPr algn="just"/>
            <a:r>
              <a:rPr lang="en-US" dirty="0"/>
              <a:t>It does not contain any transitive partial dependency.</a:t>
            </a:r>
          </a:p>
          <a:p>
            <a:pPr algn="just"/>
            <a:r>
              <a:rPr lang="en-US" dirty="0"/>
              <a:t>3NF is used to reduce the data duplication. It is also used to achieve the data integrity.</a:t>
            </a:r>
          </a:p>
          <a:p>
            <a:pPr algn="just"/>
            <a:r>
              <a:rPr lang="en-US" dirty="0"/>
              <a:t>If there is no transitive dependency for non-prime attributes, then the relation must be in third normal form.</a:t>
            </a:r>
            <a:endParaRPr lang="en-IN" dirty="0"/>
          </a:p>
        </p:txBody>
      </p:sp>
    </p:spTree>
    <p:extLst>
      <p:ext uri="{BB962C8B-B14F-4D97-AF65-F5344CB8AC3E}">
        <p14:creationId xmlns:p14="http://schemas.microsoft.com/office/powerpoint/2010/main" val="29645646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3D1D599-1E74-FDAE-BC37-F64F8EEAA4E9}"/>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169185" y="60057"/>
            <a:ext cx="5691224" cy="6737885"/>
          </a:xfrm>
          <a:prstGeom prst="rect">
            <a:avLst/>
          </a:prstGeom>
        </p:spPr>
      </p:pic>
      <p:pic>
        <p:nvPicPr>
          <p:cNvPr id="6" name="Picture 5">
            <a:extLst>
              <a:ext uri="{FF2B5EF4-FFF2-40B4-BE49-F238E27FC236}">
                <a16:creationId xmlns:a16="http://schemas.microsoft.com/office/drawing/2014/main" id="{2C731059-A1C3-945C-23CB-98BA84081E96}"/>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 uri="{28A0092B-C50C-407E-A947-70E740481C1C}">
                <a14:useLocalDpi xmlns:a14="http://schemas.microsoft.com/office/drawing/2010/main" val="0"/>
              </a:ext>
            </a:extLst>
          </a:blip>
          <a:srcRect l="1874" t="1751" r="6321"/>
          <a:stretch/>
        </p:blipFill>
        <p:spPr>
          <a:xfrm>
            <a:off x="6465156" y="74096"/>
            <a:ext cx="4754223" cy="6783904"/>
          </a:xfrm>
          <a:prstGeom prst="rect">
            <a:avLst/>
          </a:prstGeom>
        </p:spPr>
      </p:pic>
    </p:spTree>
    <p:extLst>
      <p:ext uri="{BB962C8B-B14F-4D97-AF65-F5344CB8AC3E}">
        <p14:creationId xmlns:p14="http://schemas.microsoft.com/office/powerpoint/2010/main" val="33041410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A194495-9B40-975D-88FE-CF3239DB79BD}"/>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3236" t="14475" b="5717"/>
          <a:stretch/>
        </p:blipFill>
        <p:spPr>
          <a:xfrm>
            <a:off x="2917861" y="123291"/>
            <a:ext cx="5996638" cy="6594382"/>
          </a:xfrm>
        </p:spPr>
      </p:pic>
    </p:spTree>
    <p:extLst>
      <p:ext uri="{BB962C8B-B14F-4D97-AF65-F5344CB8AC3E}">
        <p14:creationId xmlns:p14="http://schemas.microsoft.com/office/powerpoint/2010/main" val="33471059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5001</TotalTime>
  <Words>3918</Words>
  <Application>Microsoft Office PowerPoint</Application>
  <PresentationFormat>Widescreen</PresentationFormat>
  <Paragraphs>264</Paragraphs>
  <Slides>61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61</vt:i4>
      </vt:variant>
    </vt:vector>
  </HeadingPairs>
  <TitlesOfParts>
    <vt:vector size="67" baseType="lpstr">
      <vt:lpstr>Aptos</vt:lpstr>
      <vt:lpstr>Arial</vt:lpstr>
      <vt:lpstr>Calibri</vt:lpstr>
      <vt:lpstr>Calibri Light</vt:lpstr>
      <vt:lpstr>Inter-Regular</vt:lpstr>
      <vt:lpstr>Office Theme</vt:lpstr>
      <vt:lpstr>Relational Database</vt:lpstr>
      <vt:lpstr>PowerPoint Presentation</vt:lpstr>
      <vt:lpstr>PowerPoint Presentation</vt:lpstr>
      <vt:lpstr>PowerPoint Presentation</vt:lpstr>
      <vt:lpstr>Relation Schema</vt:lpstr>
      <vt:lpstr>Anomalies in DBMS</vt:lpstr>
      <vt:lpstr>PowerPoint Presentation</vt:lpstr>
      <vt:lpstr>PowerPoint Presentation</vt:lpstr>
      <vt:lpstr>PowerPoint Presentation</vt:lpstr>
      <vt:lpstr>PowerPoint Presentation</vt:lpstr>
      <vt:lpstr>PowerPoint Presentation</vt:lpstr>
      <vt:lpstr>Decomposition In DBMS</vt:lpstr>
      <vt:lpstr>PowerPoint Presentation</vt:lpstr>
      <vt:lpstr>PowerPoint Presentation</vt:lpstr>
      <vt:lpstr>PowerPoint Presentation</vt:lpstr>
      <vt:lpstr>2. Lossy Decomposition</vt:lpstr>
      <vt:lpstr>PowerPoint Presentation</vt:lpstr>
      <vt:lpstr>PowerPoint Presentation</vt:lpstr>
      <vt:lpstr>PowerPoint Presentation</vt:lpstr>
      <vt:lpstr>Functional Dependency</vt:lpstr>
      <vt:lpstr>PowerPoint Presentation</vt:lpstr>
      <vt:lpstr>PowerPoint Presentation</vt:lpstr>
      <vt:lpstr>PowerPoint Presentation</vt:lpstr>
      <vt:lpstr>Trivial Functional Dependency</vt:lpstr>
      <vt:lpstr>Non-trivial Functional Dependency</vt:lpstr>
      <vt:lpstr>Armstrong’s Axioms in Functional Dependency </vt:lpstr>
      <vt:lpstr>PowerPoint Presentation</vt:lpstr>
      <vt:lpstr>PowerPoint Presentation</vt:lpstr>
      <vt:lpstr>Closure Of Functional Dependency </vt:lpstr>
      <vt:lpstr>PowerPoint Presentation</vt:lpstr>
      <vt:lpstr>PowerPoint Presentation</vt:lpstr>
      <vt:lpstr>PowerPoint Presentation</vt:lpstr>
      <vt:lpstr>PowerPoint Presentation</vt:lpstr>
      <vt:lpstr>PowerPoint Presentation</vt:lpstr>
      <vt:lpstr>Finding Extraneous Attribute in DBMS </vt:lpstr>
      <vt:lpstr>PowerPoint Presentation</vt:lpstr>
      <vt:lpstr>Canonical Cover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Normalization</vt:lpstr>
      <vt:lpstr>PowerPoint Presentation</vt:lpstr>
      <vt:lpstr>PowerPoint Presentation</vt:lpstr>
      <vt:lpstr>PowerPoint Presentation</vt:lpstr>
      <vt:lpstr>PowerPoint Presentation</vt:lpstr>
      <vt:lpstr>First Normal Form (1NF)</vt:lpstr>
      <vt:lpstr>PowerPoint Presentation</vt:lpstr>
      <vt:lpstr>PowerPoint Presentation</vt:lpstr>
      <vt:lpstr>Second Normal Form (2NF)</vt:lpstr>
      <vt:lpstr>PowerPoint Presentation</vt:lpstr>
      <vt:lpstr>PowerPoint Presentation</vt:lpstr>
      <vt:lpstr>PowerPoint Presentation</vt:lpstr>
      <vt:lpstr>PowerPoint Presentation</vt:lpstr>
      <vt:lpstr>PowerPoint Presentation</vt:lpstr>
      <vt:lpstr>Third Normal Form (3NF)</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pratyashi create powerposatapathyint</dc:creator>
  <cp:lastModifiedBy>pratyashi create powerposatapathyint</cp:lastModifiedBy>
  <cp:revision>40</cp:revision>
  <dcterms:created xsi:type="dcterms:W3CDTF">2025-02-21T15:57:02Z</dcterms:created>
  <dcterms:modified xsi:type="dcterms:W3CDTF">2025-03-19T11:07:53Z</dcterms:modified>
</cp:coreProperties>
</file>