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sldIdLst>
    <p:sldId id="2362" r:id="rId2"/>
    <p:sldId id="316" r:id="rId3"/>
    <p:sldId id="2397" r:id="rId4"/>
    <p:sldId id="2398" r:id="rId5"/>
    <p:sldId id="2421" r:id="rId6"/>
    <p:sldId id="2399" r:id="rId7"/>
    <p:sldId id="2422" r:id="rId8"/>
    <p:sldId id="2400" r:id="rId9"/>
    <p:sldId id="2401" r:id="rId10"/>
    <p:sldId id="2402" r:id="rId11"/>
    <p:sldId id="2403" r:id="rId12"/>
    <p:sldId id="2404" r:id="rId13"/>
    <p:sldId id="2405" r:id="rId14"/>
    <p:sldId id="2406" r:id="rId15"/>
    <p:sldId id="2407" r:id="rId16"/>
    <p:sldId id="2408" r:id="rId17"/>
    <p:sldId id="2409" r:id="rId18"/>
    <p:sldId id="2410" r:id="rId19"/>
    <p:sldId id="2413" r:id="rId20"/>
    <p:sldId id="2423" r:id="rId21"/>
    <p:sldId id="2424" r:id="rId22"/>
    <p:sldId id="2425" r:id="rId23"/>
    <p:sldId id="2426" r:id="rId24"/>
    <p:sldId id="2427" r:id="rId25"/>
    <p:sldId id="2428" r:id="rId26"/>
    <p:sldId id="2429" r:id="rId27"/>
    <p:sldId id="2430" r:id="rId28"/>
    <p:sldId id="2431" r:id="rId29"/>
    <p:sldId id="2432" r:id="rId30"/>
    <p:sldId id="2433" r:id="rId31"/>
    <p:sldId id="2434" r:id="rId32"/>
    <p:sldId id="2435" r:id="rId33"/>
    <p:sldId id="2436" r:id="rId34"/>
    <p:sldId id="2437" r:id="rId35"/>
    <p:sldId id="2438" r:id="rId36"/>
    <p:sldId id="2439" r:id="rId37"/>
    <p:sldId id="2440" r:id="rId38"/>
    <p:sldId id="2441" r:id="rId39"/>
    <p:sldId id="2442" r:id="rId40"/>
    <p:sldId id="2443" r:id="rId41"/>
    <p:sldId id="2444" r:id="rId42"/>
    <p:sldId id="2445" r:id="rId43"/>
    <p:sldId id="2446" r:id="rId44"/>
    <p:sldId id="2447" r:id="rId45"/>
    <p:sldId id="2448" r:id="rId46"/>
    <p:sldId id="2449" r:id="rId47"/>
    <p:sldId id="2450" r:id="rId48"/>
    <p:sldId id="2451" r:id="rId49"/>
    <p:sldId id="2452" r:id="rId50"/>
    <p:sldId id="2453" r:id="rId51"/>
    <p:sldId id="2454" r:id="rId52"/>
    <p:sldId id="2455" r:id="rId53"/>
    <p:sldId id="2456" r:id="rId54"/>
    <p:sldId id="2457" r:id="rId55"/>
    <p:sldId id="2458" r:id="rId56"/>
    <p:sldId id="2459" r:id="rId57"/>
    <p:sldId id="2460" r:id="rId58"/>
    <p:sldId id="2461" r:id="rId59"/>
    <p:sldId id="2462" r:id="rId60"/>
    <p:sldId id="2463" r:id="rId61"/>
    <p:sldId id="2114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1B79C1-5F94-4026-B2FD-8A2777DC5940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D1E620-4048-42A6-BC9C-51BD53BD93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628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9E9B2-E1AD-E8E8-A5A1-2BD7EC2EF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9D3DD3-FF59-5EFD-E6EF-5FCBA6BC2D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E3BC7-8BEC-5485-9B63-5E4E1D211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F71EB-5069-4A3A-A2C9-9715EE4DD4A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7B96D-2BB8-BB10-F5FD-49A5AACE9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A6C62-B348-8918-628E-E933566C5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07503-191E-4D92-8D16-54B87461A7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249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FB632-902A-3215-451A-A3F90BC15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4A3DF-9998-D0A5-4E61-5DF709B57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2FD54-5E54-4AC9-7685-2D3E40BFA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F71EB-5069-4A3A-A2C9-9715EE4DD4A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C288B-CF62-76AC-2CFB-D9A3D9CB1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F8EAB-2D21-FB4D-E925-06454E59A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07503-191E-4D92-8D16-54B87461A7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4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31500-7509-41C2-9BDA-6B0A31D96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C16B9-A5D0-62EA-4551-04D8C8A14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CB7C3-9A24-41FF-6749-DF910EC09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F71EB-5069-4A3A-A2C9-9715EE4DD4A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9280E-551C-3E41-A789-1B1938899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B2963-853F-D1C4-72F7-740999641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07503-191E-4D92-8D16-54B87461A7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950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E54F2-4CB8-A48E-4512-9558AD9A9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0775A-296A-969B-AAD4-65D54D7856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CA90CD-3C23-E7A8-7557-66F6B5B5F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65640B-9E1F-AB46-C214-01479C049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F71EB-5069-4A3A-A2C9-9715EE4DD4A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998EDA-0C15-11BA-379E-AE6DF889D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0A6378-35DD-8D8E-845F-F399181DD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07503-191E-4D92-8D16-54B87461A7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204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BFA6C-6BF3-C1D8-C3E0-EEFBB4E6C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BA5B96-3651-F962-8EDB-0BD46B6F7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7C77B5-C9E5-D0AF-9C11-1C2BEE895A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313659-C7FA-E669-D6AD-C70CCD3D75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FCE553-5228-62E9-7150-1A6282C11A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04B86A-0A6A-3B8A-AF91-A5688AB5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F71EB-5069-4A3A-A2C9-9715EE4DD4A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5E7764-8C66-D757-843E-B42DA47D3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DDF71B-0A77-5835-40BE-9D713D0C0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07503-191E-4D92-8D16-54B87461A7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717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10702-EF7E-FDDF-7511-BE182E7F1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1363F6-B31A-74A4-6950-EF4B64084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F71EB-5069-4A3A-A2C9-9715EE4DD4A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FD5904-8E7E-E1DC-BEFB-2F7D11D2C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429B76-4408-1D26-63A1-432E14879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07503-191E-4D92-8D16-54B87461A7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436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D40C3B-8DB0-ECBC-22D4-070F704E9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F71EB-5069-4A3A-A2C9-9715EE4DD4A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1C881-7D30-A4D4-EE52-BD1EE8AAA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56C65-BF66-67A0-DE5C-E2397553C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07503-191E-4D92-8D16-54B87461A7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484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56D72-8271-A2FD-572E-BF5989094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9AE80-2F8D-E35A-C487-13866263F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8D07A2-8446-853D-A30F-2D913E4E19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0225C-48EB-FA11-47F4-EA8E0DEB7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F71EB-5069-4A3A-A2C9-9715EE4DD4A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C9D07-96F6-A1F4-DBC7-BBD2B920C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3A5201-BE72-3501-C854-BAFBD566D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07503-191E-4D92-8D16-54B87461A7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496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9B2DE-33E1-1C0B-2B04-285024383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11789F-B8E3-E584-94E8-4F7F7B6A7A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65DB26-16C6-2EA8-23F1-652CA1E584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003798-51FC-DB15-C996-7897B9E19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F71EB-5069-4A3A-A2C9-9715EE4DD4A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0382B-00B1-E9BF-364C-3CC0F1A96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5EA1A-1EA1-72C0-3C66-ECA682BDD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07503-191E-4D92-8D16-54B87461A7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459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46874-AE5B-F3FB-1326-34B9203BE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2543EC-F656-5248-0EB5-C75588C54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CD77E-61E8-5891-0729-43F0551E5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F71EB-5069-4A3A-A2C9-9715EE4DD4A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A8611-AADB-4B0A-CD0D-B2B58D924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910CE-94D2-F8C2-2E1F-3E9383AD0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07503-191E-4D92-8D16-54B87461A7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01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C2079-B355-4240-B1A1-7B30C7D803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E54A1E-75AC-2DAE-E2EF-010DE9D22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0B554-5EA5-8ED7-0780-D9AD10486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F71EB-5069-4A3A-A2C9-9715EE4DD4A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B72D3-97E9-C79D-4080-653FB6BB3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0FD99-BC2E-56B0-AB18-C15C36BDE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07503-191E-4D92-8D16-54B87461A7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233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687BB6-0001-834C-0511-21792571A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9D6CB7-2283-DD16-2167-44EDAB3C9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71E85-1B03-8A25-3DDB-D2EBC3B8F3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EF71EB-5069-4A3A-A2C9-9715EE4DD4A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30473-A5F8-2991-9D0C-F4296E2EE4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ADF35-D087-4DCA-38DF-07EE69D579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807503-191E-4D92-8D16-54B87461A7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348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802992" y="3811250"/>
            <a:ext cx="927331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800" dirty="0">
                <a:solidFill>
                  <a:schemeClr val="bg2"/>
                </a:solidFill>
              </a:rPr>
              <a:t>ENGLISH PPT CLASS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C0FCEA-8A32-452F-E169-6A7E34529E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241" y="791670"/>
            <a:ext cx="2953518" cy="245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397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9D89AE-D51F-1F24-DC9A-702A940B33CA}"/>
              </a:ext>
            </a:extLst>
          </p:cNvPr>
          <p:cNvSpPr txBox="1"/>
          <p:nvPr/>
        </p:nvSpPr>
        <p:spPr>
          <a:xfrm>
            <a:off x="936169" y="1184701"/>
            <a:ext cx="1096356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solidFill>
                  <a:schemeClr val="bg2"/>
                </a:solidFill>
              </a:rPr>
              <a:t>1) John is working very hardly (1)/as the examinations (2)/are fast approaching. (3)/No error (4).</a:t>
            </a:r>
            <a:endParaRPr lang="en-IN" sz="32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3919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117601" y="1264404"/>
            <a:ext cx="106299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2) The old man felled (1)/some of the trees in the garden (2)/with hardly</a:t>
            </a:r>
          </a:p>
          <a:p>
            <a:r>
              <a:rPr lang="en-GB" sz="2800" dirty="0">
                <a:solidFill>
                  <a:schemeClr val="bg2"/>
                </a:solidFill>
              </a:rPr>
              <a:t>no effort at all.(3)/ No error.(4)</a:t>
            </a:r>
          </a:p>
        </p:txBody>
      </p:sp>
    </p:spTree>
    <p:extLst>
      <p:ext uri="{BB962C8B-B14F-4D97-AF65-F5344CB8AC3E}">
        <p14:creationId xmlns:p14="http://schemas.microsoft.com/office/powerpoint/2010/main" val="2126667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3. His son(1)/ is working (2)/ very hardly. (3)/ No error.(4)</a:t>
            </a:r>
          </a:p>
          <a:p>
            <a:endParaRPr lang="en-GB" sz="2800" dirty="0">
              <a:solidFill>
                <a:schemeClr val="bg2"/>
              </a:solidFill>
            </a:endParaRPr>
          </a:p>
          <a:p>
            <a:endParaRPr lang="en-GB" sz="2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3971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sz="2800" dirty="0">
              <a:solidFill>
                <a:schemeClr val="bg2"/>
              </a:solidFill>
            </a:endParaRPr>
          </a:p>
          <a:p>
            <a:r>
              <a:rPr lang="en-GB" sz="2800" dirty="0">
                <a:solidFill>
                  <a:schemeClr val="bg2"/>
                </a:solidFill>
              </a:rPr>
              <a:t>4) No sooner the minister had heard (1)/ about the accident (2)/ than he rushed to the spot. (3)/ No Error (4)</a:t>
            </a:r>
          </a:p>
          <a:p>
            <a:endParaRPr lang="en-GB" sz="2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46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sz="2800" dirty="0">
              <a:solidFill>
                <a:schemeClr val="bg2"/>
              </a:solidFill>
            </a:endParaRPr>
          </a:p>
          <a:p>
            <a:r>
              <a:rPr lang="en-GB" sz="2800" dirty="0">
                <a:solidFill>
                  <a:schemeClr val="bg2"/>
                </a:solidFill>
              </a:rPr>
              <a:t>5) Seldom we have been (1)/ treated in such (2)/ a rude manner. (3)/ No</a:t>
            </a:r>
          </a:p>
          <a:p>
            <a:r>
              <a:rPr lang="en-GB" sz="2800" dirty="0">
                <a:solidFill>
                  <a:schemeClr val="bg2"/>
                </a:solidFill>
              </a:rPr>
              <a:t>error (4)</a:t>
            </a:r>
          </a:p>
          <a:p>
            <a:endParaRPr lang="en-GB" sz="2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759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sz="2800" dirty="0">
              <a:solidFill>
                <a:schemeClr val="bg2"/>
              </a:solidFill>
            </a:endParaRPr>
          </a:p>
          <a:p>
            <a:endParaRPr lang="en-GB" sz="2800" dirty="0">
              <a:solidFill>
                <a:schemeClr val="bg2"/>
              </a:solidFill>
            </a:endParaRPr>
          </a:p>
          <a:p>
            <a:r>
              <a:rPr lang="en-GB" sz="2800" dirty="0">
                <a:solidFill>
                  <a:schemeClr val="bg2"/>
                </a:solidFill>
              </a:rPr>
              <a:t>6) Mother does not hardly (1)/ know what happened (2)/ in school</a:t>
            </a:r>
          </a:p>
          <a:p>
            <a:r>
              <a:rPr lang="en-GB" sz="2800" dirty="0">
                <a:solidFill>
                  <a:schemeClr val="bg2"/>
                </a:solidFill>
              </a:rPr>
              <a:t>yesterday. (3)/ No error (4)</a:t>
            </a:r>
          </a:p>
        </p:txBody>
      </p:sp>
    </p:spTree>
    <p:extLst>
      <p:ext uri="{BB962C8B-B14F-4D97-AF65-F5344CB8AC3E}">
        <p14:creationId xmlns:p14="http://schemas.microsoft.com/office/powerpoint/2010/main" val="4147456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7) Sheldon is an intelligent boy, he thinks quick.</a:t>
            </a:r>
          </a:p>
          <a:p>
            <a:pPr marL="514350" indent="-514350">
              <a:buAutoNum type="arabicParenBoth"/>
            </a:pPr>
            <a:r>
              <a:rPr lang="en-GB" sz="2800" dirty="0">
                <a:solidFill>
                  <a:schemeClr val="bg2"/>
                </a:solidFill>
              </a:rPr>
              <a:t>thinks </a:t>
            </a:r>
          </a:p>
          <a:p>
            <a:r>
              <a:rPr lang="en-GB" sz="2800" dirty="0">
                <a:solidFill>
                  <a:schemeClr val="bg2"/>
                </a:solidFill>
              </a:rPr>
              <a:t>(2) quick</a:t>
            </a:r>
          </a:p>
          <a:p>
            <a:r>
              <a:rPr lang="en-GB" sz="2800" dirty="0">
                <a:solidFill>
                  <a:schemeClr val="bg2"/>
                </a:solidFill>
              </a:rPr>
              <a:t>(3) is </a:t>
            </a:r>
          </a:p>
          <a:p>
            <a:r>
              <a:rPr lang="en-GB" sz="2800" dirty="0">
                <a:solidFill>
                  <a:schemeClr val="bg2"/>
                </a:solidFill>
              </a:rPr>
              <a:t>(4) No error</a:t>
            </a:r>
          </a:p>
        </p:txBody>
      </p:sp>
    </p:spTree>
    <p:extLst>
      <p:ext uri="{BB962C8B-B14F-4D97-AF65-F5344CB8AC3E}">
        <p14:creationId xmlns:p14="http://schemas.microsoft.com/office/powerpoint/2010/main" val="1979329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8) This machine looks good but is very badly designed and doesn't work</a:t>
            </a:r>
          </a:p>
          <a:p>
            <a:r>
              <a:rPr lang="en-GB" sz="2800" dirty="0">
                <a:solidFill>
                  <a:schemeClr val="bg2"/>
                </a:solidFill>
              </a:rPr>
              <a:t>good.</a:t>
            </a:r>
          </a:p>
          <a:p>
            <a:r>
              <a:rPr lang="en-GB" sz="2800" dirty="0">
                <a:solidFill>
                  <a:schemeClr val="bg2"/>
                </a:solidFill>
              </a:rPr>
              <a:t>(1) and doesn't work good.</a:t>
            </a:r>
          </a:p>
          <a:p>
            <a:r>
              <a:rPr lang="en-GB" sz="2800" dirty="0">
                <a:solidFill>
                  <a:schemeClr val="bg2"/>
                </a:solidFill>
              </a:rPr>
              <a:t>(2) but is very badly designed</a:t>
            </a:r>
          </a:p>
          <a:p>
            <a:r>
              <a:rPr lang="en-GB" sz="2800" dirty="0">
                <a:solidFill>
                  <a:schemeClr val="bg2"/>
                </a:solidFill>
              </a:rPr>
              <a:t>(3) No error</a:t>
            </a:r>
          </a:p>
          <a:p>
            <a:r>
              <a:rPr lang="en-GB" sz="2800" dirty="0">
                <a:solidFill>
                  <a:schemeClr val="bg2"/>
                </a:solidFill>
              </a:rPr>
              <a:t>(4) This machine looks good</a:t>
            </a:r>
          </a:p>
        </p:txBody>
      </p:sp>
    </p:spTree>
    <p:extLst>
      <p:ext uri="{BB962C8B-B14F-4D97-AF65-F5344CB8AC3E}">
        <p14:creationId xmlns:p14="http://schemas.microsoft.com/office/powerpoint/2010/main" val="983892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9) Although Rahul ran very (1)/ </a:t>
            </a:r>
            <a:r>
              <a:rPr lang="en-GB" sz="2800" dirty="0" err="1">
                <a:solidFill>
                  <a:schemeClr val="bg2"/>
                </a:solidFill>
              </a:rPr>
              <a:t>fastly</a:t>
            </a:r>
            <a:r>
              <a:rPr lang="en-GB" sz="2800" dirty="0">
                <a:solidFill>
                  <a:schemeClr val="bg2"/>
                </a:solidFill>
              </a:rPr>
              <a:t> he could not (2)/ catch the moving</a:t>
            </a:r>
          </a:p>
          <a:p>
            <a:r>
              <a:rPr lang="en-GB" sz="2800" dirty="0">
                <a:solidFill>
                  <a:schemeClr val="bg2"/>
                </a:solidFill>
              </a:rPr>
              <a:t>bus. (3)/ No Error (4)</a:t>
            </a:r>
          </a:p>
          <a:p>
            <a:endParaRPr lang="en-GB" sz="2800" dirty="0">
              <a:solidFill>
                <a:schemeClr val="bg2"/>
              </a:solidFill>
            </a:endParaRPr>
          </a:p>
          <a:p>
            <a:endParaRPr lang="en-GB" sz="2800" dirty="0">
              <a:solidFill>
                <a:schemeClr val="bg2"/>
              </a:solidFill>
            </a:endParaRPr>
          </a:p>
          <a:p>
            <a:r>
              <a:rPr lang="en-GB" sz="2800" dirty="0">
                <a:solidFill>
                  <a:schemeClr val="bg2"/>
                </a:solidFill>
              </a:rPr>
              <a:t>10) Please go out and check if it is yet raining.</a:t>
            </a:r>
          </a:p>
          <a:p>
            <a:r>
              <a:rPr lang="en-GB" sz="2800" dirty="0">
                <a:solidFill>
                  <a:schemeClr val="bg2"/>
                </a:solidFill>
              </a:rPr>
              <a:t>(1) and check</a:t>
            </a:r>
          </a:p>
          <a:p>
            <a:r>
              <a:rPr lang="en-GB" sz="2800" dirty="0">
                <a:solidFill>
                  <a:schemeClr val="bg2"/>
                </a:solidFill>
              </a:rPr>
              <a:t>(2) if it is</a:t>
            </a:r>
          </a:p>
          <a:p>
            <a:r>
              <a:rPr lang="en-GB" sz="2800" dirty="0">
                <a:solidFill>
                  <a:schemeClr val="bg2"/>
                </a:solidFill>
              </a:rPr>
              <a:t>(3) yet raining</a:t>
            </a:r>
          </a:p>
          <a:p>
            <a:r>
              <a:rPr lang="en-GB" sz="2800" dirty="0">
                <a:solidFill>
                  <a:schemeClr val="bg2"/>
                </a:solidFill>
              </a:rPr>
              <a:t>(4) Please go out</a:t>
            </a:r>
          </a:p>
        </p:txBody>
      </p:sp>
    </p:spTree>
    <p:extLst>
      <p:ext uri="{BB962C8B-B14F-4D97-AF65-F5344CB8AC3E}">
        <p14:creationId xmlns:p14="http://schemas.microsoft.com/office/powerpoint/2010/main" val="2488645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11) The captain of the team was very criticized for the quality of his</a:t>
            </a:r>
          </a:p>
          <a:p>
            <a:r>
              <a:rPr lang="en-GB" sz="2800" dirty="0">
                <a:solidFill>
                  <a:schemeClr val="bg2"/>
                </a:solidFill>
              </a:rPr>
              <a:t>leadership.</a:t>
            </a:r>
          </a:p>
          <a:p>
            <a:r>
              <a:rPr lang="en-GB" sz="2800" dirty="0">
                <a:solidFill>
                  <a:schemeClr val="bg2"/>
                </a:solidFill>
              </a:rPr>
              <a:t>(1) his</a:t>
            </a:r>
          </a:p>
          <a:p>
            <a:r>
              <a:rPr lang="en-GB" sz="2800" dirty="0">
                <a:solidFill>
                  <a:schemeClr val="bg2"/>
                </a:solidFill>
              </a:rPr>
              <a:t>(2) the</a:t>
            </a:r>
          </a:p>
          <a:p>
            <a:r>
              <a:rPr lang="en-GB" sz="2800" dirty="0">
                <a:solidFill>
                  <a:schemeClr val="bg2"/>
                </a:solidFill>
              </a:rPr>
              <a:t>(3) for</a:t>
            </a:r>
          </a:p>
          <a:p>
            <a:r>
              <a:rPr lang="en-GB" sz="2800" dirty="0">
                <a:solidFill>
                  <a:schemeClr val="bg2"/>
                </a:solidFill>
              </a:rPr>
              <a:t>(4) very</a:t>
            </a:r>
          </a:p>
        </p:txBody>
      </p:sp>
    </p:spTree>
    <p:extLst>
      <p:ext uri="{BB962C8B-B14F-4D97-AF65-F5344CB8AC3E}">
        <p14:creationId xmlns:p14="http://schemas.microsoft.com/office/powerpoint/2010/main" val="2070435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12) I cannot ask (1)  / my father (2)  / for his car without (3)  / any vividly reason. (4)  / No Error (5)</a:t>
            </a:r>
          </a:p>
          <a:p>
            <a:endParaRPr lang="en-GB" sz="2800" dirty="0">
              <a:solidFill>
                <a:schemeClr val="bg2"/>
              </a:solidFill>
            </a:endParaRPr>
          </a:p>
          <a:p>
            <a:r>
              <a:rPr lang="en-GB" sz="2800" dirty="0">
                <a:solidFill>
                  <a:schemeClr val="bg2"/>
                </a:solidFill>
              </a:rPr>
              <a:t>a. 1</a:t>
            </a:r>
          </a:p>
          <a:p>
            <a:r>
              <a:rPr lang="en-GB" sz="2800" dirty="0">
                <a:solidFill>
                  <a:schemeClr val="bg2"/>
                </a:solidFill>
              </a:rPr>
              <a:t>b. 2</a:t>
            </a:r>
          </a:p>
          <a:p>
            <a:r>
              <a:rPr lang="en-GB" sz="2800" dirty="0">
                <a:solidFill>
                  <a:schemeClr val="bg2"/>
                </a:solidFill>
              </a:rPr>
              <a:t>c. 3</a:t>
            </a:r>
          </a:p>
          <a:p>
            <a:r>
              <a:rPr lang="en-GB" sz="2800" dirty="0">
                <a:solidFill>
                  <a:schemeClr val="bg2"/>
                </a:solidFill>
              </a:rPr>
              <a:t>d. 4</a:t>
            </a:r>
          </a:p>
          <a:p>
            <a:r>
              <a:rPr lang="en-GB" sz="2800" dirty="0">
                <a:solidFill>
                  <a:schemeClr val="bg2"/>
                </a:solidFill>
              </a:rPr>
              <a:t>e. 5</a:t>
            </a:r>
          </a:p>
        </p:txBody>
      </p:sp>
    </p:spTree>
    <p:extLst>
      <p:ext uri="{BB962C8B-B14F-4D97-AF65-F5344CB8AC3E}">
        <p14:creationId xmlns:p14="http://schemas.microsoft.com/office/powerpoint/2010/main" val="4043426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She took (1) / tea and (2)  / said that (3)  / it tasted sweetly. (4)  / No Error (5)</a:t>
            </a:r>
          </a:p>
          <a:p>
            <a:endParaRPr lang="en-GB" sz="2800" dirty="0">
              <a:solidFill>
                <a:schemeClr val="bg2"/>
              </a:solidFill>
            </a:endParaRPr>
          </a:p>
          <a:p>
            <a:r>
              <a:rPr lang="en-GB" sz="2800" dirty="0">
                <a:solidFill>
                  <a:schemeClr val="bg2"/>
                </a:solidFill>
              </a:rPr>
              <a:t>a. 1</a:t>
            </a:r>
          </a:p>
          <a:p>
            <a:r>
              <a:rPr lang="en-GB" sz="2800" dirty="0">
                <a:solidFill>
                  <a:schemeClr val="bg2"/>
                </a:solidFill>
              </a:rPr>
              <a:t>b. 2</a:t>
            </a:r>
          </a:p>
          <a:p>
            <a:r>
              <a:rPr lang="en-GB" sz="2800" dirty="0">
                <a:solidFill>
                  <a:schemeClr val="bg2"/>
                </a:solidFill>
              </a:rPr>
              <a:t>c. 3</a:t>
            </a:r>
          </a:p>
          <a:p>
            <a:r>
              <a:rPr lang="en-GB" sz="2800" dirty="0">
                <a:solidFill>
                  <a:schemeClr val="bg2"/>
                </a:solidFill>
              </a:rPr>
              <a:t>d. 4</a:t>
            </a:r>
          </a:p>
          <a:p>
            <a:r>
              <a:rPr lang="en-GB" sz="2800" dirty="0">
                <a:solidFill>
                  <a:schemeClr val="bg2"/>
                </a:solidFill>
              </a:rPr>
              <a:t>e. 5</a:t>
            </a:r>
          </a:p>
        </p:txBody>
      </p:sp>
    </p:spTree>
    <p:extLst>
      <p:ext uri="{BB962C8B-B14F-4D97-AF65-F5344CB8AC3E}">
        <p14:creationId xmlns:p14="http://schemas.microsoft.com/office/powerpoint/2010/main" val="1931661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He was exceedingly paid (1)  / for how skilful he (2)  / handled (3)  / the crowd. (4)  / No Error (5)</a:t>
            </a:r>
          </a:p>
          <a:p>
            <a:endParaRPr lang="en-GB" sz="2800" dirty="0">
              <a:solidFill>
                <a:schemeClr val="bg2"/>
              </a:solidFill>
            </a:endParaRPr>
          </a:p>
          <a:p>
            <a:r>
              <a:rPr lang="en-GB" sz="2800" dirty="0">
                <a:solidFill>
                  <a:schemeClr val="bg2"/>
                </a:solidFill>
              </a:rPr>
              <a:t>a. 1</a:t>
            </a:r>
          </a:p>
          <a:p>
            <a:r>
              <a:rPr lang="en-GB" sz="2800" dirty="0">
                <a:solidFill>
                  <a:schemeClr val="bg2"/>
                </a:solidFill>
              </a:rPr>
              <a:t>b. 2</a:t>
            </a:r>
          </a:p>
          <a:p>
            <a:r>
              <a:rPr lang="en-GB" sz="2800" dirty="0">
                <a:solidFill>
                  <a:schemeClr val="bg2"/>
                </a:solidFill>
              </a:rPr>
              <a:t>c. 3</a:t>
            </a:r>
          </a:p>
          <a:p>
            <a:r>
              <a:rPr lang="en-GB" sz="2800" dirty="0">
                <a:solidFill>
                  <a:schemeClr val="bg2"/>
                </a:solidFill>
              </a:rPr>
              <a:t>d. 4</a:t>
            </a:r>
          </a:p>
          <a:p>
            <a:r>
              <a:rPr lang="en-GB" sz="2800" dirty="0">
                <a:solidFill>
                  <a:schemeClr val="bg2"/>
                </a:solidFill>
              </a:rPr>
              <a:t>e. 5</a:t>
            </a:r>
          </a:p>
        </p:txBody>
      </p:sp>
    </p:spTree>
    <p:extLst>
      <p:ext uri="{BB962C8B-B14F-4D97-AF65-F5344CB8AC3E}">
        <p14:creationId xmlns:p14="http://schemas.microsoft.com/office/powerpoint/2010/main" val="2478368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 I met her (1)  / about ten years ago (2)  / and have remembered her (3)  / ever for. (4)  / No Error (5)</a:t>
            </a:r>
          </a:p>
          <a:p>
            <a:endParaRPr lang="en-GB" sz="2800" dirty="0">
              <a:solidFill>
                <a:schemeClr val="bg2"/>
              </a:solidFill>
            </a:endParaRPr>
          </a:p>
          <a:p>
            <a:r>
              <a:rPr lang="en-GB" sz="2800" dirty="0">
                <a:solidFill>
                  <a:schemeClr val="bg2"/>
                </a:solidFill>
              </a:rPr>
              <a:t>a. 1</a:t>
            </a:r>
          </a:p>
          <a:p>
            <a:r>
              <a:rPr lang="en-GB" sz="2800" dirty="0">
                <a:solidFill>
                  <a:schemeClr val="bg2"/>
                </a:solidFill>
              </a:rPr>
              <a:t>b. 2</a:t>
            </a:r>
          </a:p>
          <a:p>
            <a:r>
              <a:rPr lang="en-GB" sz="2800" dirty="0">
                <a:solidFill>
                  <a:schemeClr val="bg2"/>
                </a:solidFill>
              </a:rPr>
              <a:t>c. 3</a:t>
            </a:r>
          </a:p>
          <a:p>
            <a:r>
              <a:rPr lang="en-GB" sz="2800" dirty="0">
                <a:solidFill>
                  <a:schemeClr val="bg2"/>
                </a:solidFill>
              </a:rPr>
              <a:t>d. 4</a:t>
            </a:r>
          </a:p>
          <a:p>
            <a:r>
              <a:rPr lang="en-GB" sz="2800" dirty="0">
                <a:solidFill>
                  <a:schemeClr val="bg2"/>
                </a:solidFill>
              </a:rPr>
              <a:t>e. 5.</a:t>
            </a:r>
          </a:p>
        </p:txBody>
      </p:sp>
    </p:spTree>
    <p:extLst>
      <p:ext uri="{BB962C8B-B14F-4D97-AF65-F5344CB8AC3E}">
        <p14:creationId xmlns:p14="http://schemas.microsoft.com/office/powerpoint/2010/main" val="3199341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He is very senior (1)  / to me (2)  / so I dare not (3)  / disrespect him. (4)  / No Error (5)</a:t>
            </a:r>
          </a:p>
          <a:p>
            <a:endParaRPr lang="en-GB" sz="2800" dirty="0">
              <a:solidFill>
                <a:schemeClr val="bg2"/>
              </a:solidFill>
            </a:endParaRPr>
          </a:p>
          <a:p>
            <a:r>
              <a:rPr lang="en-GB" sz="2800" dirty="0">
                <a:solidFill>
                  <a:schemeClr val="bg2"/>
                </a:solidFill>
              </a:rPr>
              <a:t>a. 1</a:t>
            </a:r>
          </a:p>
          <a:p>
            <a:r>
              <a:rPr lang="en-GB" sz="2800" dirty="0">
                <a:solidFill>
                  <a:schemeClr val="bg2"/>
                </a:solidFill>
              </a:rPr>
              <a:t>b. 2</a:t>
            </a:r>
          </a:p>
          <a:p>
            <a:r>
              <a:rPr lang="en-GB" sz="2800" dirty="0">
                <a:solidFill>
                  <a:schemeClr val="bg2"/>
                </a:solidFill>
              </a:rPr>
              <a:t>c. 3</a:t>
            </a:r>
          </a:p>
          <a:p>
            <a:r>
              <a:rPr lang="en-GB" sz="2800" dirty="0">
                <a:solidFill>
                  <a:schemeClr val="bg2"/>
                </a:solidFill>
              </a:rPr>
              <a:t>d. 4</a:t>
            </a:r>
          </a:p>
          <a:p>
            <a:r>
              <a:rPr lang="en-GB" sz="2800" dirty="0">
                <a:solidFill>
                  <a:schemeClr val="bg2"/>
                </a:solidFill>
              </a:rPr>
              <a:t>e. 5</a:t>
            </a:r>
          </a:p>
        </p:txBody>
      </p:sp>
    </p:spTree>
    <p:extLst>
      <p:ext uri="{BB962C8B-B14F-4D97-AF65-F5344CB8AC3E}">
        <p14:creationId xmlns:p14="http://schemas.microsoft.com/office/powerpoint/2010/main" val="33956507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She was (1)  / heavily fined (2)  / last month (3)  / for coming lately. (4)  / No Error (5)</a:t>
            </a:r>
          </a:p>
          <a:p>
            <a:endParaRPr lang="en-GB" sz="2800" dirty="0">
              <a:solidFill>
                <a:schemeClr val="bg2"/>
              </a:solidFill>
            </a:endParaRPr>
          </a:p>
          <a:p>
            <a:r>
              <a:rPr lang="en-GB" sz="2800" dirty="0">
                <a:solidFill>
                  <a:schemeClr val="bg2"/>
                </a:solidFill>
              </a:rPr>
              <a:t>a. 1</a:t>
            </a:r>
          </a:p>
          <a:p>
            <a:r>
              <a:rPr lang="en-GB" sz="2800" dirty="0">
                <a:solidFill>
                  <a:schemeClr val="bg2"/>
                </a:solidFill>
              </a:rPr>
              <a:t>b. 2</a:t>
            </a:r>
          </a:p>
          <a:p>
            <a:r>
              <a:rPr lang="en-GB" sz="2800" dirty="0">
                <a:solidFill>
                  <a:schemeClr val="bg2"/>
                </a:solidFill>
              </a:rPr>
              <a:t>c. 3</a:t>
            </a:r>
          </a:p>
          <a:p>
            <a:r>
              <a:rPr lang="en-GB" sz="2800" dirty="0">
                <a:solidFill>
                  <a:schemeClr val="bg2"/>
                </a:solidFill>
              </a:rPr>
              <a:t>d. 4</a:t>
            </a:r>
          </a:p>
          <a:p>
            <a:r>
              <a:rPr lang="en-GB" sz="2800" dirty="0">
                <a:solidFill>
                  <a:schemeClr val="bg2"/>
                </a:solidFill>
              </a:rPr>
              <a:t>e. 5</a:t>
            </a:r>
          </a:p>
        </p:txBody>
      </p:sp>
    </p:spTree>
    <p:extLst>
      <p:ext uri="{BB962C8B-B14F-4D97-AF65-F5344CB8AC3E}">
        <p14:creationId xmlns:p14="http://schemas.microsoft.com/office/powerpoint/2010/main" val="14397699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He describes the place vivid / that inspired in us / a wish to visit / the same.</a:t>
            </a:r>
          </a:p>
          <a:p>
            <a:r>
              <a:rPr lang="en-GB" sz="2800" dirty="0">
                <a:solidFill>
                  <a:schemeClr val="bg2"/>
                </a:solidFill>
              </a:rPr>
              <a:t>(a) He describes the place vivid</a:t>
            </a:r>
          </a:p>
          <a:p>
            <a:r>
              <a:rPr lang="en-GB" sz="2800" dirty="0">
                <a:solidFill>
                  <a:schemeClr val="bg2"/>
                </a:solidFill>
              </a:rPr>
              <a:t>(b) the same.</a:t>
            </a:r>
          </a:p>
          <a:p>
            <a:r>
              <a:rPr lang="en-GB" sz="2800" dirty="0">
                <a:solidFill>
                  <a:schemeClr val="bg2"/>
                </a:solidFill>
              </a:rPr>
              <a:t>(c) a wish to visit</a:t>
            </a:r>
          </a:p>
          <a:p>
            <a:r>
              <a:rPr lang="en-GB" sz="2800" dirty="0">
                <a:solidFill>
                  <a:schemeClr val="bg2"/>
                </a:solidFill>
              </a:rPr>
              <a:t>(d) that inspired in us</a:t>
            </a:r>
          </a:p>
        </p:txBody>
      </p:sp>
    </p:spTree>
    <p:extLst>
      <p:ext uri="{BB962C8B-B14F-4D97-AF65-F5344CB8AC3E}">
        <p14:creationId xmlns:p14="http://schemas.microsoft.com/office/powerpoint/2010/main" val="10928819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At one time birds and animals lived peaceful together.</a:t>
            </a:r>
          </a:p>
          <a:p>
            <a:endParaRPr lang="en-GB" sz="2800" dirty="0">
              <a:solidFill>
                <a:schemeClr val="bg2"/>
              </a:solidFill>
            </a:endParaRPr>
          </a:p>
          <a:p>
            <a:endParaRPr lang="en-GB" sz="2800" dirty="0">
              <a:solidFill>
                <a:schemeClr val="bg2"/>
              </a:solidFill>
            </a:endParaRPr>
          </a:p>
          <a:p>
            <a:r>
              <a:rPr lang="en-GB" sz="2800" dirty="0">
                <a:solidFill>
                  <a:schemeClr val="bg2"/>
                </a:solidFill>
              </a:rPr>
              <a:t>(a) At one time</a:t>
            </a:r>
          </a:p>
          <a:p>
            <a:r>
              <a:rPr lang="en-GB" sz="2800" dirty="0">
                <a:solidFill>
                  <a:schemeClr val="bg2"/>
                </a:solidFill>
              </a:rPr>
              <a:t>(b) birds and animals lived</a:t>
            </a:r>
          </a:p>
          <a:p>
            <a:r>
              <a:rPr lang="en-GB" sz="2800" dirty="0">
                <a:solidFill>
                  <a:schemeClr val="bg2"/>
                </a:solidFill>
              </a:rPr>
              <a:t>(c) No error</a:t>
            </a:r>
          </a:p>
          <a:p>
            <a:r>
              <a:rPr lang="en-GB" sz="2800" dirty="0">
                <a:solidFill>
                  <a:schemeClr val="bg2"/>
                </a:solidFill>
              </a:rPr>
              <a:t>(d) peaceful together</a:t>
            </a:r>
          </a:p>
        </p:txBody>
      </p:sp>
    </p:spTree>
    <p:extLst>
      <p:ext uri="{BB962C8B-B14F-4D97-AF65-F5344CB8AC3E}">
        <p14:creationId xmlns:p14="http://schemas.microsoft.com/office/powerpoint/2010/main" val="30036626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The department (A)/ assured us that a series of seminars (B) / were to be arranged.(C) / No Error (D)</a:t>
            </a:r>
          </a:p>
          <a:p>
            <a:endParaRPr lang="en-GB" sz="2800" dirty="0">
              <a:solidFill>
                <a:schemeClr val="bg2"/>
              </a:solidFill>
            </a:endParaRPr>
          </a:p>
          <a:p>
            <a:endParaRPr lang="en-GB" sz="2800" dirty="0">
              <a:solidFill>
                <a:schemeClr val="bg2"/>
              </a:solidFill>
            </a:endParaRPr>
          </a:p>
          <a:p>
            <a:endParaRPr lang="en-GB" sz="2800" dirty="0">
              <a:solidFill>
                <a:schemeClr val="bg2"/>
              </a:solidFill>
            </a:endParaRPr>
          </a:p>
          <a:p>
            <a:endParaRPr lang="en-GB" sz="2800" dirty="0">
              <a:solidFill>
                <a:schemeClr val="bg2"/>
              </a:solidFill>
            </a:endParaRPr>
          </a:p>
          <a:p>
            <a:r>
              <a:rPr lang="en-GB" sz="2800" dirty="0">
                <a:solidFill>
                  <a:schemeClr val="bg2"/>
                </a:solidFill>
              </a:rPr>
              <a:t>The Manager says that (A)/there is many important details (B)/ to attend before this gets launched. (C) / No Error (D)</a:t>
            </a:r>
          </a:p>
        </p:txBody>
      </p:sp>
    </p:spTree>
    <p:extLst>
      <p:ext uri="{BB962C8B-B14F-4D97-AF65-F5344CB8AC3E}">
        <p14:creationId xmlns:p14="http://schemas.microsoft.com/office/powerpoint/2010/main" val="40618210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794327" y="1014867"/>
            <a:ext cx="1126836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One of the issues which was (A)/discussed at the meeting (B)/was raised by him. (C)/ No Error (D)</a:t>
            </a:r>
          </a:p>
          <a:p>
            <a:endParaRPr lang="en-GB" sz="2800" dirty="0">
              <a:solidFill>
                <a:schemeClr val="bg2"/>
              </a:solidFill>
            </a:endParaRPr>
          </a:p>
          <a:p>
            <a:endParaRPr lang="en-GB" sz="2800" dirty="0">
              <a:solidFill>
                <a:schemeClr val="bg2"/>
              </a:solidFill>
            </a:endParaRPr>
          </a:p>
          <a:p>
            <a:endParaRPr lang="en-GB" sz="2800" dirty="0">
              <a:solidFill>
                <a:schemeClr val="bg2"/>
              </a:solidFill>
            </a:endParaRPr>
          </a:p>
          <a:p>
            <a:endParaRPr lang="en-GB" sz="2800" dirty="0">
              <a:solidFill>
                <a:schemeClr val="bg2"/>
              </a:solidFill>
            </a:endParaRPr>
          </a:p>
          <a:p>
            <a:r>
              <a:rPr lang="en-GB" sz="2800" dirty="0">
                <a:solidFill>
                  <a:schemeClr val="bg2"/>
                </a:solidFill>
              </a:rPr>
              <a:t>More than one student have (A)/ taken the interview (B)/ for this company. (C) / No Error (D)</a:t>
            </a:r>
          </a:p>
        </p:txBody>
      </p:sp>
    </p:spTree>
    <p:extLst>
      <p:ext uri="{BB962C8B-B14F-4D97-AF65-F5344CB8AC3E}">
        <p14:creationId xmlns:p14="http://schemas.microsoft.com/office/powerpoint/2010/main" val="37984217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794327" y="1014867"/>
            <a:ext cx="1115752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He walked five miles which are really a great distance(A)/ for a man like him (C)/who is not only old but also ill(C)./ (D) No error</a:t>
            </a:r>
          </a:p>
          <a:p>
            <a:endParaRPr lang="en-GB" sz="2800" dirty="0">
              <a:solidFill>
                <a:schemeClr val="bg2"/>
              </a:solidFill>
            </a:endParaRPr>
          </a:p>
          <a:p>
            <a:endParaRPr lang="en-GB" sz="2800" dirty="0">
              <a:solidFill>
                <a:schemeClr val="bg2"/>
              </a:solidFill>
            </a:endParaRPr>
          </a:p>
          <a:p>
            <a:endParaRPr lang="en-GB" sz="2800" dirty="0">
              <a:solidFill>
                <a:schemeClr val="bg2"/>
              </a:solidFill>
            </a:endParaRPr>
          </a:p>
          <a:p>
            <a:endParaRPr lang="en-GB" sz="2800" dirty="0">
              <a:solidFill>
                <a:schemeClr val="bg2"/>
              </a:solidFill>
            </a:endParaRPr>
          </a:p>
          <a:p>
            <a:r>
              <a:rPr lang="en-GB" sz="2800" dirty="0">
                <a:solidFill>
                  <a:schemeClr val="bg2"/>
                </a:solidFill>
              </a:rPr>
              <a:t>The rise and fall(A)/of the tide are due(B)/to lunar influence.(C)/No error(D)</a:t>
            </a:r>
          </a:p>
        </p:txBody>
      </p:sp>
    </p:spTree>
    <p:extLst>
      <p:ext uri="{BB962C8B-B14F-4D97-AF65-F5344CB8AC3E}">
        <p14:creationId xmlns:p14="http://schemas.microsoft.com/office/powerpoint/2010/main" val="16948877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950212"/>
            <a:ext cx="1062997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The Secretary and Principal of the college(A)/are attending(B)/the District Development Council Meeting at the Collectorate.(C)/ No error(D)</a:t>
            </a:r>
          </a:p>
          <a:p>
            <a:endParaRPr lang="en-GB" sz="2800" dirty="0">
              <a:solidFill>
                <a:schemeClr val="bg2"/>
              </a:solidFill>
            </a:endParaRPr>
          </a:p>
          <a:p>
            <a:endParaRPr lang="en-GB" sz="2800" dirty="0">
              <a:solidFill>
                <a:schemeClr val="bg2"/>
              </a:solidFill>
            </a:endParaRPr>
          </a:p>
          <a:p>
            <a:endParaRPr lang="en-GB" sz="2800" dirty="0">
              <a:solidFill>
                <a:schemeClr val="bg2"/>
              </a:solidFill>
            </a:endParaRPr>
          </a:p>
          <a:p>
            <a:r>
              <a:rPr lang="en-GB" sz="2800" dirty="0">
                <a:solidFill>
                  <a:schemeClr val="bg2"/>
                </a:solidFill>
              </a:rPr>
              <a:t>Patience as well as perseverance (A)/are necessary (B)/ for success.(C)/ No error(D)</a:t>
            </a:r>
          </a:p>
        </p:txBody>
      </p:sp>
    </p:spTree>
    <p:extLst>
      <p:ext uri="{BB962C8B-B14F-4D97-AF65-F5344CB8AC3E}">
        <p14:creationId xmlns:p14="http://schemas.microsoft.com/office/powerpoint/2010/main" val="20888582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711199" y="1014867"/>
            <a:ext cx="1124065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She immediately quits(A)/the job in which(B)/neither skill nor knowledge was required.(C)/No error(D)</a:t>
            </a:r>
          </a:p>
          <a:p>
            <a:endParaRPr lang="en-GB" sz="2800" dirty="0">
              <a:solidFill>
                <a:schemeClr val="bg2"/>
              </a:solidFill>
            </a:endParaRPr>
          </a:p>
          <a:p>
            <a:endParaRPr lang="en-GB" sz="2800" dirty="0">
              <a:solidFill>
                <a:schemeClr val="bg2"/>
              </a:solidFill>
            </a:endParaRPr>
          </a:p>
          <a:p>
            <a:endParaRPr lang="en-GB" sz="2800" dirty="0">
              <a:solidFill>
                <a:schemeClr val="bg2"/>
              </a:solidFill>
            </a:endParaRPr>
          </a:p>
          <a:p>
            <a:endParaRPr lang="en-GB" sz="2800" dirty="0">
              <a:solidFill>
                <a:schemeClr val="bg2"/>
              </a:solidFill>
            </a:endParaRPr>
          </a:p>
          <a:p>
            <a:r>
              <a:rPr lang="en-GB" sz="2800" dirty="0">
                <a:solidFill>
                  <a:schemeClr val="bg2"/>
                </a:solidFill>
              </a:rPr>
              <a:t>Two miles beyond(A)/that building was seen dozens(B)/of antisocial elements(C)/No error(D)</a:t>
            </a:r>
          </a:p>
        </p:txBody>
      </p:sp>
    </p:spTree>
    <p:extLst>
      <p:ext uri="{BB962C8B-B14F-4D97-AF65-F5344CB8AC3E}">
        <p14:creationId xmlns:p14="http://schemas.microsoft.com/office/powerpoint/2010/main" val="31425606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The doctor with his two daughters__________ unable to find the reason behind his son’s sudden demise.</a:t>
            </a:r>
          </a:p>
          <a:p>
            <a:pPr marL="514350" indent="-514350">
              <a:buAutoNum type="alphaUcParenBoth"/>
            </a:pPr>
            <a:r>
              <a:rPr lang="en-GB" sz="2800" dirty="0">
                <a:solidFill>
                  <a:schemeClr val="bg2"/>
                </a:solidFill>
              </a:rPr>
              <a:t>is </a:t>
            </a:r>
          </a:p>
          <a:p>
            <a:r>
              <a:rPr lang="en-GB" sz="2800" dirty="0">
                <a:solidFill>
                  <a:schemeClr val="bg2"/>
                </a:solidFill>
              </a:rPr>
              <a:t>(B)have</a:t>
            </a:r>
          </a:p>
          <a:p>
            <a:r>
              <a:rPr lang="en-GB" sz="2800" dirty="0">
                <a:solidFill>
                  <a:schemeClr val="bg2"/>
                </a:solidFill>
              </a:rPr>
              <a:t>(C) were </a:t>
            </a:r>
          </a:p>
          <a:p>
            <a:r>
              <a:rPr lang="en-GB" sz="2800" dirty="0">
                <a:solidFill>
                  <a:schemeClr val="bg2"/>
                </a:solidFill>
              </a:rPr>
              <a:t>(D)are</a:t>
            </a:r>
          </a:p>
        </p:txBody>
      </p:sp>
    </p:spTree>
    <p:extLst>
      <p:ext uri="{BB962C8B-B14F-4D97-AF65-F5344CB8AC3E}">
        <p14:creationId xmlns:p14="http://schemas.microsoft.com/office/powerpoint/2010/main" val="33210557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The number of refugees residing in America _________ increasing day by day.</a:t>
            </a:r>
          </a:p>
          <a:p>
            <a:r>
              <a:rPr lang="en-GB" sz="2800" dirty="0">
                <a:solidFill>
                  <a:schemeClr val="bg2"/>
                </a:solidFill>
              </a:rPr>
              <a:t>(A)    is   (B)are    (C)were   (D)have been</a:t>
            </a:r>
          </a:p>
          <a:p>
            <a:endParaRPr lang="en-GB" sz="2800" dirty="0">
              <a:solidFill>
                <a:schemeClr val="bg2"/>
              </a:solidFill>
            </a:endParaRPr>
          </a:p>
          <a:p>
            <a:endParaRPr lang="en-GB" sz="2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2808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The candidates who _______not given their payment till now is bound to be disqualified.</a:t>
            </a:r>
          </a:p>
          <a:p>
            <a:r>
              <a:rPr lang="en-GB" sz="2800" dirty="0">
                <a:solidFill>
                  <a:schemeClr val="bg2"/>
                </a:solidFill>
              </a:rPr>
              <a:t>(A) is (B)are (C)has (D)have</a:t>
            </a:r>
          </a:p>
        </p:txBody>
      </p:sp>
    </p:spTree>
    <p:extLst>
      <p:ext uri="{BB962C8B-B14F-4D97-AF65-F5344CB8AC3E}">
        <p14:creationId xmlns:p14="http://schemas.microsoft.com/office/powerpoint/2010/main" val="32665532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A few </a:t>
            </a:r>
            <a:r>
              <a:rPr lang="en-GB" sz="2800" dirty="0" err="1">
                <a:solidFill>
                  <a:schemeClr val="bg2"/>
                </a:solidFill>
              </a:rPr>
              <a:t>kilometers</a:t>
            </a:r>
            <a:r>
              <a:rPr lang="en-GB" sz="2800" dirty="0">
                <a:solidFill>
                  <a:schemeClr val="bg2"/>
                </a:solidFill>
              </a:rPr>
              <a:t> beyond (a) /that villa was seen two aliens (b )/along with (c)/ a few Americans and Russian scientists (d)/ No error (e).</a:t>
            </a:r>
          </a:p>
        </p:txBody>
      </p:sp>
    </p:spTree>
    <p:extLst>
      <p:ext uri="{BB962C8B-B14F-4D97-AF65-F5344CB8AC3E}">
        <p14:creationId xmlns:p14="http://schemas.microsoft.com/office/powerpoint/2010/main" val="1746999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Sheetal as well as (a)/ some of her friends (b)/have fallen in love with a hunky fellow, who (c)/ is the eldest son of an I.A.S. officer (d)/ No error (e).</a:t>
            </a:r>
          </a:p>
          <a:p>
            <a:endParaRPr lang="en-GB" sz="2800" dirty="0">
              <a:solidFill>
                <a:schemeClr val="bg2"/>
              </a:solidFill>
            </a:endParaRPr>
          </a:p>
          <a:p>
            <a:endParaRPr lang="en-GB" sz="2800" dirty="0">
              <a:solidFill>
                <a:schemeClr val="bg2"/>
              </a:solidFill>
            </a:endParaRPr>
          </a:p>
          <a:p>
            <a:endParaRPr lang="en-GB" sz="2800" dirty="0">
              <a:solidFill>
                <a:schemeClr val="bg2"/>
              </a:solidFill>
            </a:endParaRPr>
          </a:p>
          <a:p>
            <a:r>
              <a:rPr lang="en-GB" sz="2800" dirty="0">
                <a:solidFill>
                  <a:schemeClr val="bg2"/>
                </a:solidFill>
              </a:rPr>
              <a:t>More than one successful candidate of this institute (a)/have taken the interview for one (b)/of the most popular dailies (c)/being published from Los Angeles (d)/ No error (e).</a:t>
            </a:r>
          </a:p>
        </p:txBody>
      </p:sp>
    </p:spTree>
    <p:extLst>
      <p:ext uri="{BB962C8B-B14F-4D97-AF65-F5344CB8AC3E}">
        <p14:creationId xmlns:p14="http://schemas.microsoft.com/office/powerpoint/2010/main" val="41404597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Many a man along with (a)/a few friends of mine are going (b)/to the </a:t>
            </a:r>
            <a:r>
              <a:rPr lang="en-GB" sz="2800" dirty="0" err="1">
                <a:solidFill>
                  <a:schemeClr val="bg2"/>
                </a:solidFill>
              </a:rPr>
              <a:t>Lingaraj</a:t>
            </a:r>
            <a:r>
              <a:rPr lang="en-GB" sz="2800" dirty="0">
                <a:solidFill>
                  <a:schemeClr val="bg2"/>
                </a:solidFill>
              </a:rPr>
              <a:t> temple to offer flowers and (c)/milk to Lord Shiva (d)/ No error (e).</a:t>
            </a:r>
          </a:p>
        </p:txBody>
      </p:sp>
    </p:spTree>
    <p:extLst>
      <p:ext uri="{BB962C8B-B14F-4D97-AF65-F5344CB8AC3E}">
        <p14:creationId xmlns:p14="http://schemas.microsoft.com/office/powerpoint/2010/main" val="36963666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The political leader as well as (a)/ his retinues are going on a hunger (b)/ Strike to protest this (c)/ unnecessary price hike (d)/ No error (e).</a:t>
            </a:r>
          </a:p>
        </p:txBody>
      </p:sp>
    </p:spTree>
    <p:extLst>
      <p:ext uri="{BB962C8B-B14F-4D97-AF65-F5344CB8AC3E}">
        <p14:creationId xmlns:p14="http://schemas.microsoft.com/office/powerpoint/2010/main" val="27570671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The prime minister along with his (a)/ attendants are coming tomorrow (b)/ to address the sensational (c)/ and controversial issues of terrorism (d)/ No error (e).</a:t>
            </a:r>
          </a:p>
          <a:p>
            <a:endParaRPr lang="en-GB" sz="2800" dirty="0">
              <a:solidFill>
                <a:schemeClr val="bg2"/>
              </a:solidFill>
            </a:endParaRPr>
          </a:p>
          <a:p>
            <a:endParaRPr lang="en-GB" sz="2800" dirty="0">
              <a:solidFill>
                <a:schemeClr val="bg2"/>
              </a:solidFill>
            </a:endParaRPr>
          </a:p>
          <a:p>
            <a:endParaRPr lang="en-GB" sz="2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912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If you would have read (A)/ the instructions carefully (B)/ you would not have (C)/ answered the questions wrongly. (D)/ No error (E)</a:t>
            </a:r>
          </a:p>
        </p:txBody>
      </p:sp>
    </p:spTree>
    <p:extLst>
      <p:ext uri="{BB962C8B-B14F-4D97-AF65-F5344CB8AC3E}">
        <p14:creationId xmlns:p14="http://schemas.microsoft.com/office/powerpoint/2010/main" val="3952192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If I was he, I wouldn’t accept this project .</a:t>
            </a:r>
          </a:p>
          <a:p>
            <a:endParaRPr lang="en-GB" sz="2800" dirty="0">
              <a:solidFill>
                <a:schemeClr val="bg2"/>
              </a:solidFill>
            </a:endParaRPr>
          </a:p>
          <a:p>
            <a:r>
              <a:rPr lang="en-GB" sz="2800" dirty="0">
                <a:solidFill>
                  <a:schemeClr val="bg2"/>
                </a:solidFill>
              </a:rPr>
              <a:t>a)If I am he b)If I were he c)If I am going to he d)No improvement</a:t>
            </a:r>
          </a:p>
        </p:txBody>
      </p:sp>
    </p:spTree>
    <p:extLst>
      <p:ext uri="{BB962C8B-B14F-4D97-AF65-F5344CB8AC3E}">
        <p14:creationId xmlns:p14="http://schemas.microsoft.com/office/powerpoint/2010/main" val="10680512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Although they_________ they did not lose heart.</a:t>
            </a:r>
          </a:p>
          <a:p>
            <a:endParaRPr lang="en-GB" sz="2800" dirty="0">
              <a:solidFill>
                <a:schemeClr val="bg2"/>
              </a:solidFill>
            </a:endParaRPr>
          </a:p>
          <a:p>
            <a:endParaRPr lang="en-GB" sz="2800" dirty="0">
              <a:solidFill>
                <a:schemeClr val="bg2"/>
              </a:solidFill>
            </a:endParaRPr>
          </a:p>
          <a:p>
            <a:r>
              <a:rPr lang="en-GB" sz="2800" dirty="0">
                <a:solidFill>
                  <a:schemeClr val="bg2"/>
                </a:solidFill>
              </a:rPr>
              <a:t>(A) Defeated (B) Were defeated (C) Had defeated (D) Have defeated</a:t>
            </a:r>
          </a:p>
        </p:txBody>
      </p:sp>
    </p:spTree>
    <p:extLst>
      <p:ext uri="{BB962C8B-B14F-4D97-AF65-F5344CB8AC3E}">
        <p14:creationId xmlns:p14="http://schemas.microsoft.com/office/powerpoint/2010/main" val="2305032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Our teacher taught us that virtue ___________ its own reward.</a:t>
            </a:r>
          </a:p>
          <a:p>
            <a:r>
              <a:rPr lang="en-GB" sz="2800" dirty="0">
                <a:solidFill>
                  <a:schemeClr val="bg2"/>
                </a:solidFill>
              </a:rPr>
              <a:t>(A) Is      (B) Was   (C) Were   (D) Has</a:t>
            </a:r>
          </a:p>
        </p:txBody>
      </p:sp>
    </p:spTree>
    <p:extLst>
      <p:ext uri="{BB962C8B-B14F-4D97-AF65-F5344CB8AC3E}">
        <p14:creationId xmlns:p14="http://schemas.microsoft.com/office/powerpoint/2010/main" val="15046820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This is the house where John _________.</a:t>
            </a:r>
          </a:p>
          <a:p>
            <a:r>
              <a:rPr lang="en-GB" sz="2800" dirty="0">
                <a:solidFill>
                  <a:schemeClr val="bg2"/>
                </a:solidFill>
              </a:rPr>
              <a:t>(A) Lives (B) Living (C) Is lived (D) Would lived</a:t>
            </a:r>
          </a:p>
        </p:txBody>
      </p:sp>
    </p:spTree>
    <p:extLst>
      <p:ext uri="{BB962C8B-B14F-4D97-AF65-F5344CB8AC3E}">
        <p14:creationId xmlns:p14="http://schemas.microsoft.com/office/powerpoint/2010/main" val="30705426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The Company also _____________ an additional investment of Rs. 100 Crore to be spent on factory, training and sales organisations.</a:t>
            </a:r>
          </a:p>
          <a:p>
            <a:r>
              <a:rPr lang="en-GB" sz="2800" dirty="0">
                <a:solidFill>
                  <a:schemeClr val="bg2"/>
                </a:solidFill>
              </a:rPr>
              <a:t>(A)gives (B)increases (C)announced (D)spoken</a:t>
            </a:r>
          </a:p>
        </p:txBody>
      </p:sp>
    </p:spTree>
    <p:extLst>
      <p:ext uri="{BB962C8B-B14F-4D97-AF65-F5344CB8AC3E}">
        <p14:creationId xmlns:p14="http://schemas.microsoft.com/office/powerpoint/2010/main" val="9089483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The teacher asked the boys if they__________ the sum.</a:t>
            </a:r>
          </a:p>
          <a:p>
            <a:pPr marL="514350" indent="-514350">
              <a:buAutoNum type="alphaUcParenBoth"/>
            </a:pPr>
            <a:r>
              <a:rPr lang="en-GB" sz="2800" dirty="0">
                <a:solidFill>
                  <a:schemeClr val="bg2"/>
                </a:solidFill>
              </a:rPr>
              <a:t>Solved </a:t>
            </a:r>
          </a:p>
          <a:p>
            <a:r>
              <a:rPr lang="en-GB" sz="2800" dirty="0">
                <a:solidFill>
                  <a:schemeClr val="bg2"/>
                </a:solidFill>
              </a:rPr>
              <a:t>(B) Had solved </a:t>
            </a:r>
          </a:p>
          <a:p>
            <a:r>
              <a:rPr lang="en-GB" sz="2800" dirty="0">
                <a:solidFill>
                  <a:schemeClr val="bg2"/>
                </a:solidFill>
              </a:rPr>
              <a:t>(C) Solve </a:t>
            </a:r>
          </a:p>
          <a:p>
            <a:r>
              <a:rPr lang="en-GB" sz="2800" dirty="0">
                <a:solidFill>
                  <a:schemeClr val="bg2"/>
                </a:solidFill>
              </a:rPr>
              <a:t>(D) Have solved</a:t>
            </a:r>
          </a:p>
        </p:txBody>
      </p:sp>
    </p:spTree>
    <p:extLst>
      <p:ext uri="{BB962C8B-B14F-4D97-AF65-F5344CB8AC3E}">
        <p14:creationId xmlns:p14="http://schemas.microsoft.com/office/powerpoint/2010/main" val="5464271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He kept quiet that he___________ please me.</a:t>
            </a:r>
          </a:p>
          <a:p>
            <a:r>
              <a:rPr lang="en-GB" sz="2800" dirty="0">
                <a:solidFill>
                  <a:schemeClr val="bg2"/>
                </a:solidFill>
              </a:rPr>
              <a:t>(A) May (B) Might (C) Will (D) Can</a:t>
            </a:r>
          </a:p>
        </p:txBody>
      </p:sp>
    </p:spTree>
    <p:extLst>
      <p:ext uri="{BB962C8B-B14F-4D97-AF65-F5344CB8AC3E}">
        <p14:creationId xmlns:p14="http://schemas.microsoft.com/office/powerpoint/2010/main" val="40592462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I and he (a) / have prepared (b) / the lessons thoroughly (c) / No error (d)</a:t>
            </a:r>
          </a:p>
        </p:txBody>
      </p:sp>
    </p:spTree>
    <p:extLst>
      <p:ext uri="{BB962C8B-B14F-4D97-AF65-F5344CB8AC3E}">
        <p14:creationId xmlns:p14="http://schemas.microsoft.com/office/powerpoint/2010/main" val="203503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My teacher (a) / did not object (b) / to me using the calculator (c) / No error (d)</a:t>
            </a:r>
          </a:p>
        </p:txBody>
      </p:sp>
    </p:spTree>
    <p:extLst>
      <p:ext uri="{BB962C8B-B14F-4D97-AF65-F5344CB8AC3E}">
        <p14:creationId xmlns:p14="http://schemas.microsoft.com/office/powerpoint/2010/main" val="42935375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My father and myself (a) / are pleased to (b) / accept the invitation to the Golden Jubilee celebration. (c) / No error (d)</a:t>
            </a:r>
          </a:p>
        </p:txBody>
      </p:sp>
    </p:spTree>
    <p:extLst>
      <p:ext uri="{BB962C8B-B14F-4D97-AF65-F5344CB8AC3E}">
        <p14:creationId xmlns:p14="http://schemas.microsoft.com/office/powerpoint/2010/main" val="12452321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It was him (a) / who came running (b) / into the classroom. (c) / No error (d)</a:t>
            </a:r>
          </a:p>
        </p:txBody>
      </p:sp>
    </p:spTree>
    <p:extLst>
      <p:ext uri="{BB962C8B-B14F-4D97-AF65-F5344CB8AC3E}">
        <p14:creationId xmlns:p14="http://schemas.microsoft.com/office/powerpoint/2010/main" val="22611867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Any of the two (a) / roads leads (b) / to the station. (c) / No error (d)</a:t>
            </a:r>
          </a:p>
        </p:txBody>
      </p:sp>
    </p:spTree>
    <p:extLst>
      <p:ext uri="{BB962C8B-B14F-4D97-AF65-F5344CB8AC3E}">
        <p14:creationId xmlns:p14="http://schemas.microsoft.com/office/powerpoint/2010/main" val="41523909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One should not break his promise.</a:t>
            </a:r>
          </a:p>
          <a:p>
            <a:pPr marL="514350" indent="-514350">
              <a:buAutoNum type="alphaLcParenBoth"/>
            </a:pPr>
            <a:r>
              <a:rPr lang="en-GB" sz="2800" dirty="0">
                <a:solidFill>
                  <a:schemeClr val="bg2"/>
                </a:solidFill>
              </a:rPr>
              <a:t>him promise </a:t>
            </a:r>
          </a:p>
          <a:p>
            <a:r>
              <a:rPr lang="en-GB" sz="2800" dirty="0">
                <a:solidFill>
                  <a:schemeClr val="bg2"/>
                </a:solidFill>
              </a:rPr>
              <a:t>(b) his/her promise </a:t>
            </a:r>
          </a:p>
          <a:p>
            <a:r>
              <a:rPr lang="en-GB" sz="2800" dirty="0">
                <a:solidFill>
                  <a:schemeClr val="bg2"/>
                </a:solidFill>
              </a:rPr>
              <a:t>(c) one’s promise </a:t>
            </a:r>
          </a:p>
          <a:p>
            <a:r>
              <a:rPr lang="en-GB" sz="2800" dirty="0">
                <a:solidFill>
                  <a:schemeClr val="bg2"/>
                </a:solidFill>
              </a:rPr>
              <a:t>(d) No improvement</a:t>
            </a:r>
          </a:p>
        </p:txBody>
      </p:sp>
    </p:spTree>
    <p:extLst>
      <p:ext uri="{BB962C8B-B14F-4D97-AF65-F5344CB8AC3E}">
        <p14:creationId xmlns:p14="http://schemas.microsoft.com/office/powerpoint/2010/main" val="14815662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This is the old man whom I said had helped me.</a:t>
            </a:r>
          </a:p>
          <a:p>
            <a:r>
              <a:rPr lang="en-GB" sz="2800" dirty="0">
                <a:solidFill>
                  <a:schemeClr val="bg2"/>
                </a:solidFill>
              </a:rPr>
              <a:t>(a) who I (b) whom, myself (c) whom me (d) No improvement</a:t>
            </a:r>
          </a:p>
        </p:txBody>
      </p:sp>
    </p:spTree>
    <p:extLst>
      <p:ext uri="{BB962C8B-B14F-4D97-AF65-F5344CB8AC3E}">
        <p14:creationId xmlns:p14="http://schemas.microsoft.com/office/powerpoint/2010/main" val="11041943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Have you gone through either of these three chapters that have been included in this volume.</a:t>
            </a:r>
          </a:p>
          <a:p>
            <a:r>
              <a:rPr lang="en-GB" sz="2800" dirty="0">
                <a:solidFill>
                  <a:schemeClr val="bg2"/>
                </a:solidFill>
              </a:rPr>
              <a:t>(a) neither of these three chapters (b) both of these three chapters</a:t>
            </a:r>
          </a:p>
          <a:p>
            <a:r>
              <a:rPr lang="en-GB" sz="2800" dirty="0">
                <a:solidFill>
                  <a:schemeClr val="bg2"/>
                </a:solidFill>
              </a:rPr>
              <a:t>(c) any of these three chapters (d) No improvement</a:t>
            </a:r>
          </a:p>
        </p:txBody>
      </p:sp>
    </p:spTree>
    <p:extLst>
      <p:ext uri="{BB962C8B-B14F-4D97-AF65-F5344CB8AC3E}">
        <p14:creationId xmlns:p14="http://schemas.microsoft.com/office/powerpoint/2010/main" val="14194757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All members in the council began shouting at each other.</a:t>
            </a:r>
          </a:p>
          <a:p>
            <a:r>
              <a:rPr lang="en-GB" sz="2800" dirty="0">
                <a:solidFill>
                  <a:schemeClr val="bg2"/>
                </a:solidFill>
              </a:rPr>
              <a:t>(a) each others (b) one another (c) each one (d) No improvement</a:t>
            </a:r>
          </a:p>
        </p:txBody>
      </p:sp>
    </p:spTree>
    <p:extLst>
      <p:ext uri="{BB962C8B-B14F-4D97-AF65-F5344CB8AC3E}">
        <p14:creationId xmlns:p14="http://schemas.microsoft.com/office/powerpoint/2010/main" val="22906844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Pick the correct one.</a:t>
            </a:r>
          </a:p>
          <a:p>
            <a:endParaRPr lang="en-GB" sz="2800" dirty="0">
              <a:solidFill>
                <a:schemeClr val="bg2"/>
              </a:solidFill>
            </a:endParaRPr>
          </a:p>
          <a:p>
            <a:pPr marL="514350" indent="-514350">
              <a:buAutoNum type="alphaLcParenBoth"/>
            </a:pPr>
            <a:r>
              <a:rPr lang="en-GB" sz="2800" dirty="0">
                <a:solidFill>
                  <a:schemeClr val="bg2"/>
                </a:solidFill>
              </a:rPr>
              <a:t>He, you and I should try that stunt. </a:t>
            </a:r>
          </a:p>
          <a:p>
            <a:r>
              <a:rPr lang="en-GB" sz="2800" dirty="0">
                <a:solidFill>
                  <a:schemeClr val="bg2"/>
                </a:solidFill>
              </a:rPr>
              <a:t>(b) He, I and you should try that stunt.</a:t>
            </a:r>
          </a:p>
          <a:p>
            <a:r>
              <a:rPr lang="en-GB" sz="2800" dirty="0">
                <a:solidFill>
                  <a:schemeClr val="bg2"/>
                </a:solidFill>
              </a:rPr>
              <a:t>(c) I, you and he should try that stunt. </a:t>
            </a:r>
          </a:p>
          <a:p>
            <a:r>
              <a:rPr lang="en-GB" sz="2800" dirty="0">
                <a:solidFill>
                  <a:schemeClr val="bg2"/>
                </a:solidFill>
              </a:rPr>
              <a:t>(d) You, he and I should try that stunt.</a:t>
            </a:r>
          </a:p>
        </p:txBody>
      </p:sp>
    </p:spTree>
    <p:extLst>
      <p:ext uri="{BB962C8B-B14F-4D97-AF65-F5344CB8AC3E}">
        <p14:creationId xmlns:p14="http://schemas.microsoft.com/office/powerpoint/2010/main" val="23459354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AutoNum type="alphaLcParenBoth"/>
            </a:pPr>
            <a:r>
              <a:rPr lang="en-GB" sz="2800" dirty="0">
                <a:solidFill>
                  <a:schemeClr val="bg2"/>
                </a:solidFill>
              </a:rPr>
              <a:t>I spoke to the man whom wanted to see you. </a:t>
            </a:r>
          </a:p>
          <a:p>
            <a:r>
              <a:rPr lang="en-GB" sz="2800" dirty="0">
                <a:solidFill>
                  <a:schemeClr val="bg2"/>
                </a:solidFill>
              </a:rPr>
              <a:t>(b) I spoke to the man who wanted to see you.</a:t>
            </a:r>
          </a:p>
          <a:p>
            <a:r>
              <a:rPr lang="en-GB" sz="2800" dirty="0">
                <a:solidFill>
                  <a:schemeClr val="bg2"/>
                </a:solidFill>
              </a:rPr>
              <a:t>(c) I spoke the man which wanted to see you. </a:t>
            </a:r>
          </a:p>
          <a:p>
            <a:r>
              <a:rPr lang="en-GB" sz="2800" dirty="0">
                <a:solidFill>
                  <a:schemeClr val="bg2"/>
                </a:solidFill>
              </a:rPr>
              <a:t>(d) I spoke to the man what wanted to see you.</a:t>
            </a:r>
          </a:p>
        </p:txBody>
      </p:sp>
    </p:spTree>
    <p:extLst>
      <p:ext uri="{BB962C8B-B14F-4D97-AF65-F5344CB8AC3E}">
        <p14:creationId xmlns:p14="http://schemas.microsoft.com/office/powerpoint/2010/main" val="38431752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(a) Every woman in the world fervently hopes that their child will be a normal and healthy baby.</a:t>
            </a:r>
          </a:p>
          <a:p>
            <a:r>
              <a:rPr lang="en-GB" sz="2800" dirty="0">
                <a:solidFill>
                  <a:schemeClr val="bg2"/>
                </a:solidFill>
              </a:rPr>
              <a:t>(b) Every woman in the world fervently hopes that her child will be a normal and healthy baby.</a:t>
            </a:r>
          </a:p>
          <a:p>
            <a:r>
              <a:rPr lang="en-GB" sz="2800" dirty="0">
                <a:solidFill>
                  <a:schemeClr val="bg2"/>
                </a:solidFill>
              </a:rPr>
              <a:t>(c) Every woman in the world fervently hopes that one’s child will be a normal and healthy baby.</a:t>
            </a:r>
          </a:p>
          <a:p>
            <a:r>
              <a:rPr lang="en-GB" sz="2800" dirty="0">
                <a:solidFill>
                  <a:schemeClr val="bg2"/>
                </a:solidFill>
              </a:rPr>
              <a:t>(d) Every woman in the world fervently hopes that its child will be a normal and healthy baby.</a:t>
            </a:r>
          </a:p>
        </p:txBody>
      </p:sp>
    </p:spTree>
    <p:extLst>
      <p:ext uri="{BB962C8B-B14F-4D97-AF65-F5344CB8AC3E}">
        <p14:creationId xmlns:p14="http://schemas.microsoft.com/office/powerpoint/2010/main" val="18617545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It is not advisable (a)/ to take heavy </a:t>
            </a:r>
            <a:r>
              <a:rPr lang="en-GB" sz="2800" dirty="0" err="1">
                <a:solidFill>
                  <a:schemeClr val="bg2"/>
                </a:solidFill>
              </a:rPr>
              <a:t>luggages</a:t>
            </a:r>
            <a:r>
              <a:rPr lang="en-GB" sz="2800" dirty="0">
                <a:solidFill>
                  <a:schemeClr val="bg2"/>
                </a:solidFill>
              </a:rPr>
              <a:t> (b) / while on a journey (c) / No error (d).</a:t>
            </a:r>
          </a:p>
        </p:txBody>
      </p:sp>
    </p:spTree>
    <p:extLst>
      <p:ext uri="{BB962C8B-B14F-4D97-AF65-F5344CB8AC3E}">
        <p14:creationId xmlns:p14="http://schemas.microsoft.com/office/powerpoint/2010/main" val="2765002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I have been (a) / invited to a party (b) / hosted by my cousin sister. (c) / No error (d)</a:t>
            </a:r>
          </a:p>
        </p:txBody>
      </p:sp>
    </p:spTree>
    <p:extLst>
      <p:ext uri="{BB962C8B-B14F-4D97-AF65-F5344CB8AC3E}">
        <p14:creationId xmlns:p14="http://schemas.microsoft.com/office/powerpoint/2010/main" val="34350696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He wanted me (a) / to bring two breads (b) / and some butter (c) / No error (d)</a:t>
            </a:r>
          </a:p>
        </p:txBody>
      </p:sp>
    </p:spTree>
    <p:extLst>
      <p:ext uri="{BB962C8B-B14F-4D97-AF65-F5344CB8AC3E}">
        <p14:creationId xmlns:p14="http://schemas.microsoft.com/office/powerpoint/2010/main" val="20331546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A moment delay would have proved costly in the situation.</a:t>
            </a:r>
          </a:p>
          <a:p>
            <a:endParaRPr lang="en-GB" sz="2800" dirty="0">
              <a:solidFill>
                <a:schemeClr val="bg2"/>
              </a:solidFill>
            </a:endParaRPr>
          </a:p>
          <a:p>
            <a:r>
              <a:rPr lang="en-GB" sz="2800" dirty="0">
                <a:solidFill>
                  <a:schemeClr val="bg2"/>
                </a:solidFill>
              </a:rPr>
              <a:t>(a) A moments delay (b) A moments delay (c) A moment’s delay (d) No improvement</a:t>
            </a:r>
          </a:p>
        </p:txBody>
      </p:sp>
    </p:spTree>
    <p:extLst>
      <p:ext uri="{BB962C8B-B14F-4D97-AF65-F5344CB8AC3E}">
        <p14:creationId xmlns:p14="http://schemas.microsoft.com/office/powerpoint/2010/main" val="21690269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The table’s legs have been elaborately curved.</a:t>
            </a:r>
          </a:p>
          <a:p>
            <a:r>
              <a:rPr lang="en-GB" sz="2800" dirty="0">
                <a:solidFill>
                  <a:schemeClr val="bg2"/>
                </a:solidFill>
              </a:rPr>
              <a:t>(a) The table legs (b) The leg of the table (c) The table leg’s (d) No improvement</a:t>
            </a:r>
          </a:p>
        </p:txBody>
      </p:sp>
    </p:spTree>
    <p:extLst>
      <p:ext uri="{BB962C8B-B14F-4D97-AF65-F5344CB8AC3E}">
        <p14:creationId xmlns:p14="http://schemas.microsoft.com/office/powerpoint/2010/main" val="1292431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We have been dealing with these _____ for a long time.</a:t>
            </a:r>
          </a:p>
          <a:p>
            <a:r>
              <a:rPr lang="en-GB" sz="2800" dirty="0">
                <a:solidFill>
                  <a:schemeClr val="bg2"/>
                </a:solidFill>
              </a:rPr>
              <a:t>(a) crisis (b) crises (c) </a:t>
            </a:r>
            <a:r>
              <a:rPr lang="en-GB" sz="2800" dirty="0" err="1">
                <a:solidFill>
                  <a:schemeClr val="bg2"/>
                </a:solidFill>
              </a:rPr>
              <a:t>crisys</a:t>
            </a:r>
            <a:r>
              <a:rPr lang="en-GB" sz="2800" dirty="0">
                <a:solidFill>
                  <a:schemeClr val="bg2"/>
                </a:solidFill>
              </a:rPr>
              <a:t> (d) </a:t>
            </a:r>
            <a:r>
              <a:rPr lang="en-GB" sz="2800" dirty="0" err="1">
                <a:solidFill>
                  <a:schemeClr val="bg2"/>
                </a:solidFill>
              </a:rPr>
              <a:t>crisesies</a:t>
            </a:r>
            <a:endParaRPr lang="en-GB" sz="2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71314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This is a very strange _____ that we have come across.</a:t>
            </a:r>
          </a:p>
          <a:p>
            <a:r>
              <a:rPr lang="en-GB" sz="2800" dirty="0">
                <a:solidFill>
                  <a:schemeClr val="bg2"/>
                </a:solidFill>
              </a:rPr>
              <a:t>(a) phenomenon (b) phenomena (c) </a:t>
            </a:r>
            <a:r>
              <a:rPr lang="en-GB" sz="2800" dirty="0" err="1">
                <a:solidFill>
                  <a:schemeClr val="bg2"/>
                </a:solidFill>
              </a:rPr>
              <a:t>phenomenons</a:t>
            </a:r>
            <a:r>
              <a:rPr lang="en-GB" sz="2800" dirty="0">
                <a:solidFill>
                  <a:schemeClr val="bg2"/>
                </a:solidFill>
              </a:rPr>
              <a:t> (d) </a:t>
            </a:r>
            <a:r>
              <a:rPr lang="en-GB" sz="2800" dirty="0" err="1">
                <a:solidFill>
                  <a:schemeClr val="bg2"/>
                </a:solidFill>
              </a:rPr>
              <a:t>phenomenas</a:t>
            </a:r>
            <a:endParaRPr lang="en-GB" sz="2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5876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B89F-FA6F-37AC-05F8-F097BAF3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732-4732-E830-634B-F9EAE47E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329D1-A98A-F98D-E5A7-C9CB36A8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9FB32-5B8D-A6A8-601B-9E9D8AF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38013" cy="69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31AA5-5B74-FA03-7B14-0BDC237F788C}"/>
              </a:ext>
            </a:extLst>
          </p:cNvPr>
          <p:cNvSpPr txBox="1"/>
          <p:nvPr/>
        </p:nvSpPr>
        <p:spPr>
          <a:xfrm>
            <a:off x="1052946" y="1014867"/>
            <a:ext cx="1062997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</a:rPr>
              <a:t>One of my firmest belief is that nothing can substitute hard work.</a:t>
            </a:r>
          </a:p>
          <a:p>
            <a:r>
              <a:rPr lang="en-GB" sz="2800" dirty="0">
                <a:solidFill>
                  <a:schemeClr val="bg2"/>
                </a:solidFill>
              </a:rPr>
              <a:t>(a) firmest beliefs (b) firmest believe (c) firmest believes (d) No improvement</a:t>
            </a:r>
          </a:p>
        </p:txBody>
      </p:sp>
    </p:spTree>
    <p:extLst>
      <p:ext uri="{BB962C8B-B14F-4D97-AF65-F5344CB8AC3E}">
        <p14:creationId xmlns:p14="http://schemas.microsoft.com/office/powerpoint/2010/main" val="291800154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D75D7-190E-AA22-DFDE-C270FC652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7885F8-4625-CDF7-D130-B3BEEE4A2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863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3620</TotalTime>
  <Words>2274</Words>
  <Application>Microsoft Office PowerPoint</Application>
  <PresentationFormat>Widescreen</PresentationFormat>
  <Paragraphs>208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ASHOK KUMAR PRADHAN</dc:creator>
  <cp:lastModifiedBy>Anshuman Nayak</cp:lastModifiedBy>
  <cp:revision>61</cp:revision>
  <dcterms:created xsi:type="dcterms:W3CDTF">2025-10-30T08:11:07Z</dcterms:created>
  <dcterms:modified xsi:type="dcterms:W3CDTF">2026-02-14T05:22:06Z</dcterms:modified>
</cp:coreProperties>
</file>